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3.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33"/>
  </p:notesMasterIdLst>
  <p:handoutMasterIdLst>
    <p:handoutMasterId r:id="rId34"/>
  </p:handoutMasterIdLst>
  <p:sldIdLst>
    <p:sldId id="349" r:id="rId3"/>
    <p:sldId id="401" r:id="rId4"/>
    <p:sldId id="399" r:id="rId5"/>
    <p:sldId id="443" r:id="rId6"/>
    <p:sldId id="479" r:id="rId7"/>
    <p:sldId id="438" r:id="rId8"/>
    <p:sldId id="451" r:id="rId9"/>
    <p:sldId id="463" r:id="rId10"/>
    <p:sldId id="445" r:id="rId11"/>
    <p:sldId id="430" r:id="rId12"/>
    <p:sldId id="480" r:id="rId13"/>
    <p:sldId id="418" r:id="rId14"/>
    <p:sldId id="472" r:id="rId15"/>
    <p:sldId id="473" r:id="rId16"/>
    <p:sldId id="474" r:id="rId17"/>
    <p:sldId id="475" r:id="rId18"/>
    <p:sldId id="476" r:id="rId19"/>
    <p:sldId id="477" r:id="rId20"/>
    <p:sldId id="478" r:id="rId21"/>
    <p:sldId id="484" r:id="rId22"/>
    <p:sldId id="485" r:id="rId23"/>
    <p:sldId id="481" r:id="rId24"/>
    <p:sldId id="404" r:id="rId25"/>
    <p:sldId id="483" r:id="rId26"/>
    <p:sldId id="460" r:id="rId27"/>
    <p:sldId id="441" r:id="rId28"/>
    <p:sldId id="411" r:id="rId29"/>
    <p:sldId id="408" r:id="rId30"/>
    <p:sldId id="410" r:id="rId31"/>
    <p:sldId id="348" r:id="rId32"/>
  </p:sldIdLst>
  <p:sldSz cx="12195175" cy="6859588"/>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934" userDrawn="1">
          <p15:clr>
            <a:srgbClr val="A4A3A4"/>
          </p15:clr>
        </p15:guide>
        <p15:guide id="3" orient="horz" pos="3975" userDrawn="1">
          <p15:clr>
            <a:srgbClr val="A4A3A4"/>
          </p15:clr>
        </p15:guide>
        <p15:guide id="4" pos="397">
          <p15:clr>
            <a:srgbClr val="A4A3A4"/>
          </p15:clr>
        </p15:guide>
        <p15:guide id="5" pos="7334" userDrawn="1">
          <p15:clr>
            <a:srgbClr val="A4A3A4"/>
          </p15:clr>
        </p15:guide>
        <p15:guide id="6" pos="303">
          <p15:clr>
            <a:srgbClr val="A4A3A4"/>
          </p15:clr>
        </p15:guide>
        <p15:guide id="7" pos="7477">
          <p15:clr>
            <a:srgbClr val="A4A3A4"/>
          </p15:clr>
        </p15:guide>
        <p15:guide id="8" orient="horz" pos="75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oyue (CloudBU)" initials="H(" lastIdx="4" clrIdx="0">
    <p:extLst>
      <p:ext uri="{19B8F6BF-5375-455C-9EA6-DF929625EA0E}">
        <p15:presenceInfo xmlns:p15="http://schemas.microsoft.com/office/powerpoint/2012/main" userId="S-1-5-21-147214757-305610072-1517763936-193941" providerId="AD"/>
      </p:ext>
    </p:extLst>
  </p:cmAuthor>
  <p:cmAuthor id="2" name="lihan (L)" initials="l(" lastIdx="20" clrIdx="1">
    <p:extLst>
      <p:ext uri="{19B8F6BF-5375-455C-9EA6-DF929625EA0E}">
        <p15:presenceInfo xmlns:p15="http://schemas.microsoft.com/office/powerpoint/2012/main" userId="S-1-5-21-147214757-305610072-1517763936-76828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3B3B3"/>
    <a:srgbClr val="0070C6"/>
    <a:srgbClr val="99CCFF"/>
    <a:srgbClr val="99FF99"/>
    <a:srgbClr val="595959"/>
    <a:srgbClr val="F2F2F2"/>
    <a:srgbClr val="8BACCD"/>
    <a:srgbClr val="4E6C8A"/>
    <a:srgbClr val="31859D"/>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83622" autoAdjust="0"/>
  </p:normalViewPr>
  <p:slideViewPr>
    <p:cSldViewPr snapToObjects="1">
      <p:cViewPr varScale="1">
        <p:scale>
          <a:sx n="97" d="100"/>
          <a:sy n="97" d="100"/>
        </p:scale>
        <p:origin x="1008" y="78"/>
      </p:cViewPr>
      <p:guideLst>
        <p:guide orient="horz" pos="2160"/>
        <p:guide orient="horz" pos="1934"/>
        <p:guide orient="horz" pos="3975"/>
        <p:guide pos="397"/>
        <p:guide pos="7334"/>
        <p:guide pos="303"/>
        <p:guide pos="7477"/>
        <p:guide orient="horz" pos="75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snapToObjects="1">
      <p:cViewPr varScale="1">
        <p:scale>
          <a:sx n="84" d="100"/>
          <a:sy n="84" d="100"/>
        </p:scale>
        <p:origin x="190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7-23T11:02:36.439" idx="15">
    <p:pos x="282" y="282"/>
    <p:text>需统一刷一下字体，字体为微软雅黑</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0-07-23T10:59:37.030" idx="2">
    <p:pos x="10" y="10"/>
    <p:text>右下角有个喇叭去掉</p:text>
    <p:extLst>
      <p:ext uri="{C676402C-5697-4E1C-873F-D02D1690AC5C}">
        <p15:threadingInfo xmlns:p15="http://schemas.microsoft.com/office/powerpoint/2012/main" timeZoneBias="-480"/>
      </p:ext>
    </p:extLst>
  </p:cm>
  <p:cm authorId="2" dt="2020-07-23T11:00:03.859" idx="6">
    <p:pos x="146" y="146"/>
    <p:text>可以将目录改成默认的模板格式</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0-07-23T10:59:37.030" idx="2">
    <p:pos x="10" y="10"/>
    <p:text>右下角有个喇叭去掉</p:text>
    <p:extLst>
      <p:ext uri="{C676402C-5697-4E1C-873F-D02D1690AC5C}">
        <p15:threadingInfo xmlns:p15="http://schemas.microsoft.com/office/powerpoint/2012/main" timeZoneBias="-480"/>
      </p:ext>
    </p:extLst>
  </p:cm>
  <p:cm authorId="2" dt="2020-07-23T11:00:03.859" idx="6">
    <p:pos x="146" y="146"/>
    <p:text>可以将目录改成默认的模板格式</p:text>
    <p:extLst>
      <p:ext uri="{C676402C-5697-4E1C-873F-D02D1690AC5C}">
        <p15:threadingInfo xmlns:p15="http://schemas.microsoft.com/office/powerpoint/2012/main" timeZoneBias="-48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2DDE01-A580-4399-B409-CE947D54A698}"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zh-CN" altLang="en-US"/>
        </a:p>
      </dgm:t>
    </dgm:pt>
    <dgm:pt modelId="{C00D7C48-5309-4BD1-B443-9BA76CC79E5A}">
      <dgm:prSet phldrT="[文本]" custT="1"/>
      <dgm:spPr>
        <a:solidFill>
          <a:srgbClr val="61BBFF"/>
        </a:solidFill>
        <a:ln>
          <a:solidFill>
            <a:schemeClr val="tx2"/>
          </a:solidFill>
        </a:ln>
      </dgm:spPr>
      <dgm:t>
        <a:bodyPr/>
        <a:lstStyle/>
        <a:p>
          <a:r>
            <a:rPr lang="en-US" altLang="zh-CN" sz="900" b="1" smtClean="0">
              <a:solidFill>
                <a:schemeClr val="tx2"/>
              </a:solidFill>
              <a:latin typeface="微软雅黑" panose="020B0503020204020204" pitchFamily="34" charset="-122"/>
              <a:ea typeface="微软雅黑" panose="020B0503020204020204" pitchFamily="34" charset="-122"/>
            </a:rPr>
            <a:t>Device</a:t>
          </a:r>
        </a:p>
        <a:p>
          <a:endParaRPr lang="zh-CN" altLang="en-US" sz="900" b="1">
            <a:solidFill>
              <a:schemeClr val="tx1"/>
            </a:solidFill>
            <a:latin typeface="微软雅黑" panose="020B0503020204020204" pitchFamily="34" charset="-122"/>
            <a:ea typeface="微软雅黑" panose="020B0503020204020204" pitchFamily="34" charset="-122"/>
          </a:endParaRPr>
        </a:p>
      </dgm:t>
    </dgm:pt>
    <dgm:pt modelId="{38A54DAC-5FEE-4939-9E60-5E7CF4001196}" type="parTrans" cxnId="{8BF88EE1-ECE5-472D-B3D8-74DBB8728C19}">
      <dgm:prSet/>
      <dgm:spPr/>
      <dgm:t>
        <a:bodyPr/>
        <a:lstStyle/>
        <a:p>
          <a:endParaRPr lang="zh-CN" altLang="en-US"/>
        </a:p>
      </dgm:t>
    </dgm:pt>
    <dgm:pt modelId="{D482A435-12F6-4DB4-BDB3-ED3F3439A148}" type="sibTrans" cxnId="{8BF88EE1-ECE5-472D-B3D8-74DBB8728C19}">
      <dgm:prSet/>
      <dgm:spPr/>
      <dgm:t>
        <a:bodyPr/>
        <a:lstStyle/>
        <a:p>
          <a:endParaRPr lang="zh-CN" altLang="en-US"/>
        </a:p>
      </dgm:t>
    </dgm:pt>
    <dgm:pt modelId="{6732C360-46F3-4A27-9F9F-37D2120F8A50}">
      <dgm:prSet phldrT="[文本]" custT="1"/>
      <dgm:spPr>
        <a:solidFill>
          <a:srgbClr val="159BFF"/>
        </a:solidFill>
        <a:ln>
          <a:solidFill>
            <a:schemeClr val="bg2"/>
          </a:solidFill>
        </a:ln>
      </dgm:spPr>
      <dgm:t>
        <a:bodyPr/>
        <a:lstStyle/>
        <a:p>
          <a:r>
            <a:rPr lang="en-US" altLang="zh-CN" sz="900" b="1" dirty="0" smtClean="0">
              <a:solidFill>
                <a:schemeClr val="tx2"/>
              </a:solidFill>
              <a:latin typeface="微软雅黑" panose="020B0503020204020204" pitchFamily="34" charset="-122"/>
              <a:ea typeface="微软雅黑" panose="020B0503020204020204" pitchFamily="34" charset="-122"/>
            </a:rPr>
            <a:t>Context</a:t>
          </a:r>
        </a:p>
        <a:p>
          <a:endParaRPr lang="zh-CN" altLang="en-US" sz="900" b="1" dirty="0">
            <a:solidFill>
              <a:schemeClr val="tx1"/>
            </a:solidFill>
            <a:latin typeface="微软雅黑" panose="020B0503020204020204" pitchFamily="34" charset="-122"/>
            <a:ea typeface="微软雅黑" panose="020B0503020204020204" pitchFamily="34" charset="-122"/>
          </a:endParaRPr>
        </a:p>
      </dgm:t>
    </dgm:pt>
    <dgm:pt modelId="{CA7B6D72-A405-4D90-8FAD-6621848D1134}" type="parTrans" cxnId="{E8D268E0-DB94-4D0A-81EF-66E369977495}">
      <dgm:prSet/>
      <dgm:spPr/>
      <dgm:t>
        <a:bodyPr/>
        <a:lstStyle/>
        <a:p>
          <a:endParaRPr lang="zh-CN" altLang="en-US"/>
        </a:p>
      </dgm:t>
    </dgm:pt>
    <dgm:pt modelId="{9405B434-E76B-4F71-B45A-A6F9B83FE169}" type="sibTrans" cxnId="{E8D268E0-DB94-4D0A-81EF-66E369977495}">
      <dgm:prSet/>
      <dgm:spPr/>
      <dgm:t>
        <a:bodyPr/>
        <a:lstStyle/>
        <a:p>
          <a:endParaRPr lang="zh-CN" altLang="en-US"/>
        </a:p>
      </dgm:t>
    </dgm:pt>
    <dgm:pt modelId="{BE7DC099-FC27-4793-A37F-E00F19C4556A}">
      <dgm:prSet phldrT="[文本]" custT="1"/>
      <dgm:spPr>
        <a:solidFill>
          <a:srgbClr val="006BBC"/>
        </a:solidFill>
        <a:ln>
          <a:solidFill>
            <a:schemeClr val="bg2"/>
          </a:solidFill>
        </a:ln>
      </dgm:spPr>
      <dgm:t>
        <a:bodyPr/>
        <a:lstStyle/>
        <a:p>
          <a:r>
            <a:rPr lang="en-US" altLang="zh-CN" sz="900" b="1" smtClean="0">
              <a:solidFill>
                <a:schemeClr val="tx2"/>
              </a:solidFill>
              <a:latin typeface="微软雅黑" panose="020B0503020204020204" pitchFamily="34" charset="-122"/>
              <a:ea typeface="微软雅黑" panose="020B0503020204020204" pitchFamily="34" charset="-122"/>
            </a:rPr>
            <a:t>Stream</a:t>
          </a:r>
        </a:p>
        <a:p>
          <a:endParaRPr lang="zh-CN" altLang="en-US" sz="900" b="1">
            <a:solidFill>
              <a:schemeClr val="tx1"/>
            </a:solidFill>
            <a:latin typeface="微软雅黑" panose="020B0503020204020204" pitchFamily="34" charset="-122"/>
            <a:ea typeface="微软雅黑" panose="020B0503020204020204" pitchFamily="34" charset="-122"/>
          </a:endParaRPr>
        </a:p>
      </dgm:t>
    </dgm:pt>
    <dgm:pt modelId="{4C29C33A-42DD-42D2-916D-EA0DB096EBE1}" type="parTrans" cxnId="{3F6A313D-C14C-4D22-9051-0CBF797252E5}">
      <dgm:prSet/>
      <dgm:spPr/>
      <dgm:t>
        <a:bodyPr/>
        <a:lstStyle/>
        <a:p>
          <a:endParaRPr lang="zh-CN" altLang="en-US"/>
        </a:p>
      </dgm:t>
    </dgm:pt>
    <dgm:pt modelId="{4B54EB26-0D46-46C0-81AF-D1FD91DF71A2}" type="sibTrans" cxnId="{3F6A313D-C14C-4D22-9051-0CBF797252E5}">
      <dgm:prSet/>
      <dgm:spPr/>
      <dgm:t>
        <a:bodyPr/>
        <a:lstStyle/>
        <a:p>
          <a:endParaRPr lang="zh-CN" altLang="en-US"/>
        </a:p>
      </dgm:t>
    </dgm:pt>
    <dgm:pt modelId="{7C3524F1-1EFB-419A-81A1-CE34BF42E141}">
      <dgm:prSet phldrT="[文本]" custT="1"/>
      <dgm:spPr>
        <a:solidFill>
          <a:srgbClr val="004D86"/>
        </a:solidFill>
        <a:ln>
          <a:solidFill>
            <a:schemeClr val="bg2"/>
          </a:solidFill>
        </a:ln>
      </dgm:spPr>
      <dgm:t>
        <a:bodyPr/>
        <a:lstStyle/>
        <a:p>
          <a:r>
            <a:rPr lang="en-US" altLang="zh-CN" sz="900" b="1" smtClean="0">
              <a:solidFill>
                <a:schemeClr val="tx2"/>
              </a:solidFill>
              <a:latin typeface="微软雅黑" panose="020B0503020204020204" pitchFamily="34" charset="-122"/>
              <a:ea typeface="微软雅黑" panose="020B0503020204020204" pitchFamily="34" charset="-122"/>
            </a:rPr>
            <a:t>Task/Kernel</a:t>
          </a:r>
        </a:p>
        <a:p>
          <a:endParaRPr lang="en-US" altLang="zh-CN" sz="900" b="1" smtClean="0">
            <a:solidFill>
              <a:schemeClr val="tx1"/>
            </a:solidFill>
            <a:latin typeface="微软雅黑" panose="020B0503020204020204" pitchFamily="34" charset="-122"/>
            <a:ea typeface="微软雅黑" panose="020B0503020204020204" pitchFamily="34" charset="-122"/>
          </a:endParaRPr>
        </a:p>
        <a:p>
          <a:endParaRPr lang="zh-CN" altLang="en-US" sz="900" b="1">
            <a:solidFill>
              <a:schemeClr val="tx1"/>
            </a:solidFill>
            <a:latin typeface="微软雅黑" panose="020B0503020204020204" pitchFamily="34" charset="-122"/>
            <a:ea typeface="微软雅黑" panose="020B0503020204020204" pitchFamily="34" charset="-122"/>
          </a:endParaRPr>
        </a:p>
      </dgm:t>
    </dgm:pt>
    <dgm:pt modelId="{20D63F8A-27C8-45E9-B807-A405748CB774}" type="parTrans" cxnId="{93CA517D-4261-4786-8BF4-2C061A6168A5}">
      <dgm:prSet/>
      <dgm:spPr/>
      <dgm:t>
        <a:bodyPr/>
        <a:lstStyle/>
        <a:p>
          <a:endParaRPr lang="zh-CN" altLang="en-US"/>
        </a:p>
      </dgm:t>
    </dgm:pt>
    <dgm:pt modelId="{DD21F9E4-E28D-4CF8-9474-EE507B05E059}" type="sibTrans" cxnId="{93CA517D-4261-4786-8BF4-2C061A6168A5}">
      <dgm:prSet/>
      <dgm:spPr/>
      <dgm:t>
        <a:bodyPr/>
        <a:lstStyle/>
        <a:p>
          <a:endParaRPr lang="zh-CN" altLang="en-US"/>
        </a:p>
      </dgm:t>
    </dgm:pt>
    <dgm:pt modelId="{5F236DA2-00B7-4B4A-85DD-DAAFF06461FA}" type="pres">
      <dgm:prSet presAssocID="{1A2DDE01-A580-4399-B409-CE947D54A698}" presName="Name0" presStyleCnt="0">
        <dgm:presLayoutVars>
          <dgm:chMax val="7"/>
          <dgm:resizeHandles val="exact"/>
        </dgm:presLayoutVars>
      </dgm:prSet>
      <dgm:spPr/>
      <dgm:t>
        <a:bodyPr/>
        <a:lstStyle/>
        <a:p>
          <a:endParaRPr lang="zh-CN" altLang="en-US"/>
        </a:p>
      </dgm:t>
    </dgm:pt>
    <dgm:pt modelId="{FD2B4A88-40D0-487F-B4B1-3B7BDBA1DD27}" type="pres">
      <dgm:prSet presAssocID="{1A2DDE01-A580-4399-B409-CE947D54A698}" presName="comp1" presStyleCnt="0"/>
      <dgm:spPr/>
    </dgm:pt>
    <dgm:pt modelId="{244F07A1-C5A8-41C0-B377-5353FCC5EE96}" type="pres">
      <dgm:prSet presAssocID="{1A2DDE01-A580-4399-B409-CE947D54A698}" presName="circle1" presStyleLbl="node1" presStyleIdx="0" presStyleCnt="4"/>
      <dgm:spPr/>
      <dgm:t>
        <a:bodyPr/>
        <a:lstStyle/>
        <a:p>
          <a:endParaRPr lang="zh-CN" altLang="en-US"/>
        </a:p>
      </dgm:t>
    </dgm:pt>
    <dgm:pt modelId="{149D7F3B-15E9-4FC4-B820-7C672E7635C1}" type="pres">
      <dgm:prSet presAssocID="{1A2DDE01-A580-4399-B409-CE947D54A698}" presName="c1text" presStyleLbl="node1" presStyleIdx="0" presStyleCnt="4">
        <dgm:presLayoutVars>
          <dgm:bulletEnabled val="1"/>
        </dgm:presLayoutVars>
      </dgm:prSet>
      <dgm:spPr/>
      <dgm:t>
        <a:bodyPr/>
        <a:lstStyle/>
        <a:p>
          <a:endParaRPr lang="zh-CN" altLang="en-US"/>
        </a:p>
      </dgm:t>
    </dgm:pt>
    <dgm:pt modelId="{9FD9D84D-1AEF-429D-A880-872877A91EC0}" type="pres">
      <dgm:prSet presAssocID="{1A2DDE01-A580-4399-B409-CE947D54A698}" presName="comp2" presStyleCnt="0"/>
      <dgm:spPr/>
    </dgm:pt>
    <dgm:pt modelId="{9E27A572-358B-4E51-848C-36431595BD19}" type="pres">
      <dgm:prSet presAssocID="{1A2DDE01-A580-4399-B409-CE947D54A698}" presName="circle2" presStyleLbl="node1" presStyleIdx="1" presStyleCnt="4"/>
      <dgm:spPr/>
      <dgm:t>
        <a:bodyPr/>
        <a:lstStyle/>
        <a:p>
          <a:endParaRPr lang="zh-CN" altLang="en-US"/>
        </a:p>
      </dgm:t>
    </dgm:pt>
    <dgm:pt modelId="{186A4242-E955-4A04-8CF3-463E7F9DBA5F}" type="pres">
      <dgm:prSet presAssocID="{1A2DDE01-A580-4399-B409-CE947D54A698}" presName="c2text" presStyleLbl="node1" presStyleIdx="1" presStyleCnt="4">
        <dgm:presLayoutVars>
          <dgm:bulletEnabled val="1"/>
        </dgm:presLayoutVars>
      </dgm:prSet>
      <dgm:spPr/>
      <dgm:t>
        <a:bodyPr/>
        <a:lstStyle/>
        <a:p>
          <a:endParaRPr lang="zh-CN" altLang="en-US"/>
        </a:p>
      </dgm:t>
    </dgm:pt>
    <dgm:pt modelId="{0F9DFC1D-7D7D-4668-9942-B27C27A42E76}" type="pres">
      <dgm:prSet presAssocID="{1A2DDE01-A580-4399-B409-CE947D54A698}" presName="comp3" presStyleCnt="0"/>
      <dgm:spPr/>
    </dgm:pt>
    <dgm:pt modelId="{F69B24DF-1029-4CF7-8295-CA2354A1B5E3}" type="pres">
      <dgm:prSet presAssocID="{1A2DDE01-A580-4399-B409-CE947D54A698}" presName="circle3" presStyleLbl="node1" presStyleIdx="2" presStyleCnt="4"/>
      <dgm:spPr/>
      <dgm:t>
        <a:bodyPr/>
        <a:lstStyle/>
        <a:p>
          <a:endParaRPr lang="zh-CN" altLang="en-US"/>
        </a:p>
      </dgm:t>
    </dgm:pt>
    <dgm:pt modelId="{C86A9E28-9840-4852-83C7-72C6AF8CFC98}" type="pres">
      <dgm:prSet presAssocID="{1A2DDE01-A580-4399-B409-CE947D54A698}" presName="c3text" presStyleLbl="node1" presStyleIdx="2" presStyleCnt="4">
        <dgm:presLayoutVars>
          <dgm:bulletEnabled val="1"/>
        </dgm:presLayoutVars>
      </dgm:prSet>
      <dgm:spPr/>
      <dgm:t>
        <a:bodyPr/>
        <a:lstStyle/>
        <a:p>
          <a:endParaRPr lang="zh-CN" altLang="en-US"/>
        </a:p>
      </dgm:t>
    </dgm:pt>
    <dgm:pt modelId="{43D0E2D4-D23A-491B-837D-8C9510C4BC06}" type="pres">
      <dgm:prSet presAssocID="{1A2DDE01-A580-4399-B409-CE947D54A698}" presName="comp4" presStyleCnt="0"/>
      <dgm:spPr/>
    </dgm:pt>
    <dgm:pt modelId="{778E39E7-278E-475D-ADF8-8E8BB2C0D801}" type="pres">
      <dgm:prSet presAssocID="{1A2DDE01-A580-4399-B409-CE947D54A698}" presName="circle4" presStyleLbl="node1" presStyleIdx="3" presStyleCnt="4"/>
      <dgm:spPr/>
      <dgm:t>
        <a:bodyPr/>
        <a:lstStyle/>
        <a:p>
          <a:endParaRPr lang="zh-CN" altLang="en-US"/>
        </a:p>
      </dgm:t>
    </dgm:pt>
    <dgm:pt modelId="{E7A4B59A-1B8A-47CC-BFC4-D9CC4CA7DBD9}" type="pres">
      <dgm:prSet presAssocID="{1A2DDE01-A580-4399-B409-CE947D54A698}" presName="c4text" presStyleLbl="node1" presStyleIdx="3" presStyleCnt="4">
        <dgm:presLayoutVars>
          <dgm:bulletEnabled val="1"/>
        </dgm:presLayoutVars>
      </dgm:prSet>
      <dgm:spPr/>
      <dgm:t>
        <a:bodyPr/>
        <a:lstStyle/>
        <a:p>
          <a:endParaRPr lang="zh-CN" altLang="en-US"/>
        </a:p>
      </dgm:t>
    </dgm:pt>
  </dgm:ptLst>
  <dgm:cxnLst>
    <dgm:cxn modelId="{D084AD43-2489-4911-A11A-F78B70A81F63}" type="presOf" srcId="{BE7DC099-FC27-4793-A37F-E00F19C4556A}" destId="{C86A9E28-9840-4852-83C7-72C6AF8CFC98}" srcOrd="1" destOrd="0" presId="urn:microsoft.com/office/officeart/2005/8/layout/venn2"/>
    <dgm:cxn modelId="{068616A6-0A2A-45D5-91EB-99C5AC602AFB}" type="presOf" srcId="{7C3524F1-1EFB-419A-81A1-CE34BF42E141}" destId="{778E39E7-278E-475D-ADF8-8E8BB2C0D801}" srcOrd="0" destOrd="0" presId="urn:microsoft.com/office/officeart/2005/8/layout/venn2"/>
    <dgm:cxn modelId="{3F6A313D-C14C-4D22-9051-0CBF797252E5}" srcId="{1A2DDE01-A580-4399-B409-CE947D54A698}" destId="{BE7DC099-FC27-4793-A37F-E00F19C4556A}" srcOrd="2" destOrd="0" parTransId="{4C29C33A-42DD-42D2-916D-EA0DB096EBE1}" sibTransId="{4B54EB26-0D46-46C0-81AF-D1FD91DF71A2}"/>
    <dgm:cxn modelId="{A6095747-AF10-4A87-8360-83AC909E697B}" type="presOf" srcId="{1A2DDE01-A580-4399-B409-CE947D54A698}" destId="{5F236DA2-00B7-4B4A-85DD-DAAFF06461FA}" srcOrd="0" destOrd="0" presId="urn:microsoft.com/office/officeart/2005/8/layout/venn2"/>
    <dgm:cxn modelId="{93CA517D-4261-4786-8BF4-2C061A6168A5}" srcId="{1A2DDE01-A580-4399-B409-CE947D54A698}" destId="{7C3524F1-1EFB-419A-81A1-CE34BF42E141}" srcOrd="3" destOrd="0" parTransId="{20D63F8A-27C8-45E9-B807-A405748CB774}" sibTransId="{DD21F9E4-E28D-4CF8-9474-EE507B05E059}"/>
    <dgm:cxn modelId="{E60A2F73-9028-43CC-BF94-65BF933E35D0}" type="presOf" srcId="{6732C360-46F3-4A27-9F9F-37D2120F8A50}" destId="{186A4242-E955-4A04-8CF3-463E7F9DBA5F}" srcOrd="1" destOrd="0" presId="urn:microsoft.com/office/officeart/2005/8/layout/venn2"/>
    <dgm:cxn modelId="{14BC8C6A-844F-40CB-B4C1-624138818B88}" type="presOf" srcId="{6732C360-46F3-4A27-9F9F-37D2120F8A50}" destId="{9E27A572-358B-4E51-848C-36431595BD19}" srcOrd="0" destOrd="0" presId="urn:microsoft.com/office/officeart/2005/8/layout/venn2"/>
    <dgm:cxn modelId="{C7E7C6C0-4681-42C8-940A-241DDF8E5616}" type="presOf" srcId="{BE7DC099-FC27-4793-A37F-E00F19C4556A}" destId="{F69B24DF-1029-4CF7-8295-CA2354A1B5E3}" srcOrd="0" destOrd="0" presId="urn:microsoft.com/office/officeart/2005/8/layout/venn2"/>
    <dgm:cxn modelId="{865F4455-2125-4485-B647-5AF9E754C044}" type="presOf" srcId="{C00D7C48-5309-4BD1-B443-9BA76CC79E5A}" destId="{149D7F3B-15E9-4FC4-B820-7C672E7635C1}" srcOrd="1" destOrd="0" presId="urn:microsoft.com/office/officeart/2005/8/layout/venn2"/>
    <dgm:cxn modelId="{E8D268E0-DB94-4D0A-81EF-66E369977495}" srcId="{1A2DDE01-A580-4399-B409-CE947D54A698}" destId="{6732C360-46F3-4A27-9F9F-37D2120F8A50}" srcOrd="1" destOrd="0" parTransId="{CA7B6D72-A405-4D90-8FAD-6621848D1134}" sibTransId="{9405B434-E76B-4F71-B45A-A6F9B83FE169}"/>
    <dgm:cxn modelId="{8BF88EE1-ECE5-472D-B3D8-74DBB8728C19}" srcId="{1A2DDE01-A580-4399-B409-CE947D54A698}" destId="{C00D7C48-5309-4BD1-B443-9BA76CC79E5A}" srcOrd="0" destOrd="0" parTransId="{38A54DAC-5FEE-4939-9E60-5E7CF4001196}" sibTransId="{D482A435-12F6-4DB4-BDB3-ED3F3439A148}"/>
    <dgm:cxn modelId="{B54FFC52-D6BE-42DA-BE97-4C283904F6F0}" type="presOf" srcId="{C00D7C48-5309-4BD1-B443-9BA76CC79E5A}" destId="{244F07A1-C5A8-41C0-B377-5353FCC5EE96}" srcOrd="0" destOrd="0" presId="urn:microsoft.com/office/officeart/2005/8/layout/venn2"/>
    <dgm:cxn modelId="{11455518-8B8A-48F2-A05B-4C74EE82682C}" type="presOf" srcId="{7C3524F1-1EFB-419A-81A1-CE34BF42E141}" destId="{E7A4B59A-1B8A-47CC-BFC4-D9CC4CA7DBD9}" srcOrd="1" destOrd="0" presId="urn:microsoft.com/office/officeart/2005/8/layout/venn2"/>
    <dgm:cxn modelId="{636842CB-9450-4A38-9C41-73194FC764DE}" type="presParOf" srcId="{5F236DA2-00B7-4B4A-85DD-DAAFF06461FA}" destId="{FD2B4A88-40D0-487F-B4B1-3B7BDBA1DD27}" srcOrd="0" destOrd="0" presId="urn:microsoft.com/office/officeart/2005/8/layout/venn2"/>
    <dgm:cxn modelId="{973D014B-36F2-4C2B-A89E-76D43DC146C9}" type="presParOf" srcId="{FD2B4A88-40D0-487F-B4B1-3B7BDBA1DD27}" destId="{244F07A1-C5A8-41C0-B377-5353FCC5EE96}" srcOrd="0" destOrd="0" presId="urn:microsoft.com/office/officeart/2005/8/layout/venn2"/>
    <dgm:cxn modelId="{9B0BB95C-A976-46E7-9E9D-2B51A6B06C9C}" type="presParOf" srcId="{FD2B4A88-40D0-487F-B4B1-3B7BDBA1DD27}" destId="{149D7F3B-15E9-4FC4-B820-7C672E7635C1}" srcOrd="1" destOrd="0" presId="urn:microsoft.com/office/officeart/2005/8/layout/venn2"/>
    <dgm:cxn modelId="{864B58A2-4EAD-4657-AAE9-935A704D7BCF}" type="presParOf" srcId="{5F236DA2-00B7-4B4A-85DD-DAAFF06461FA}" destId="{9FD9D84D-1AEF-429D-A880-872877A91EC0}" srcOrd="1" destOrd="0" presId="urn:microsoft.com/office/officeart/2005/8/layout/venn2"/>
    <dgm:cxn modelId="{D5673D4D-42FF-4422-9988-FDC629B0C8B3}" type="presParOf" srcId="{9FD9D84D-1AEF-429D-A880-872877A91EC0}" destId="{9E27A572-358B-4E51-848C-36431595BD19}" srcOrd="0" destOrd="0" presId="urn:microsoft.com/office/officeart/2005/8/layout/venn2"/>
    <dgm:cxn modelId="{086B04CD-315D-4BF7-B049-F927BED3F092}" type="presParOf" srcId="{9FD9D84D-1AEF-429D-A880-872877A91EC0}" destId="{186A4242-E955-4A04-8CF3-463E7F9DBA5F}" srcOrd="1" destOrd="0" presId="urn:microsoft.com/office/officeart/2005/8/layout/venn2"/>
    <dgm:cxn modelId="{07073984-CD36-467E-B089-442921C5C8CA}" type="presParOf" srcId="{5F236DA2-00B7-4B4A-85DD-DAAFF06461FA}" destId="{0F9DFC1D-7D7D-4668-9942-B27C27A42E76}" srcOrd="2" destOrd="0" presId="urn:microsoft.com/office/officeart/2005/8/layout/venn2"/>
    <dgm:cxn modelId="{03444FDD-C5F9-4E1B-8865-55C435C572AB}" type="presParOf" srcId="{0F9DFC1D-7D7D-4668-9942-B27C27A42E76}" destId="{F69B24DF-1029-4CF7-8295-CA2354A1B5E3}" srcOrd="0" destOrd="0" presId="urn:microsoft.com/office/officeart/2005/8/layout/venn2"/>
    <dgm:cxn modelId="{A7AAF65E-5579-4716-B1AA-59BF245BEE58}" type="presParOf" srcId="{0F9DFC1D-7D7D-4668-9942-B27C27A42E76}" destId="{C86A9E28-9840-4852-83C7-72C6AF8CFC98}" srcOrd="1" destOrd="0" presId="urn:microsoft.com/office/officeart/2005/8/layout/venn2"/>
    <dgm:cxn modelId="{EC58CDD4-3581-4A70-A0FA-010F863FBFB0}" type="presParOf" srcId="{5F236DA2-00B7-4B4A-85DD-DAAFF06461FA}" destId="{43D0E2D4-D23A-491B-837D-8C9510C4BC06}" srcOrd="3" destOrd="0" presId="urn:microsoft.com/office/officeart/2005/8/layout/venn2"/>
    <dgm:cxn modelId="{FB754D60-8DE8-46EF-A872-12062BCB318B}" type="presParOf" srcId="{43D0E2D4-D23A-491B-837D-8C9510C4BC06}" destId="{778E39E7-278E-475D-ADF8-8E8BB2C0D801}" srcOrd="0" destOrd="0" presId="urn:microsoft.com/office/officeart/2005/8/layout/venn2"/>
    <dgm:cxn modelId="{5023B338-F3F1-4A52-90E8-3C7E4715F0F1}" type="presParOf" srcId="{43D0E2D4-D23A-491B-837D-8C9510C4BC06}" destId="{E7A4B59A-1B8A-47CC-BFC4-D9CC4CA7DBD9}"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D186AE-F050-482C-B37A-FE95A4129077}" type="datetimeFigureOut">
              <a:rPr lang="zh-CN" altLang="en-US" smtClean="0"/>
              <a:t>2022/7/4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2130F7-9443-47AB-A547-609C022D4083}" type="slidenum">
              <a:rPr lang="zh-CN" altLang="en-US" smtClean="0"/>
              <a:t>‹#›</a:t>
            </a:fld>
            <a:endParaRPr lang="zh-CN" altLang="en-US"/>
          </a:p>
        </p:txBody>
      </p:sp>
    </p:spTree>
    <p:extLst>
      <p:ext uri="{BB962C8B-B14F-4D97-AF65-F5344CB8AC3E}">
        <p14:creationId xmlns:p14="http://schemas.microsoft.com/office/powerpoint/2010/main" val="1436525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102AA4-8711-4FC0-BE88-724DC8E01BCF}" type="datetimeFigureOut">
              <a:rPr lang="zh-CN" altLang="en-US" smtClean="0"/>
              <a:t>2022/7/4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53593F-E4A9-4D1C-837B-FCD843521D3D}" type="slidenum">
              <a:rPr lang="zh-CN" altLang="en-US" smtClean="0"/>
              <a:t>‹#›</a:t>
            </a:fld>
            <a:endParaRPr lang="zh-CN" altLang="en-US"/>
          </a:p>
        </p:txBody>
      </p:sp>
    </p:spTree>
    <p:extLst>
      <p:ext uri="{BB962C8B-B14F-4D97-AF65-F5344CB8AC3E}">
        <p14:creationId xmlns:p14="http://schemas.microsoft.com/office/powerpoint/2010/main" val="1111625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10.179.105.148:8090/MindStudio_Help/2.3.3/1.72/zh-cn_topic_0250136964.html" TargetMode="External"/><Relationship Id="rId13" Type="http://schemas.openxmlformats.org/officeDocument/2006/relationships/hyperlink" Target="http://10.179.105.148:8090/MindStudio_Help/2.3.3/1.72/zh-cn_topic_0231890853.html" TargetMode="External"/><Relationship Id="rId3" Type="http://schemas.openxmlformats.org/officeDocument/2006/relationships/hyperlink" Target="http://10.179.105.148:8090/MindStudio_Help/2.3.3/1.72/zh-cn_topic_0231558605.html#ZH-CN_TOPIC_0231558605__fig8350135211" TargetMode="External"/><Relationship Id="rId7" Type="http://schemas.openxmlformats.org/officeDocument/2006/relationships/hyperlink" Target="http://10.179.105.148:8090/MindStudio_Help/2.3.3/1.72/zh-cn_topic_0231558677.html" TargetMode="External"/><Relationship Id="rId12" Type="http://schemas.openxmlformats.org/officeDocument/2006/relationships/hyperlink" Target="http://10.179.105.148:8090/MindStudio_Help/2.3.3/1.72/zh-cn_topic_0231558697.html"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10.179.105.148:8090/MindStudio_Help/2.3.3/1.72/zh-cn_topic_0250136981.html" TargetMode="External"/><Relationship Id="rId11" Type="http://schemas.openxmlformats.org/officeDocument/2006/relationships/hyperlink" Target="http://10.179.105.148:8090/MindStudio_Help/2.3.3/1.72/zh-cn_topic_0250135015.html" TargetMode="External"/><Relationship Id="rId5" Type="http://schemas.openxmlformats.org/officeDocument/2006/relationships/hyperlink" Target="http://10.179.105.148:8090/MindStudio_Help/2.3.3/1.72/zh-cn_topic_0250136980.html" TargetMode="External"/><Relationship Id="rId10" Type="http://schemas.openxmlformats.org/officeDocument/2006/relationships/hyperlink" Target="http://10.179.105.148:8090/MindStudio_Help/2.3.3/1.72/zh-cn_topic_0231558707.html" TargetMode="External"/><Relationship Id="rId4" Type="http://schemas.openxmlformats.org/officeDocument/2006/relationships/hyperlink" Target="http://10.179.105.148:8090/MindStudio_Help/2.3.3/1.72/zh-cn_topic_0250134984.html" TargetMode="External"/><Relationship Id="rId9" Type="http://schemas.openxmlformats.org/officeDocument/2006/relationships/hyperlink" Target="http://10.179.105.148:8090/MindStudio_Help/2.3.3/1.72/zh-cn_topic_0250040421.html"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大家好，目前人工智能很火，或许大家都在实验室或者服务器上训练过自己的神经网络模型；</a:t>
            </a:r>
            <a:endParaRPr lang="en-US" altLang="zh-CN" dirty="0" smtClean="0"/>
          </a:p>
          <a:p>
            <a:r>
              <a:rPr lang="zh-CN" altLang="en-US" dirty="0" smtClean="0"/>
              <a:t>那么我们训练好的神经网络模型该怎么样在昇腾处理器上部署，来落地你的应用来产生价值呢？</a:t>
            </a:r>
            <a:endParaRPr lang="en-US" altLang="zh-CN" dirty="0" smtClean="0"/>
          </a:p>
          <a:p>
            <a:r>
              <a:rPr lang="zh-CN" altLang="en-US" dirty="0" smtClean="0"/>
              <a:t>那今天我们用一个目标检测的应用案例来看看这事儿是怎么办的！</a:t>
            </a:r>
            <a:endParaRPr lang="en-US" altLang="zh-CN" dirty="0" smtClean="0"/>
          </a:p>
          <a:p>
            <a:r>
              <a:rPr lang="zh-CN" altLang="en-US" dirty="0" smtClean="0"/>
              <a:t>大家好，我是来自华为的</a:t>
            </a:r>
            <a:r>
              <a:rPr lang="en-US" altLang="zh-CN" dirty="0" smtClean="0"/>
              <a:t>AI</a:t>
            </a:r>
            <a:r>
              <a:rPr lang="zh-CN" altLang="en-US" dirty="0" smtClean="0"/>
              <a:t>工程师熊俊峰，今天我给大家分享的内容是怎么部署把训练好的模型部署到华为昇腾处理器上，</a:t>
            </a:r>
            <a:endParaRPr lang="en-US" altLang="zh-CN" dirty="0" smtClean="0"/>
          </a:p>
          <a:p>
            <a:r>
              <a:rPr lang="zh-CN" altLang="en-US" dirty="0" smtClean="0"/>
              <a:t>大家可以思考一下，当模型训练好后，比如一个目标检查模型，我要怎么把摄影头拍摄的图片进行处理，以便满足模型的输入要求，；我要怎样去加载模型来进行推理，推理的结果要怎么处理才能显示出来。等等，这就是我们今天要介绍的内容。</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1</a:t>
            </a:fld>
            <a:endParaRPr lang="zh-CN" altLang="en-US"/>
          </a:p>
        </p:txBody>
      </p:sp>
    </p:spTree>
    <p:extLst>
      <p:ext uri="{BB962C8B-B14F-4D97-AF65-F5344CB8AC3E}">
        <p14:creationId xmlns:p14="http://schemas.microsoft.com/office/powerpoint/2010/main" val="2890544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altLang="zh-CN" dirty="0" smtClean="0"/>
          </a:p>
        </p:txBody>
      </p:sp>
    </p:spTree>
    <p:extLst>
      <p:ext uri="{BB962C8B-B14F-4D97-AF65-F5344CB8AC3E}">
        <p14:creationId xmlns:p14="http://schemas.microsoft.com/office/powerpoint/2010/main" val="1855666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首先，我们考虑下如何理解一张图片？根据任务需要，可以主要分为三个层次：</a:t>
            </a:r>
            <a:r>
              <a:rPr lang="zh-CN" altLang="en-US" dirty="0" smtClean="0"/>
              <a:t/>
            </a:r>
            <a:br>
              <a:rPr lang="zh-CN" altLang="en-US" dirty="0" smtClean="0"/>
            </a:br>
            <a:r>
              <a:rPr lang="zh-CN" altLang="en-US" sz="1200" b="0" i="0" kern="1200" dirty="0" smtClean="0">
                <a:solidFill>
                  <a:schemeClr val="tx1"/>
                </a:solidFill>
                <a:effectLst/>
                <a:latin typeface="+mn-lt"/>
                <a:ea typeface="+mn-ea"/>
                <a:cs typeface="+mn-cs"/>
              </a:rPr>
              <a:t>一是</a:t>
            </a:r>
            <a:r>
              <a:rPr lang="zh-CN" altLang="en-US" sz="1200" b="1" i="0" kern="1200" dirty="0" smtClean="0">
                <a:solidFill>
                  <a:schemeClr val="tx1"/>
                </a:solidFill>
                <a:effectLst/>
                <a:latin typeface="+mn-lt"/>
                <a:ea typeface="+mn-ea"/>
                <a:cs typeface="+mn-cs"/>
              </a:rPr>
              <a:t>分类（</a:t>
            </a:r>
            <a:r>
              <a:rPr lang="en-US" altLang="zh-CN" sz="1200" b="1" i="0" kern="1200" dirty="0" smtClean="0">
                <a:solidFill>
                  <a:schemeClr val="tx1"/>
                </a:solidFill>
                <a:effectLst/>
                <a:latin typeface="+mn-lt"/>
                <a:ea typeface="+mn-ea"/>
                <a:cs typeface="+mn-cs"/>
              </a:rPr>
              <a:t>Classification</a:t>
            </a:r>
            <a:r>
              <a:rPr lang="zh-CN" altLang="en-US" sz="1200" b="1"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，即是将图像结构化为某一类别的信息，用事先确定好的类别</a:t>
            </a:r>
            <a:r>
              <a:rPr lang="en-US" altLang="zh-CN" sz="1200" b="0" i="0" kern="1200" dirty="0" smtClean="0">
                <a:solidFill>
                  <a:schemeClr val="tx1"/>
                </a:solidFill>
                <a:effectLst/>
                <a:latin typeface="+mn-lt"/>
                <a:ea typeface="+mn-ea"/>
                <a:cs typeface="+mn-cs"/>
              </a:rPr>
              <a:t>(string)</a:t>
            </a:r>
            <a:r>
              <a:rPr lang="zh-CN" altLang="en-US" sz="1200" b="0" i="0" kern="1200" dirty="0" smtClean="0">
                <a:solidFill>
                  <a:schemeClr val="tx1"/>
                </a:solidFill>
                <a:effectLst/>
                <a:latin typeface="+mn-lt"/>
                <a:ea typeface="+mn-ea"/>
                <a:cs typeface="+mn-cs"/>
              </a:rPr>
              <a:t>或实例</a:t>
            </a:r>
            <a:r>
              <a:rPr lang="en-US" altLang="zh-CN" sz="1200" b="0" i="0" kern="1200" dirty="0" smtClean="0">
                <a:solidFill>
                  <a:schemeClr val="tx1"/>
                </a:solidFill>
                <a:effectLst/>
                <a:latin typeface="+mn-lt"/>
                <a:ea typeface="+mn-ea"/>
                <a:cs typeface="+mn-cs"/>
              </a:rPr>
              <a:t>ID</a:t>
            </a:r>
            <a:r>
              <a:rPr lang="zh-CN" altLang="en-US" sz="1200" b="0" i="0" kern="1200" dirty="0" smtClean="0">
                <a:solidFill>
                  <a:schemeClr val="tx1"/>
                </a:solidFill>
                <a:effectLst/>
                <a:latin typeface="+mn-lt"/>
                <a:ea typeface="+mn-ea"/>
                <a:cs typeface="+mn-cs"/>
              </a:rPr>
              <a:t>来描述图片。</a:t>
            </a:r>
            <a:r>
              <a:rPr lang="zh-CN" altLang="en-US" dirty="0" smtClean="0"/>
              <a:t/>
            </a:r>
            <a:br>
              <a:rPr lang="zh-CN" altLang="en-US" dirty="0" smtClean="0"/>
            </a:br>
            <a:r>
              <a:rPr lang="zh-CN" altLang="en-US" sz="1200" b="0" i="0" kern="1200" dirty="0" smtClean="0">
                <a:solidFill>
                  <a:schemeClr val="tx1"/>
                </a:solidFill>
                <a:effectLst/>
                <a:latin typeface="+mn-lt"/>
                <a:ea typeface="+mn-ea"/>
                <a:cs typeface="+mn-cs"/>
              </a:rPr>
              <a:t>二是</a:t>
            </a:r>
            <a:r>
              <a:rPr lang="zh-CN" altLang="en-US" sz="1200" b="1" i="0" kern="1200" dirty="0" smtClean="0">
                <a:solidFill>
                  <a:schemeClr val="tx1"/>
                </a:solidFill>
                <a:effectLst/>
                <a:latin typeface="+mn-lt"/>
                <a:ea typeface="+mn-ea"/>
                <a:cs typeface="+mn-cs"/>
              </a:rPr>
              <a:t>检测（</a:t>
            </a:r>
            <a:r>
              <a:rPr lang="en-US" altLang="zh-CN" sz="1200" b="1" i="0" kern="1200" dirty="0" smtClean="0">
                <a:solidFill>
                  <a:schemeClr val="tx1"/>
                </a:solidFill>
                <a:effectLst/>
                <a:latin typeface="+mn-lt"/>
                <a:ea typeface="+mn-ea"/>
                <a:cs typeface="+mn-cs"/>
              </a:rPr>
              <a:t>Detection</a:t>
            </a:r>
            <a:r>
              <a:rPr lang="zh-CN" altLang="en-US" sz="1200" b="1"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，分类任务关心整体，给出的是整张图片的内容描述，而检测则关注特定的物体目标，要求同时获得这一目标的类别信息和位置信息，检测给出的是对图片前景和背景的理解。</a:t>
            </a:r>
            <a:r>
              <a:rPr lang="zh-CN" altLang="en-US" dirty="0" smtClean="0"/>
              <a:t/>
            </a:r>
            <a:br>
              <a:rPr lang="zh-CN" altLang="en-US" dirty="0" smtClean="0"/>
            </a:br>
            <a:r>
              <a:rPr lang="zh-CN" altLang="en-US" sz="1200" b="0" i="0" kern="1200" dirty="0" smtClean="0">
                <a:solidFill>
                  <a:schemeClr val="tx1"/>
                </a:solidFill>
                <a:effectLst/>
                <a:latin typeface="+mn-lt"/>
                <a:ea typeface="+mn-ea"/>
                <a:cs typeface="+mn-cs"/>
              </a:rPr>
              <a:t>三是</a:t>
            </a:r>
            <a:r>
              <a:rPr lang="zh-CN" altLang="en-US" sz="1200" b="1" i="0" kern="1200" dirty="0" smtClean="0">
                <a:solidFill>
                  <a:schemeClr val="tx1"/>
                </a:solidFill>
                <a:effectLst/>
                <a:latin typeface="+mn-lt"/>
                <a:ea typeface="+mn-ea"/>
                <a:cs typeface="+mn-cs"/>
              </a:rPr>
              <a:t>分割（</a:t>
            </a:r>
            <a:r>
              <a:rPr lang="en-US" altLang="zh-CN" sz="1200" b="1" i="0" kern="1200" dirty="0" smtClean="0">
                <a:solidFill>
                  <a:schemeClr val="tx1"/>
                </a:solidFill>
                <a:effectLst/>
                <a:latin typeface="+mn-lt"/>
                <a:ea typeface="+mn-ea"/>
                <a:cs typeface="+mn-cs"/>
              </a:rPr>
              <a:t>Segmentation</a:t>
            </a:r>
            <a:r>
              <a:rPr lang="zh-CN" altLang="en-US" sz="1200" b="1"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，分割包括语义分割（</a:t>
            </a:r>
            <a:r>
              <a:rPr lang="en-US" altLang="zh-CN" sz="1200" b="0" i="0" kern="1200" dirty="0" smtClean="0">
                <a:solidFill>
                  <a:schemeClr val="tx1"/>
                </a:solidFill>
                <a:effectLst/>
                <a:latin typeface="+mn-lt"/>
                <a:ea typeface="+mn-ea"/>
                <a:cs typeface="+mn-cs"/>
              </a:rPr>
              <a:t>semantic segmentation</a:t>
            </a:r>
            <a:r>
              <a:rPr lang="zh-CN" altLang="en-US" sz="1200" b="0" i="0" kern="1200" dirty="0" smtClean="0">
                <a:solidFill>
                  <a:schemeClr val="tx1"/>
                </a:solidFill>
                <a:effectLst/>
                <a:latin typeface="+mn-lt"/>
                <a:ea typeface="+mn-ea"/>
                <a:cs typeface="+mn-cs"/>
              </a:rPr>
              <a:t>）和实例分割（</a:t>
            </a:r>
            <a:r>
              <a:rPr lang="en-US" altLang="zh-CN" sz="1200" b="0" i="0" kern="1200" dirty="0" smtClean="0">
                <a:solidFill>
                  <a:schemeClr val="tx1"/>
                </a:solidFill>
                <a:effectLst/>
                <a:latin typeface="+mn-lt"/>
                <a:ea typeface="+mn-ea"/>
                <a:cs typeface="+mn-cs"/>
              </a:rPr>
              <a:t>instance segmentation</a:t>
            </a:r>
            <a:r>
              <a:rPr lang="zh-CN" altLang="en-US" sz="1200" b="0" i="0" kern="1200" dirty="0" smtClean="0">
                <a:solidFill>
                  <a:schemeClr val="tx1"/>
                </a:solidFill>
                <a:effectLst/>
                <a:latin typeface="+mn-lt"/>
                <a:ea typeface="+mn-ea"/>
                <a:cs typeface="+mn-cs"/>
              </a:rPr>
              <a:t>），解决“每一个像素属于哪个目标物或场景”的问题。</a:t>
            </a:r>
            <a:endParaRPr lang="zh-CN" altLang="en-US" dirty="0"/>
          </a:p>
        </p:txBody>
      </p:sp>
    </p:spTree>
    <p:extLst>
      <p:ext uri="{BB962C8B-B14F-4D97-AF65-F5344CB8AC3E}">
        <p14:creationId xmlns:p14="http://schemas.microsoft.com/office/powerpoint/2010/main" val="4285832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253593F-E4A9-4D1C-837B-FCD843521D3D}" type="slidenum">
              <a:rPr lang="zh-CN" altLang="en-US" smtClean="0"/>
              <a:t>4</a:t>
            </a:fld>
            <a:endParaRPr lang="zh-CN" altLang="en-US"/>
          </a:p>
        </p:txBody>
      </p:sp>
    </p:spTree>
    <p:extLst>
      <p:ext uri="{BB962C8B-B14F-4D97-AF65-F5344CB8AC3E}">
        <p14:creationId xmlns:p14="http://schemas.microsoft.com/office/powerpoint/2010/main" val="1339497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altLang="zh-CN" dirty="0" smtClean="0"/>
          </a:p>
        </p:txBody>
      </p:sp>
    </p:spTree>
    <p:extLst>
      <p:ext uri="{BB962C8B-B14F-4D97-AF65-F5344CB8AC3E}">
        <p14:creationId xmlns:p14="http://schemas.microsoft.com/office/powerpoint/2010/main" val="3911442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大家可以思考一下，目标检查要解决</a:t>
            </a:r>
            <a:r>
              <a:rPr lang="en-US" altLang="zh-CN" dirty="0" smtClean="0"/>
              <a:t>2</a:t>
            </a:r>
            <a:r>
              <a:rPr lang="zh-CN" altLang="en-US" dirty="0" smtClean="0"/>
              <a:t>个问题，一个识别物体的类别，一个是识别物体的位置。为了解决这两个问题</a:t>
            </a:r>
            <a:endParaRPr lang="en-US" altLang="zh-CN" dirty="0" smtClean="0"/>
          </a:p>
          <a:p>
            <a:r>
              <a:rPr lang="zh-CN" altLang="en-US" dirty="0" smtClean="0"/>
              <a:t>主流算法中表现最好的是</a:t>
            </a:r>
            <a:r>
              <a:rPr lang="en-US" altLang="zh-CN" dirty="0" smtClean="0"/>
              <a:t>SSD</a:t>
            </a:r>
            <a:r>
              <a:rPr lang="zh-CN" altLang="en-US" dirty="0" smtClean="0"/>
              <a:t>和</a:t>
            </a:r>
            <a:r>
              <a:rPr lang="en-US" altLang="zh-CN" dirty="0" smtClean="0"/>
              <a:t>YOLO</a:t>
            </a:r>
            <a:r>
              <a:rPr lang="zh-CN" altLang="en-US" dirty="0" smtClean="0"/>
              <a:t>，前者就是本文要用到的算法。实际上，不管是用</a:t>
            </a:r>
            <a:r>
              <a:rPr lang="en-US" altLang="zh-CN" dirty="0" smtClean="0"/>
              <a:t>SSD</a:t>
            </a:r>
            <a:r>
              <a:rPr lang="zh-CN" altLang="en-US" dirty="0" smtClean="0"/>
              <a:t>还是</a:t>
            </a:r>
            <a:r>
              <a:rPr lang="en-US" altLang="zh-CN" dirty="0" smtClean="0"/>
              <a:t>YOLO</a:t>
            </a:r>
            <a:r>
              <a:rPr lang="zh-CN" altLang="en-US" dirty="0" smtClean="0"/>
              <a:t>，目标检测过程都可以分解为两个独立的操作：</a:t>
            </a:r>
          </a:p>
          <a:p>
            <a:r>
              <a:rPr lang="zh-CN" altLang="en-US" dirty="0" smtClean="0"/>
              <a:t>定位（</a:t>
            </a:r>
            <a:r>
              <a:rPr lang="en-US" altLang="zh-CN" dirty="0" smtClean="0"/>
              <a:t>location</a:t>
            </a:r>
            <a:r>
              <a:rPr lang="zh-CN" altLang="en-US" dirty="0" smtClean="0"/>
              <a:t>）： 用一个矩形（</a:t>
            </a:r>
            <a:r>
              <a:rPr lang="en-US" altLang="zh-CN" dirty="0" smtClean="0"/>
              <a:t>bounding box</a:t>
            </a:r>
            <a:r>
              <a:rPr lang="zh-CN" altLang="en-US" dirty="0" smtClean="0"/>
              <a:t>）来框定物体，</a:t>
            </a:r>
            <a:r>
              <a:rPr lang="en-US" altLang="zh-CN" dirty="0" smtClean="0"/>
              <a:t>bounding box</a:t>
            </a:r>
            <a:r>
              <a:rPr lang="zh-CN" altLang="en-US" dirty="0" smtClean="0"/>
              <a:t>一般由</a:t>
            </a:r>
            <a:r>
              <a:rPr lang="en-US" altLang="zh-CN" dirty="0" smtClean="0"/>
              <a:t>4</a:t>
            </a:r>
            <a:r>
              <a:rPr lang="zh-CN" altLang="en-US" dirty="0" smtClean="0"/>
              <a:t>个整数组成，分别表示矩形左上角和右下角的</a:t>
            </a:r>
            <a:r>
              <a:rPr lang="en-US" altLang="zh-CN" dirty="0" smtClean="0"/>
              <a:t>x</a:t>
            </a:r>
            <a:r>
              <a:rPr lang="zh-CN" altLang="en-US" dirty="0" smtClean="0"/>
              <a:t>和</a:t>
            </a:r>
            <a:r>
              <a:rPr lang="en-US" altLang="zh-CN" dirty="0" smtClean="0"/>
              <a:t>y</a:t>
            </a:r>
            <a:r>
              <a:rPr lang="zh-CN" altLang="en-US" dirty="0" smtClean="0"/>
              <a:t>坐标，或矩形的左上角坐标以及矩形的长和高。</a:t>
            </a:r>
          </a:p>
          <a:p>
            <a:r>
              <a:rPr lang="zh-CN" altLang="en-US" dirty="0" smtClean="0"/>
              <a:t>分类（</a:t>
            </a:r>
            <a:r>
              <a:rPr lang="en-US" altLang="zh-CN" dirty="0" smtClean="0"/>
              <a:t>classification</a:t>
            </a:r>
            <a:r>
              <a:rPr lang="zh-CN" altLang="en-US" dirty="0" smtClean="0"/>
              <a:t>）： 识别</a:t>
            </a:r>
            <a:r>
              <a:rPr lang="en-US" altLang="zh-CN" dirty="0" smtClean="0"/>
              <a:t>bounding box</a:t>
            </a:r>
            <a:r>
              <a:rPr lang="zh-CN" altLang="en-US" dirty="0" smtClean="0"/>
              <a:t>中的（最大的）物体。</a:t>
            </a:r>
            <a:endParaRPr lang="en-US" altLang="zh-CN" dirty="0" smtClean="0"/>
          </a:p>
          <a:p>
            <a:endParaRPr lang="en-US" altLang="zh-CN" dirty="0" smtClean="0"/>
          </a:p>
          <a:p>
            <a:r>
              <a:rPr lang="en-US" altLang="zh-CN" sz="1200" b="1" i="0" kern="1200" dirty="0" smtClean="0">
                <a:solidFill>
                  <a:schemeClr val="tx1"/>
                </a:solidFill>
                <a:effectLst/>
                <a:latin typeface="+mn-lt"/>
                <a:ea typeface="+mn-ea"/>
                <a:cs typeface="+mn-cs"/>
              </a:rPr>
              <a:t>Fast R-CNN</a:t>
            </a:r>
            <a:r>
              <a:rPr lang="zh-CN" altLang="en-US" sz="1200" b="1" i="0" kern="1200" dirty="0" smtClean="0">
                <a:solidFill>
                  <a:schemeClr val="tx1"/>
                </a:solidFill>
                <a:effectLst/>
                <a:latin typeface="+mn-lt"/>
                <a:ea typeface="+mn-ea"/>
                <a:cs typeface="+mn-cs"/>
              </a:rPr>
              <a:t>：共享卷积运算</a:t>
            </a:r>
            <a:endParaRPr lang="zh-CN" altLang="en-US"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流程</a:t>
            </a:r>
            <a:r>
              <a:rPr lang="zh-CN" altLang="en-US" sz="1200" b="0" i="0" kern="1200" dirty="0" smtClean="0">
                <a:solidFill>
                  <a:schemeClr val="tx1"/>
                </a:solidFill>
                <a:effectLst/>
                <a:latin typeface="+mn-lt"/>
                <a:ea typeface="+mn-ea"/>
                <a:cs typeface="+mn-cs"/>
              </a:rPr>
              <a:t>：先得到</a:t>
            </a:r>
            <a:r>
              <a:rPr lang="en-US" altLang="zh-CN" sz="1200" b="0" i="0" kern="1200" dirty="0" smtClean="0">
                <a:solidFill>
                  <a:schemeClr val="tx1"/>
                </a:solidFill>
                <a:effectLst/>
                <a:latin typeface="+mn-lt"/>
                <a:ea typeface="+mn-ea"/>
                <a:cs typeface="+mn-cs"/>
              </a:rPr>
              <a:t>feature map</a:t>
            </a:r>
            <a:r>
              <a:rPr lang="zh-CN" altLang="en-US" sz="1200" b="0" i="0" kern="1200" dirty="0" smtClean="0">
                <a:solidFill>
                  <a:schemeClr val="tx1"/>
                </a:solidFill>
                <a:effectLst/>
                <a:latin typeface="+mn-lt"/>
                <a:ea typeface="+mn-ea"/>
                <a:cs typeface="+mn-cs"/>
              </a:rPr>
              <a:t>，同时寻找</a:t>
            </a:r>
            <a:r>
              <a:rPr lang="en-US" altLang="zh-CN" sz="1200" b="0" i="0" kern="1200" dirty="0" smtClean="0">
                <a:solidFill>
                  <a:schemeClr val="tx1"/>
                </a:solidFill>
                <a:effectLst/>
                <a:latin typeface="+mn-lt"/>
                <a:ea typeface="+mn-ea"/>
                <a:cs typeface="+mn-cs"/>
              </a:rPr>
              <a:t>ROI</a:t>
            </a:r>
            <a:r>
              <a:rPr lang="zh-CN" altLang="en-US" sz="1200" b="0" i="0" kern="1200" dirty="0" smtClean="0">
                <a:solidFill>
                  <a:schemeClr val="tx1"/>
                </a:solidFill>
                <a:effectLst/>
                <a:latin typeface="+mn-lt"/>
                <a:ea typeface="+mn-ea"/>
                <a:cs typeface="+mn-cs"/>
              </a:rPr>
              <a:t>并映射到特征图上；再对每个</a:t>
            </a:r>
            <a:r>
              <a:rPr lang="en-US" altLang="zh-CN" sz="1200" b="0" i="0" kern="1200" dirty="0" err="1" smtClean="0">
                <a:solidFill>
                  <a:schemeClr val="tx1"/>
                </a:solidFill>
                <a:effectLst/>
                <a:latin typeface="+mn-lt"/>
                <a:ea typeface="+mn-ea"/>
                <a:cs typeface="+mn-cs"/>
              </a:rPr>
              <a:t>RoI</a:t>
            </a:r>
            <a:r>
              <a:rPr lang="zh-CN" altLang="en-US" sz="1200" b="0" i="0" kern="1200" dirty="0" smtClean="0">
                <a:solidFill>
                  <a:schemeClr val="tx1"/>
                </a:solidFill>
                <a:effectLst/>
                <a:latin typeface="+mn-lt"/>
                <a:ea typeface="+mn-ea"/>
                <a:cs typeface="+mn-cs"/>
              </a:rPr>
              <a:t>进行</a:t>
            </a:r>
            <a:r>
              <a:rPr lang="en-US" altLang="zh-CN" sz="1200" b="0" i="0" kern="1200" dirty="0" err="1" smtClean="0">
                <a:solidFill>
                  <a:schemeClr val="tx1"/>
                </a:solidFill>
                <a:effectLst/>
                <a:latin typeface="+mn-lt"/>
                <a:ea typeface="+mn-ea"/>
                <a:cs typeface="+mn-cs"/>
              </a:rPr>
              <a:t>RoI</a:t>
            </a:r>
            <a:r>
              <a:rPr lang="en-US" altLang="zh-CN" sz="1200" b="0" i="0" kern="1200" dirty="0" smtClean="0">
                <a:solidFill>
                  <a:schemeClr val="tx1"/>
                </a:solidFill>
                <a:effectLst/>
                <a:latin typeface="+mn-lt"/>
                <a:ea typeface="+mn-ea"/>
                <a:cs typeface="+mn-cs"/>
              </a:rPr>
              <a:t> Pooling</a:t>
            </a:r>
            <a:r>
              <a:rPr lang="zh-CN" altLang="en-US" sz="1200" b="0" i="0" kern="1200" dirty="0" smtClean="0">
                <a:solidFill>
                  <a:schemeClr val="tx1"/>
                </a:solidFill>
                <a:effectLst/>
                <a:latin typeface="+mn-lt"/>
                <a:ea typeface="+mn-ea"/>
                <a:cs typeface="+mn-cs"/>
              </a:rPr>
              <a:t>操作便得到等长的</a:t>
            </a:r>
            <a:r>
              <a:rPr lang="en-US" altLang="zh-CN" sz="1200" b="0" i="0" kern="1200" dirty="0" smtClean="0">
                <a:solidFill>
                  <a:schemeClr val="tx1"/>
                </a:solidFill>
                <a:effectLst/>
                <a:latin typeface="+mn-lt"/>
                <a:ea typeface="+mn-ea"/>
                <a:cs typeface="+mn-cs"/>
              </a:rPr>
              <a:t>feature vector</a:t>
            </a:r>
            <a:r>
              <a:rPr lang="zh-CN" altLang="en-US" sz="1200" b="0" i="0" kern="1200" dirty="0" smtClean="0">
                <a:solidFill>
                  <a:schemeClr val="tx1"/>
                </a:solidFill>
                <a:effectLst/>
                <a:latin typeface="+mn-lt"/>
                <a:ea typeface="+mn-ea"/>
                <a:cs typeface="+mn-cs"/>
              </a:rPr>
              <a:t>，正负样本处理同时分类和回归，并将损失统一起来。</a:t>
            </a:r>
          </a:p>
          <a:p>
            <a:endParaRPr lang="en-US" altLang="zh-CN" dirty="0" smtClean="0"/>
          </a:p>
          <a:p>
            <a:r>
              <a:rPr lang="en-US" altLang="zh-CN" sz="1200" b="1" i="0" kern="1200" dirty="0" smtClean="0">
                <a:solidFill>
                  <a:schemeClr val="tx1"/>
                </a:solidFill>
                <a:effectLst/>
                <a:latin typeface="+mn-lt"/>
                <a:ea typeface="+mn-ea"/>
                <a:cs typeface="+mn-cs"/>
              </a:rPr>
              <a:t>Faster R-CNN: </a:t>
            </a:r>
            <a:r>
              <a:rPr lang="zh-CN" altLang="en-US" sz="1200" b="1" i="0" kern="1200" dirty="0" smtClean="0">
                <a:solidFill>
                  <a:schemeClr val="tx1"/>
                </a:solidFill>
                <a:effectLst/>
                <a:latin typeface="+mn-lt"/>
                <a:ea typeface="+mn-ea"/>
                <a:cs typeface="+mn-cs"/>
              </a:rPr>
              <a:t>两阶段模型的深度化</a:t>
            </a:r>
            <a:endParaRPr lang="zh-CN" altLang="en-US"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流程</a:t>
            </a:r>
            <a:r>
              <a:rPr lang="zh-CN" altLang="en-US" sz="1200" b="0" i="0" kern="1200" dirty="0" smtClean="0">
                <a:solidFill>
                  <a:schemeClr val="tx1"/>
                </a:solidFill>
                <a:effectLst/>
                <a:latin typeface="+mn-lt"/>
                <a:ea typeface="+mn-ea"/>
                <a:cs typeface="+mn-cs"/>
              </a:rPr>
              <a:t>：在滑动窗口上生成不同大小的</a:t>
            </a:r>
            <a:r>
              <a:rPr lang="en-US" altLang="zh-CN" sz="1200" b="0" i="0" kern="1200" dirty="0" smtClean="0">
                <a:solidFill>
                  <a:schemeClr val="tx1"/>
                </a:solidFill>
                <a:effectLst/>
                <a:latin typeface="+mn-lt"/>
                <a:ea typeface="+mn-ea"/>
                <a:cs typeface="+mn-cs"/>
              </a:rPr>
              <a:t>anchor box</a:t>
            </a:r>
            <a:r>
              <a:rPr lang="zh-CN" altLang="en-US" sz="1200" b="0" i="0" kern="1200" dirty="0" smtClean="0">
                <a:solidFill>
                  <a:schemeClr val="tx1"/>
                </a:solidFill>
                <a:effectLst/>
                <a:latin typeface="+mn-lt"/>
                <a:ea typeface="+mn-ea"/>
                <a:cs typeface="+mn-cs"/>
              </a:rPr>
              <a:t>，取定</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的阈值，按</a:t>
            </a:r>
            <a:r>
              <a:rPr lang="en-US" altLang="zh-CN" sz="1200" b="0" i="0" kern="1200" dirty="0" smtClean="0">
                <a:solidFill>
                  <a:schemeClr val="tx1"/>
                </a:solidFill>
                <a:effectLst/>
                <a:latin typeface="+mn-lt"/>
                <a:ea typeface="+mn-ea"/>
                <a:cs typeface="+mn-cs"/>
              </a:rPr>
              <a:t>Ground Truth</a:t>
            </a:r>
            <a:r>
              <a:rPr lang="zh-CN" altLang="en-US" sz="1200" b="0" i="0" kern="1200" dirty="0" smtClean="0">
                <a:solidFill>
                  <a:schemeClr val="tx1"/>
                </a:solidFill>
                <a:effectLst/>
                <a:latin typeface="+mn-lt"/>
                <a:ea typeface="+mn-ea"/>
                <a:cs typeface="+mn-cs"/>
              </a:rPr>
              <a:t>标定这些</a:t>
            </a:r>
            <a:r>
              <a:rPr lang="en-US" altLang="zh-CN" sz="1200" b="0" i="0" kern="1200" dirty="0" smtClean="0">
                <a:solidFill>
                  <a:schemeClr val="tx1"/>
                </a:solidFill>
                <a:effectLst/>
                <a:latin typeface="+mn-lt"/>
                <a:ea typeface="+mn-ea"/>
                <a:cs typeface="+mn-cs"/>
              </a:rPr>
              <a:t>anchor box</a:t>
            </a:r>
            <a:r>
              <a:rPr lang="zh-CN" altLang="en-US" sz="1200" b="0" i="0" kern="1200" dirty="0" smtClean="0">
                <a:solidFill>
                  <a:schemeClr val="tx1"/>
                </a:solidFill>
                <a:effectLst/>
                <a:latin typeface="+mn-lt"/>
                <a:ea typeface="+mn-ea"/>
                <a:cs typeface="+mn-cs"/>
              </a:rPr>
              <a:t>的正负。于是，传入</a:t>
            </a:r>
            <a:r>
              <a:rPr lang="en-US" altLang="zh-CN" sz="1200" b="0" i="0" kern="1200" dirty="0" smtClean="0">
                <a:solidFill>
                  <a:schemeClr val="tx1"/>
                </a:solidFill>
                <a:effectLst/>
                <a:latin typeface="+mn-lt"/>
                <a:ea typeface="+mn-ea"/>
                <a:cs typeface="+mn-cs"/>
              </a:rPr>
              <a:t>RPN</a:t>
            </a:r>
            <a:r>
              <a:rPr lang="zh-CN" altLang="en-US" sz="1200" b="0" i="0" kern="1200" dirty="0" smtClean="0">
                <a:solidFill>
                  <a:schemeClr val="tx1"/>
                </a:solidFill>
                <a:effectLst/>
                <a:latin typeface="+mn-lt"/>
                <a:ea typeface="+mn-ea"/>
                <a:cs typeface="+mn-cs"/>
              </a:rPr>
              <a:t>网络的样本数据被整理为</a:t>
            </a:r>
            <a:r>
              <a:rPr lang="en-US" altLang="zh-CN" sz="1200" b="0" i="0" kern="1200" dirty="0" smtClean="0">
                <a:solidFill>
                  <a:schemeClr val="tx1"/>
                </a:solidFill>
                <a:effectLst/>
                <a:latin typeface="+mn-lt"/>
                <a:ea typeface="+mn-ea"/>
                <a:cs typeface="+mn-cs"/>
              </a:rPr>
              <a:t>anchor box</a:t>
            </a:r>
            <a:r>
              <a:rPr lang="zh-CN" altLang="en-US" sz="1200" b="0" i="0" kern="1200" dirty="0" smtClean="0">
                <a:solidFill>
                  <a:schemeClr val="tx1"/>
                </a:solidFill>
                <a:effectLst/>
                <a:latin typeface="+mn-lt"/>
                <a:ea typeface="+mn-ea"/>
                <a:cs typeface="+mn-cs"/>
              </a:rPr>
              <a:t>（坐标）和每个</a:t>
            </a:r>
            <a:r>
              <a:rPr lang="en-US" altLang="zh-CN" sz="1200" b="0" i="0" kern="1200" dirty="0" smtClean="0">
                <a:solidFill>
                  <a:schemeClr val="tx1"/>
                </a:solidFill>
                <a:effectLst/>
                <a:latin typeface="+mn-lt"/>
                <a:ea typeface="+mn-ea"/>
                <a:cs typeface="+mn-cs"/>
              </a:rPr>
              <a:t>anchor box</a:t>
            </a:r>
            <a:r>
              <a:rPr lang="zh-CN" altLang="en-US" sz="1200" b="0" i="0" kern="1200" dirty="0" smtClean="0">
                <a:solidFill>
                  <a:schemeClr val="tx1"/>
                </a:solidFill>
                <a:effectLst/>
                <a:latin typeface="+mn-lt"/>
                <a:ea typeface="+mn-ea"/>
                <a:cs typeface="+mn-cs"/>
              </a:rPr>
              <a:t>是否有物体（二分类标签）。</a:t>
            </a:r>
            <a:r>
              <a:rPr lang="en-US" altLang="zh-CN" sz="1200" b="0" i="0" kern="1200" dirty="0" smtClean="0">
                <a:solidFill>
                  <a:schemeClr val="tx1"/>
                </a:solidFill>
                <a:effectLst/>
                <a:latin typeface="+mn-lt"/>
                <a:ea typeface="+mn-ea"/>
                <a:cs typeface="+mn-cs"/>
              </a:rPr>
              <a:t>RPN</a:t>
            </a:r>
            <a:r>
              <a:rPr lang="zh-CN" altLang="en-US" sz="1200" b="0" i="0" kern="1200" dirty="0" smtClean="0">
                <a:solidFill>
                  <a:schemeClr val="tx1"/>
                </a:solidFill>
                <a:effectLst/>
                <a:latin typeface="+mn-lt"/>
                <a:ea typeface="+mn-ea"/>
                <a:cs typeface="+mn-cs"/>
              </a:rPr>
              <a:t>网络将每个样本映射为一个概率值和四个坐标值，最后将二分类和坐标回归的损失统一起来，作为</a:t>
            </a:r>
            <a:r>
              <a:rPr lang="en-US" altLang="zh-CN" sz="1200" b="0" i="0" kern="1200" dirty="0" smtClean="0">
                <a:solidFill>
                  <a:schemeClr val="tx1"/>
                </a:solidFill>
                <a:effectLst/>
                <a:latin typeface="+mn-lt"/>
                <a:ea typeface="+mn-ea"/>
                <a:cs typeface="+mn-cs"/>
              </a:rPr>
              <a:t>RPN</a:t>
            </a:r>
            <a:r>
              <a:rPr lang="zh-CN" altLang="en-US" sz="1200" b="0" i="0" kern="1200" dirty="0" smtClean="0">
                <a:solidFill>
                  <a:schemeClr val="tx1"/>
                </a:solidFill>
                <a:effectLst/>
                <a:latin typeface="+mn-lt"/>
                <a:ea typeface="+mn-ea"/>
                <a:cs typeface="+mn-cs"/>
              </a:rPr>
              <a:t>网络的目标训练，同样用多任务损失将二者的损失联合。 </a:t>
            </a:r>
          </a:p>
          <a:p>
            <a:endParaRPr lang="zh-CN" altLang="en-US" dirty="0" smtClean="0"/>
          </a:p>
          <a:p>
            <a:r>
              <a:rPr lang="zh-CN" altLang="en-US" dirty="0" smtClean="0"/>
              <a:t>大家会问，为什么会有这么多算法。</a:t>
            </a:r>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6</a:t>
            </a:fld>
            <a:endParaRPr lang="zh-CN" altLang="en-US"/>
          </a:p>
        </p:txBody>
      </p:sp>
    </p:spTree>
    <p:extLst>
      <p:ext uri="{BB962C8B-B14F-4D97-AF65-F5344CB8AC3E}">
        <p14:creationId xmlns:p14="http://schemas.microsoft.com/office/powerpoint/2010/main" val="3351705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如图所示，输入的图片经过了改进的</a:t>
            </a:r>
            <a:r>
              <a:rPr lang="en-US" altLang="zh-CN" dirty="0" smtClean="0"/>
              <a:t>VGG</a:t>
            </a:r>
            <a:r>
              <a:rPr lang="zh-CN" altLang="en-US" dirty="0" smtClean="0"/>
              <a:t>网络（</a:t>
            </a:r>
            <a:r>
              <a:rPr lang="en-US" altLang="zh-CN" dirty="0" smtClean="0"/>
              <a:t>Conv1-&gt;fc7</a:t>
            </a:r>
            <a:r>
              <a:rPr lang="zh-CN" altLang="en-US" dirty="0" smtClean="0"/>
              <a:t>）和几个另加的卷积层，类似一金字塔的结构，依次降采样，来进行特征提取；来识别不同大小的物体；</a:t>
            </a:r>
            <a:endParaRPr lang="en-US" altLang="zh-CN" dirty="0" smtClean="0"/>
          </a:p>
          <a:p>
            <a:endParaRPr lang="en-US" altLang="zh-CN" dirty="0" smtClean="0"/>
          </a:p>
          <a:p>
            <a:r>
              <a:rPr lang="zh-CN" altLang="en-US" dirty="0" smtClean="0"/>
              <a:t>计算量和参数量大的惊人：</a:t>
            </a:r>
            <a:endParaRPr lang="en-US" altLang="zh-CN" dirty="0" smtClean="0"/>
          </a:p>
          <a:p>
            <a:r>
              <a:rPr lang="zh-CN" altLang="en-US" dirty="0" smtClean="0"/>
              <a:t>以</a:t>
            </a:r>
            <a:r>
              <a:rPr lang="en-US" altLang="zh-CN" dirty="0" smtClean="0"/>
              <a:t>Conv5_3</a:t>
            </a:r>
            <a:r>
              <a:rPr lang="zh-CN" altLang="en-US" dirty="0" smtClean="0"/>
              <a:t>到第</a:t>
            </a:r>
            <a:r>
              <a:rPr lang="en-US" altLang="zh-CN" dirty="0" smtClean="0"/>
              <a:t>6</a:t>
            </a:r>
            <a:r>
              <a:rPr lang="zh-CN" altLang="en-US" dirty="0" smtClean="0"/>
              <a:t>层的计算来看， （</a:t>
            </a:r>
            <a:r>
              <a:rPr lang="en-US" altLang="zh-CN" dirty="0" smtClean="0"/>
              <a:t>38</a:t>
            </a:r>
            <a:r>
              <a:rPr lang="zh-CN" altLang="en-US" dirty="0" smtClean="0"/>
              <a:t>*</a:t>
            </a:r>
            <a:r>
              <a:rPr lang="en-US" altLang="zh-CN" dirty="0" smtClean="0"/>
              <a:t>38</a:t>
            </a:r>
            <a:r>
              <a:rPr lang="zh-CN" altLang="en-US" dirty="0" smtClean="0"/>
              <a:t>*</a:t>
            </a:r>
            <a:r>
              <a:rPr lang="en-US" altLang="zh-CN" dirty="0" smtClean="0"/>
              <a:t>512</a:t>
            </a:r>
            <a:r>
              <a:rPr lang="zh-CN" altLang="en-US" dirty="0" smtClean="0"/>
              <a:t>）</a:t>
            </a:r>
            <a:r>
              <a:rPr lang="en-US" altLang="zh-CN" dirty="0" smtClean="0"/>
              <a:t> </a:t>
            </a:r>
            <a:r>
              <a:rPr lang="zh-CN" altLang="en-US" dirty="0" smtClean="0"/>
              <a:t>* （</a:t>
            </a:r>
            <a:r>
              <a:rPr lang="en-US" altLang="zh-CN" dirty="0" smtClean="0"/>
              <a:t>3</a:t>
            </a:r>
            <a:r>
              <a:rPr lang="zh-CN" altLang="en-US" dirty="0" smtClean="0"/>
              <a:t>* </a:t>
            </a:r>
            <a:r>
              <a:rPr lang="en-US" altLang="zh-CN" dirty="0" smtClean="0"/>
              <a:t>3</a:t>
            </a:r>
            <a:r>
              <a:rPr lang="zh-CN" altLang="en-US" dirty="0" smtClean="0"/>
              <a:t>*</a:t>
            </a:r>
            <a:r>
              <a:rPr lang="en-US" altLang="zh-CN" dirty="0" smtClean="0"/>
              <a:t>512</a:t>
            </a:r>
            <a:r>
              <a:rPr lang="zh-CN" altLang="en-US" dirty="0" smtClean="0"/>
              <a:t>）*</a:t>
            </a:r>
            <a:r>
              <a:rPr lang="en-US" altLang="zh-CN" dirty="0" smtClean="0"/>
              <a:t>1024 = 3488587186176 = 3.5 </a:t>
            </a:r>
            <a:r>
              <a:rPr lang="zh-CN" altLang="en-US" dirty="0" smtClean="0"/>
              <a:t>* </a:t>
            </a:r>
            <a:r>
              <a:rPr lang="en-US" altLang="zh-CN" dirty="0" smtClean="0"/>
              <a:t>10^12 =3.5T</a:t>
            </a:r>
          </a:p>
          <a:p>
            <a:endParaRPr lang="en-US" altLang="zh-CN" dirty="0" smtClean="0"/>
          </a:p>
          <a:p>
            <a:r>
              <a:rPr lang="zh-CN" altLang="en-US" dirty="0" smtClean="0"/>
              <a:t>从特征层到预测结果也是经过两次卷积运算，第一次卷积运算得到先验框的预测值；第二次卷积运算得到先验框内物体所属各个物体种类的置信度；</a:t>
            </a:r>
            <a:endParaRPr lang="en-US" altLang="zh-CN" dirty="0" smtClean="0"/>
          </a:p>
          <a:p>
            <a:r>
              <a:rPr lang="en-US" altLang="zh-CN" dirty="0" smtClean="0"/>
              <a:t>38</a:t>
            </a:r>
            <a:r>
              <a:rPr lang="zh-CN" altLang="en-US" dirty="0" smtClean="0"/>
              <a:t>*</a:t>
            </a:r>
            <a:r>
              <a:rPr lang="en-US" altLang="zh-CN" dirty="0" smtClean="0"/>
              <a:t>38</a:t>
            </a:r>
            <a:r>
              <a:rPr lang="zh-CN" altLang="en-US" dirty="0" smtClean="0"/>
              <a:t>*</a:t>
            </a:r>
            <a:r>
              <a:rPr lang="en-US" altLang="zh-CN" dirty="0" smtClean="0"/>
              <a:t>512 </a:t>
            </a:r>
            <a:r>
              <a:rPr lang="zh-CN" altLang="en-US" dirty="0" smtClean="0"/>
              <a:t>*（</a:t>
            </a:r>
            <a:r>
              <a:rPr lang="en-US" altLang="zh-CN" dirty="0" smtClean="0"/>
              <a:t>3</a:t>
            </a:r>
            <a:r>
              <a:rPr lang="zh-CN" altLang="en-US" dirty="0" smtClean="0"/>
              <a:t>*</a:t>
            </a:r>
            <a:r>
              <a:rPr lang="en-US" altLang="zh-CN" dirty="0" smtClean="0"/>
              <a:t>3</a:t>
            </a:r>
            <a:r>
              <a:rPr lang="zh-CN" altLang="en-US" dirty="0" smtClean="0"/>
              <a:t>*</a:t>
            </a:r>
            <a:r>
              <a:rPr lang="en-US" altLang="zh-CN" dirty="0" smtClean="0"/>
              <a:t>512</a:t>
            </a:r>
            <a:r>
              <a:rPr lang="zh-CN" altLang="en-US" dirty="0" smtClean="0"/>
              <a:t>）*</a:t>
            </a:r>
            <a:r>
              <a:rPr lang="en-US" altLang="zh-CN" dirty="0" smtClean="0"/>
              <a:t>4</a:t>
            </a:r>
            <a:r>
              <a:rPr lang="zh-CN" altLang="en-US" dirty="0" smtClean="0"/>
              <a:t>*</a:t>
            </a:r>
            <a:r>
              <a:rPr lang="en-US" altLang="zh-CN" dirty="0" smtClean="0"/>
              <a:t>4</a:t>
            </a:r>
          </a:p>
          <a:p>
            <a:r>
              <a:rPr lang="en-US" altLang="zh-CN" dirty="0" smtClean="0"/>
              <a:t>38</a:t>
            </a:r>
            <a:r>
              <a:rPr lang="zh-CN" altLang="en-US" dirty="0" smtClean="0"/>
              <a:t>*</a:t>
            </a:r>
            <a:r>
              <a:rPr lang="en-US" altLang="zh-CN" dirty="0" smtClean="0"/>
              <a:t>38</a:t>
            </a:r>
            <a:r>
              <a:rPr lang="zh-CN" altLang="en-US" dirty="0" smtClean="0"/>
              <a:t>*</a:t>
            </a:r>
            <a:r>
              <a:rPr lang="en-US" altLang="zh-CN" dirty="0" smtClean="0"/>
              <a:t>512 </a:t>
            </a:r>
            <a:r>
              <a:rPr lang="zh-CN" altLang="en-US" dirty="0" smtClean="0"/>
              <a:t>*（</a:t>
            </a:r>
            <a:r>
              <a:rPr lang="en-US" altLang="zh-CN" dirty="0" smtClean="0"/>
              <a:t>3</a:t>
            </a:r>
            <a:r>
              <a:rPr lang="zh-CN" altLang="en-US" dirty="0" smtClean="0"/>
              <a:t>*</a:t>
            </a:r>
            <a:r>
              <a:rPr lang="en-US" altLang="zh-CN" dirty="0" smtClean="0"/>
              <a:t>3</a:t>
            </a:r>
            <a:r>
              <a:rPr lang="zh-CN" altLang="en-US" dirty="0" smtClean="0"/>
              <a:t>*</a:t>
            </a:r>
            <a:r>
              <a:rPr lang="en-US" altLang="zh-CN" dirty="0" smtClean="0"/>
              <a:t>512</a:t>
            </a:r>
            <a:r>
              <a:rPr lang="zh-CN" altLang="en-US" dirty="0" smtClean="0"/>
              <a:t>）*</a:t>
            </a:r>
            <a:r>
              <a:rPr lang="en-US" altLang="zh-CN" dirty="0" smtClean="0"/>
              <a:t>4</a:t>
            </a:r>
            <a:r>
              <a:rPr lang="zh-CN" altLang="en-US" dirty="0" smtClean="0"/>
              <a:t>*</a:t>
            </a:r>
            <a:r>
              <a:rPr lang="en-US" altLang="zh-CN" dirty="0" smtClean="0"/>
              <a:t>21</a:t>
            </a:r>
          </a:p>
          <a:p>
            <a:endParaRPr lang="en-US" altLang="zh-CN" dirty="0" smtClean="0"/>
          </a:p>
          <a:p>
            <a:r>
              <a:rPr lang="zh-CN" altLang="en-US" dirty="0" smtClean="0"/>
              <a:t>大约是</a:t>
            </a:r>
            <a:r>
              <a:rPr lang="en-US" altLang="zh-CN" dirty="0" smtClean="0"/>
              <a:t>0.3 T</a:t>
            </a:r>
            <a:endParaRPr lang="zh-CN" altLang="en-US"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7</a:t>
            </a:fld>
            <a:endParaRPr lang="zh-CN" altLang="en-US"/>
          </a:p>
        </p:txBody>
      </p:sp>
    </p:spTree>
    <p:extLst>
      <p:ext uri="{BB962C8B-B14F-4D97-AF65-F5344CB8AC3E}">
        <p14:creationId xmlns:p14="http://schemas.microsoft.com/office/powerpoint/2010/main" val="2377409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OK</a:t>
            </a:r>
            <a:r>
              <a:rPr lang="zh-CN" altLang="en-US" sz="1200" kern="1200" dirty="0" smtClean="0">
                <a:solidFill>
                  <a:schemeClr val="tx1"/>
                </a:solidFill>
                <a:effectLst/>
                <a:latin typeface="+mn-lt"/>
                <a:ea typeface="+mn-ea"/>
                <a:cs typeface="+mn-cs"/>
              </a:rPr>
              <a:t>，那我们来看看华为推出的</a:t>
            </a:r>
            <a:r>
              <a:rPr lang="en-US" altLang="zh-CN" sz="1200" kern="1200" dirty="0" smtClean="0">
                <a:solidFill>
                  <a:schemeClr val="tx1"/>
                </a:solidFill>
                <a:effectLst/>
                <a:latin typeface="+mn-lt"/>
                <a:ea typeface="+mn-ea"/>
                <a:cs typeface="+mn-cs"/>
              </a:rPr>
              <a:t>Atlas</a:t>
            </a:r>
            <a:r>
              <a:rPr lang="zh-CN" altLang="en-US" sz="1200" kern="1200" dirty="0" smtClean="0">
                <a:solidFill>
                  <a:schemeClr val="tx1"/>
                </a:solidFill>
                <a:effectLst/>
                <a:latin typeface="+mn-lt"/>
                <a:ea typeface="+mn-ea"/>
                <a:cs typeface="+mn-cs"/>
              </a:rPr>
              <a:t>人工智能计算解决方案，这个方案包括不但包括了基于昇腾</a:t>
            </a:r>
            <a:r>
              <a:rPr lang="en-US" altLang="zh-CN" sz="1200" kern="1200" dirty="0" smtClean="0">
                <a:solidFill>
                  <a:schemeClr val="tx1"/>
                </a:solidFill>
                <a:effectLst/>
                <a:latin typeface="+mn-lt"/>
                <a:ea typeface="+mn-ea"/>
                <a:cs typeface="+mn-cs"/>
              </a:rPr>
              <a:t>AI</a:t>
            </a:r>
            <a:r>
              <a:rPr lang="zh-CN" altLang="en-US" sz="1200" kern="1200" dirty="0" smtClean="0">
                <a:solidFill>
                  <a:schemeClr val="tx1"/>
                </a:solidFill>
                <a:effectLst/>
                <a:latin typeface="+mn-lt"/>
                <a:ea typeface="+mn-ea"/>
                <a:cs typeface="+mn-cs"/>
              </a:rPr>
              <a:t>处理器的端</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边</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云全覆盖的各个计算产品，更是打造了全栈的软件栈，方便用户使用；</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9</a:t>
            </a:fld>
            <a:endParaRPr lang="zh-CN" altLang="en-US"/>
          </a:p>
        </p:txBody>
      </p:sp>
    </p:spTree>
    <p:extLst>
      <p:ext uri="{BB962C8B-B14F-4D97-AF65-F5344CB8AC3E}">
        <p14:creationId xmlns:p14="http://schemas.microsoft.com/office/powerpoint/2010/main" val="1665644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这里介绍下华为云推出的昇腾云服务器；</a:t>
            </a:r>
            <a:endParaRPr lang="en-US" altLang="zh-CN" dirty="0" smtClean="0"/>
          </a:p>
          <a:p>
            <a:r>
              <a:rPr lang="en-US" altLang="zh-CN" dirty="0" smtClean="0"/>
              <a:t>KAi1</a:t>
            </a:r>
            <a:r>
              <a:rPr lang="zh-CN" altLang="en-US" dirty="0" smtClean="0"/>
              <a:t>：基于鲲鹏</a:t>
            </a:r>
            <a:r>
              <a:rPr lang="en-US" altLang="zh-CN" dirty="0" smtClean="0"/>
              <a:t>920</a:t>
            </a:r>
            <a:r>
              <a:rPr lang="zh-CN" altLang="en-US" dirty="0" smtClean="0"/>
              <a:t>和昇腾</a:t>
            </a:r>
            <a:r>
              <a:rPr lang="en-US" altLang="zh-CN" dirty="0" smtClean="0"/>
              <a:t>310</a:t>
            </a:r>
            <a:r>
              <a:rPr lang="zh-CN" altLang="en-US" dirty="0" smtClean="0"/>
              <a:t>的的云服务器；</a:t>
            </a:r>
            <a:endParaRPr lang="en-US" altLang="zh-CN" dirty="0" smtClean="0"/>
          </a:p>
          <a:p>
            <a:r>
              <a:rPr lang="en-US" altLang="zh-CN" dirty="0" smtClean="0"/>
              <a:t>Ai1</a:t>
            </a:r>
            <a:r>
              <a:rPr lang="zh-CN" altLang="en-US" dirty="0" smtClean="0"/>
              <a:t>：基于</a:t>
            </a:r>
            <a:r>
              <a:rPr lang="en-US" altLang="zh-CN" dirty="0" smtClean="0"/>
              <a:t>X86</a:t>
            </a:r>
            <a:r>
              <a:rPr lang="zh-CN" altLang="en-US" dirty="0" smtClean="0"/>
              <a:t>通用</a:t>
            </a:r>
            <a:r>
              <a:rPr lang="en-US" altLang="zh-CN" dirty="0" smtClean="0"/>
              <a:t>CPU</a:t>
            </a:r>
            <a:r>
              <a:rPr lang="zh-CN" altLang="en-US" dirty="0" smtClean="0"/>
              <a:t>和昇腾</a:t>
            </a:r>
            <a:r>
              <a:rPr lang="en-US" altLang="zh-CN" dirty="0" smtClean="0"/>
              <a:t>310</a:t>
            </a:r>
            <a:r>
              <a:rPr lang="zh-CN" altLang="en-US" dirty="0" smtClean="0"/>
              <a:t>的云服务器；</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另外两款则是基于昇腾</a:t>
            </a:r>
            <a:r>
              <a:rPr lang="en-US" altLang="zh-CN" dirty="0" smtClean="0"/>
              <a:t>910</a:t>
            </a:r>
            <a:r>
              <a:rPr lang="zh-CN" altLang="en-US" dirty="0" smtClean="0"/>
              <a:t>的训练云服务器；</a:t>
            </a:r>
            <a:endParaRPr lang="en-US" altLang="zh-CN" dirty="0" smtClean="0"/>
          </a:p>
          <a:p>
            <a:endParaRPr lang="en-US" altLang="zh-CN" dirty="0" smtClean="0"/>
          </a:p>
          <a:p>
            <a:r>
              <a:rPr lang="zh-CN" altLang="en-US" dirty="0" smtClean="0"/>
              <a:t>我们今天后面的实验就是基于</a:t>
            </a:r>
            <a:r>
              <a:rPr lang="en-US" altLang="zh-CN" dirty="0" smtClean="0"/>
              <a:t>Ai1</a:t>
            </a:r>
            <a:r>
              <a:rPr lang="zh-CN" altLang="en-US" dirty="0" smtClean="0"/>
              <a:t>的云服务器实例，实现推理场景的加速！</a:t>
            </a:r>
            <a:endParaRPr lang="en-US" altLang="zh-CN" dirty="0" smtClean="0"/>
          </a:p>
        </p:txBody>
      </p:sp>
      <p:sp>
        <p:nvSpPr>
          <p:cNvPr id="4" name="灯片编号占位符 3"/>
          <p:cNvSpPr>
            <a:spLocks noGrp="1"/>
          </p:cNvSpPr>
          <p:nvPr>
            <p:ph type="sldNum" sz="quarter" idx="10"/>
          </p:nvPr>
        </p:nvSpPr>
        <p:spPr/>
        <p:txBody>
          <a:bodyPr/>
          <a:lstStyle/>
          <a:p>
            <a:fld id="{0253593F-E4A9-4D1C-837B-FCD843521D3D}" type="slidenum">
              <a:rPr lang="zh-CN" altLang="en-US" smtClean="0"/>
              <a:t>10</a:t>
            </a:fld>
            <a:endParaRPr lang="zh-CN" altLang="en-US"/>
          </a:p>
        </p:txBody>
      </p:sp>
    </p:spTree>
    <p:extLst>
      <p:ext uri="{BB962C8B-B14F-4D97-AF65-F5344CB8AC3E}">
        <p14:creationId xmlns:p14="http://schemas.microsoft.com/office/powerpoint/2010/main" val="552933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altLang="zh-CN" dirty="0" smtClean="0"/>
          </a:p>
        </p:txBody>
      </p:sp>
    </p:spTree>
    <p:extLst>
      <p:ext uri="{BB962C8B-B14F-4D97-AF65-F5344CB8AC3E}">
        <p14:creationId xmlns:p14="http://schemas.microsoft.com/office/powerpoint/2010/main" val="33038687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12</a:t>
            </a:fld>
            <a:endParaRPr lang="zh-CN" altLang="en-US"/>
          </a:p>
        </p:txBody>
      </p:sp>
    </p:spTree>
    <p:extLst>
      <p:ext uri="{BB962C8B-B14F-4D97-AF65-F5344CB8AC3E}">
        <p14:creationId xmlns:p14="http://schemas.microsoft.com/office/powerpoint/2010/main" val="874267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40000" lnSpcReduction="20000"/>
          </a:bodyPr>
          <a:lstStyle/>
          <a:p>
            <a:r>
              <a:rPr lang="zh-CN" altLang="en-US" sz="1600" b="1" i="0" kern="1200" dirty="0" smtClean="0">
                <a:solidFill>
                  <a:schemeClr val="tx1"/>
                </a:solidFill>
                <a:effectLst/>
                <a:latin typeface="+mn-lt"/>
                <a:ea typeface="+mn-ea"/>
                <a:cs typeface="+mn-cs"/>
              </a:rPr>
              <a:t>关于</a:t>
            </a:r>
            <a:r>
              <a:rPr lang="en-US" altLang="zh-CN" sz="1600" b="1" i="0" kern="1200" dirty="0" smtClean="0">
                <a:solidFill>
                  <a:schemeClr val="tx1"/>
                </a:solidFill>
                <a:effectLst/>
                <a:latin typeface="+mn-lt"/>
                <a:ea typeface="+mn-ea"/>
                <a:cs typeface="+mn-cs"/>
              </a:rPr>
              <a:t>Mind Studio</a:t>
            </a:r>
          </a:p>
          <a:p>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是一套基于</a:t>
            </a:r>
            <a:r>
              <a:rPr lang="en-US" altLang="zh-CN" sz="1600" b="0" i="0" kern="1200" dirty="0" smtClean="0">
                <a:solidFill>
                  <a:schemeClr val="tx1"/>
                </a:solidFill>
                <a:effectLst/>
                <a:latin typeface="+mn-lt"/>
                <a:ea typeface="+mn-ea"/>
                <a:cs typeface="+mn-cs"/>
              </a:rPr>
              <a:t>IntelliJ</a:t>
            </a:r>
            <a:r>
              <a:rPr lang="zh-CN" altLang="en-US" sz="1600" b="0" i="0" kern="1200" dirty="0" smtClean="0">
                <a:solidFill>
                  <a:schemeClr val="tx1"/>
                </a:solidFill>
                <a:effectLst/>
                <a:latin typeface="+mn-lt"/>
                <a:ea typeface="+mn-ea"/>
                <a:cs typeface="+mn-cs"/>
              </a:rPr>
              <a:t>框架的开发工具链平台，提供了应用开发、调试、模型转换功能，同时还提供了网络移植、优化和分析功能，为用户开发应用程序带来了极大的便利。</a:t>
            </a:r>
          </a:p>
          <a:p>
            <a:r>
              <a:rPr lang="zh-CN" altLang="en-US" sz="1600" b="1" i="0" kern="1200" dirty="0" smtClean="0">
                <a:solidFill>
                  <a:schemeClr val="tx1"/>
                </a:solidFill>
                <a:effectLst/>
                <a:latin typeface="+mn-lt"/>
                <a:ea typeface="+mn-ea"/>
                <a:cs typeface="+mn-cs"/>
              </a:rPr>
              <a:t>功能简介</a:t>
            </a:r>
          </a:p>
          <a:p>
            <a:r>
              <a:rPr lang="zh-CN" altLang="en-US" sz="1600" b="0" i="0" kern="1200" dirty="0" smtClean="0">
                <a:solidFill>
                  <a:schemeClr val="tx1"/>
                </a:solidFill>
                <a:effectLst/>
                <a:latin typeface="+mn-lt"/>
                <a:ea typeface="+mn-ea"/>
                <a:cs typeface="+mn-cs"/>
              </a:rPr>
              <a:t>针对算子开发，</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提供了全套的算子开发、调优能力。通过</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提供的工具链也可以进行第三方算子开发，降低了算子开发的门槛，并提高算子开发及调试调优的效率，有效提升了产品竞争力。</a:t>
            </a:r>
          </a:p>
          <a:p>
            <a:r>
              <a:rPr lang="zh-CN" altLang="en-US" sz="1600" b="0" i="0" kern="1200" dirty="0" smtClean="0">
                <a:solidFill>
                  <a:schemeClr val="tx1"/>
                </a:solidFill>
                <a:effectLst/>
                <a:latin typeface="+mn-lt"/>
                <a:ea typeface="+mn-ea"/>
                <a:cs typeface="+mn-cs"/>
              </a:rPr>
              <a:t>针对网络模型的开发，</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集成了离线模型转换工具、模型量化工具、模型精度比对工具、模型运行性能分析工具、日志分析工具，提升了网络模型移植、分析和优化的效率。</a:t>
            </a:r>
          </a:p>
          <a:p>
            <a:r>
              <a:rPr lang="zh-CN" altLang="en-US" sz="1600" b="0" i="0" kern="1200" dirty="0" smtClean="0">
                <a:solidFill>
                  <a:schemeClr val="tx1"/>
                </a:solidFill>
                <a:effectLst/>
                <a:latin typeface="+mn-lt"/>
                <a:ea typeface="+mn-ea"/>
                <a:cs typeface="+mn-cs"/>
              </a:rPr>
              <a:t>针对计算引擎开发，</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预置了典型的分类网络、检测网络等计算引擎代码，降低了开发者的技术门槛，加快了开发者对</a:t>
            </a:r>
            <a:r>
              <a:rPr lang="en-US" altLang="zh-CN" sz="1600" b="0" i="0" kern="1200" dirty="0" smtClean="0">
                <a:solidFill>
                  <a:schemeClr val="tx1"/>
                </a:solidFill>
                <a:effectLst/>
                <a:latin typeface="+mn-lt"/>
                <a:ea typeface="+mn-ea"/>
                <a:cs typeface="+mn-cs"/>
              </a:rPr>
              <a:t>AI</a:t>
            </a:r>
            <a:r>
              <a:rPr lang="zh-CN" altLang="en-US" sz="1600" b="0" i="0" kern="1200" dirty="0" smtClean="0">
                <a:solidFill>
                  <a:schemeClr val="tx1"/>
                </a:solidFill>
                <a:effectLst/>
                <a:latin typeface="+mn-lt"/>
                <a:ea typeface="+mn-ea"/>
                <a:cs typeface="+mn-cs"/>
              </a:rPr>
              <a:t>算法引擎的编写及移植效率。</a:t>
            </a:r>
          </a:p>
          <a:p>
            <a:r>
              <a:rPr lang="zh-CN" altLang="en-US" sz="1600" b="0" i="0" kern="1200" dirty="0" smtClean="0">
                <a:solidFill>
                  <a:schemeClr val="tx1"/>
                </a:solidFill>
                <a:effectLst/>
                <a:latin typeface="+mn-lt"/>
                <a:ea typeface="+mn-ea"/>
                <a:cs typeface="+mn-cs"/>
              </a:rPr>
              <a:t>针对应用开发，</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集成了各种工具如分析器（</a:t>
            </a:r>
            <a:r>
              <a:rPr lang="en-US" altLang="zh-CN" sz="1600" b="0" i="0" kern="1200" dirty="0" smtClean="0">
                <a:solidFill>
                  <a:schemeClr val="tx1"/>
                </a:solidFill>
                <a:effectLst/>
                <a:latin typeface="+mn-lt"/>
                <a:ea typeface="+mn-ea"/>
                <a:cs typeface="+mn-cs"/>
              </a:rPr>
              <a:t>Profiler</a:t>
            </a:r>
            <a:r>
              <a:rPr lang="zh-CN" altLang="en-US" sz="1600" b="0" i="0" kern="1200" dirty="0" smtClean="0">
                <a:solidFill>
                  <a:schemeClr val="tx1"/>
                </a:solidFill>
                <a:effectLst/>
                <a:latin typeface="+mn-lt"/>
                <a:ea typeface="+mn-ea"/>
                <a:cs typeface="+mn-cs"/>
              </a:rPr>
              <a:t>）和编译器（</a:t>
            </a:r>
            <a:r>
              <a:rPr lang="en-US" altLang="zh-CN" sz="1600" b="0" i="0" kern="1200" dirty="0" smtClean="0">
                <a:solidFill>
                  <a:schemeClr val="tx1"/>
                </a:solidFill>
                <a:effectLst/>
                <a:latin typeface="+mn-lt"/>
                <a:ea typeface="+mn-ea"/>
                <a:cs typeface="+mn-cs"/>
              </a:rPr>
              <a:t>Compiler</a:t>
            </a:r>
            <a:r>
              <a:rPr lang="zh-CN" altLang="en-US" sz="1600" b="0" i="0" kern="1200" dirty="0" smtClean="0">
                <a:solidFill>
                  <a:schemeClr val="tx1"/>
                </a:solidFill>
                <a:effectLst/>
                <a:latin typeface="+mn-lt"/>
                <a:ea typeface="+mn-ea"/>
                <a:cs typeface="+mn-cs"/>
              </a:rPr>
              <a:t>）等，为开发者提供了图形化的集成开发环境，通过</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能够进行工程管理、编译、调试、性能分析等全流程开发，能够很大程度提高开发效率。</a:t>
            </a:r>
          </a:p>
          <a:p>
            <a:r>
              <a:rPr lang="zh-CN" altLang="en-US" sz="1600" b="1" i="0" kern="1200" dirty="0" smtClean="0">
                <a:solidFill>
                  <a:schemeClr val="tx1"/>
                </a:solidFill>
                <a:effectLst/>
                <a:latin typeface="+mn-lt"/>
                <a:ea typeface="+mn-ea"/>
                <a:cs typeface="+mn-cs"/>
              </a:rPr>
              <a:t>功能框架</a:t>
            </a:r>
          </a:p>
          <a:p>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功能框架如</a:t>
            </a:r>
            <a:r>
              <a:rPr lang="zh-CN" altLang="en-US" sz="1600" b="0" i="0" kern="1200" dirty="0" smtClean="0">
                <a:solidFill>
                  <a:schemeClr val="tx1"/>
                </a:solidFill>
                <a:effectLst/>
                <a:latin typeface="+mn-lt"/>
                <a:ea typeface="+mn-ea"/>
                <a:cs typeface="+mn-cs"/>
                <a:hlinkClick r:id="rId3"/>
              </a:rPr>
              <a:t>图</a:t>
            </a:r>
            <a:r>
              <a:rPr lang="en-US" altLang="zh-CN" sz="1600" b="0" i="0" kern="1200" dirty="0" smtClean="0">
                <a:solidFill>
                  <a:schemeClr val="tx1"/>
                </a:solidFill>
                <a:effectLst/>
                <a:latin typeface="+mn-lt"/>
                <a:ea typeface="+mn-ea"/>
                <a:cs typeface="+mn-cs"/>
                <a:hlinkClick r:id="rId3"/>
              </a:rPr>
              <a:t>1</a:t>
            </a:r>
            <a:r>
              <a:rPr lang="zh-CN" altLang="en-US" sz="1600" b="0" i="0" kern="1200" dirty="0" smtClean="0">
                <a:solidFill>
                  <a:schemeClr val="tx1"/>
                </a:solidFill>
                <a:effectLst/>
                <a:latin typeface="+mn-lt"/>
                <a:ea typeface="+mn-ea"/>
                <a:cs typeface="+mn-cs"/>
              </a:rPr>
              <a:t>所示，目前含有的工具链包括：工程管理工具、编译工具、流程编排工具、离线模型工具、比对工具、日志管理工具、自定义算子工具、性能分析工具、设备管理工具、开发工具包（</a:t>
            </a:r>
            <a:r>
              <a:rPr lang="en-US" altLang="zh-CN" sz="1600" b="0" i="0" kern="1200" dirty="0" smtClean="0">
                <a:solidFill>
                  <a:schemeClr val="tx1"/>
                </a:solidFill>
                <a:effectLst/>
                <a:latin typeface="+mn-lt"/>
                <a:ea typeface="+mn-ea"/>
                <a:cs typeface="+mn-cs"/>
              </a:rPr>
              <a:t>Ascend Development Kit</a:t>
            </a:r>
            <a:r>
              <a:rPr lang="zh-CN" altLang="en-US" sz="1600" b="0" i="0" kern="1200" dirty="0" smtClean="0">
                <a:solidFill>
                  <a:schemeClr val="tx1"/>
                </a:solidFill>
                <a:effectLst/>
                <a:latin typeface="+mn-lt"/>
                <a:ea typeface="+mn-ea"/>
                <a:cs typeface="+mn-cs"/>
              </a:rPr>
              <a:t>，</a:t>
            </a:r>
            <a:r>
              <a:rPr lang="en-US" altLang="zh-CN" sz="1600" b="0" i="0" kern="1200" dirty="0" smtClean="0">
                <a:solidFill>
                  <a:schemeClr val="tx1"/>
                </a:solidFill>
                <a:effectLst/>
                <a:latin typeface="+mn-lt"/>
                <a:ea typeface="+mn-ea"/>
                <a:cs typeface="+mn-cs"/>
              </a:rPr>
              <a:t>ADK</a:t>
            </a:r>
            <a:r>
              <a:rPr lang="zh-CN" altLang="en-US" sz="1600" b="0" i="0" kern="1200" dirty="0" smtClean="0">
                <a:solidFill>
                  <a:schemeClr val="tx1"/>
                </a:solidFill>
                <a:effectLst/>
                <a:latin typeface="+mn-lt"/>
                <a:ea typeface="+mn-ea"/>
                <a:cs typeface="+mn-cs"/>
              </a:rPr>
              <a:t>）等多种工具。</a:t>
            </a:r>
          </a:p>
          <a:p>
            <a:r>
              <a:rPr lang="zh-CN" altLang="en-US" sz="1600" b="1" i="0" kern="1200" dirty="0" smtClean="0">
                <a:solidFill>
                  <a:schemeClr val="tx1"/>
                </a:solidFill>
                <a:effectLst/>
                <a:latin typeface="+mn-lt"/>
                <a:ea typeface="+mn-ea"/>
                <a:cs typeface="+mn-cs"/>
              </a:rPr>
              <a:t>图</a:t>
            </a:r>
            <a:r>
              <a:rPr lang="en-US" altLang="zh-CN" sz="1600" b="1" i="0" kern="1200" dirty="0" smtClean="0">
                <a:solidFill>
                  <a:schemeClr val="tx1"/>
                </a:solidFill>
                <a:effectLst/>
                <a:latin typeface="+mn-lt"/>
                <a:ea typeface="+mn-ea"/>
                <a:cs typeface="+mn-cs"/>
              </a:rPr>
              <a:t>1 </a:t>
            </a:r>
            <a:r>
              <a:rPr lang="zh-CN" altLang="en-US" sz="1600" b="0" i="0" kern="1200" dirty="0" smtClean="0">
                <a:solidFill>
                  <a:schemeClr val="tx1"/>
                </a:solidFill>
                <a:effectLst/>
                <a:latin typeface="+mn-lt"/>
                <a:ea typeface="+mn-ea"/>
                <a:cs typeface="+mn-cs"/>
              </a:rPr>
              <a:t>工具链功能架构</a:t>
            </a:r>
            <a:br>
              <a:rPr lang="zh-CN" altLang="en-US" sz="1600" b="0" i="0" kern="1200" dirty="0" smtClean="0">
                <a:solidFill>
                  <a:schemeClr val="tx1"/>
                </a:solidFill>
                <a:effectLst/>
                <a:latin typeface="+mn-lt"/>
                <a:ea typeface="+mn-ea"/>
                <a:cs typeface="+mn-cs"/>
              </a:rPr>
            </a:br>
            <a:endParaRPr lang="zh-CN" altLang="en-US" sz="1600" b="0" i="0" kern="1200" dirty="0" smtClean="0">
              <a:solidFill>
                <a:schemeClr val="tx1"/>
              </a:solidFill>
              <a:effectLst/>
              <a:latin typeface="+mn-lt"/>
              <a:ea typeface="+mn-ea"/>
              <a:cs typeface="+mn-cs"/>
            </a:endParaRPr>
          </a:p>
          <a:p>
            <a:r>
              <a:rPr lang="zh-CN" altLang="en-US" sz="1600" b="1" i="0" kern="1200" dirty="0" smtClean="0">
                <a:solidFill>
                  <a:schemeClr val="tx1"/>
                </a:solidFill>
                <a:effectLst/>
                <a:latin typeface="+mn-lt"/>
                <a:ea typeface="+mn-ea"/>
                <a:cs typeface="+mn-cs"/>
              </a:rPr>
              <a:t>工具功能</a:t>
            </a:r>
          </a:p>
          <a:p>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工具中的主要几个功能特性如下：</a:t>
            </a:r>
          </a:p>
          <a:p>
            <a:r>
              <a:rPr lang="zh-CN" altLang="en-US" sz="1600" b="0" i="0" kern="1200" dirty="0" smtClean="0">
                <a:solidFill>
                  <a:schemeClr val="tx1"/>
                </a:solidFill>
                <a:effectLst/>
                <a:latin typeface="+mn-lt"/>
                <a:ea typeface="+mn-ea"/>
                <a:cs typeface="+mn-cs"/>
              </a:rPr>
              <a:t>工程管理：为开发人员提供创建工程、打开工程、关闭工程、删除工程、新增工程文件目录和属性设置等功能。请参见</a:t>
            </a:r>
            <a:r>
              <a:rPr lang="zh-CN" altLang="en-US" sz="1600" b="0" i="0" kern="1200" dirty="0" smtClean="0">
                <a:solidFill>
                  <a:schemeClr val="tx1"/>
                </a:solidFill>
                <a:effectLst/>
                <a:latin typeface="+mn-lt"/>
                <a:ea typeface="+mn-ea"/>
                <a:cs typeface="+mn-cs"/>
                <a:hlinkClick r:id="rId4"/>
              </a:rPr>
              <a:t>工程管理</a:t>
            </a:r>
            <a:r>
              <a:rPr lang="zh-CN" altLang="en-US" sz="1600" b="0" i="0" kern="1200" dirty="0" smtClean="0">
                <a:solidFill>
                  <a:schemeClr val="tx1"/>
                </a:solidFill>
                <a:effectLst/>
                <a:latin typeface="+mn-lt"/>
                <a:ea typeface="+mn-ea"/>
                <a:cs typeface="+mn-cs"/>
              </a:rPr>
              <a:t>。</a:t>
            </a:r>
          </a:p>
          <a:p>
            <a:r>
              <a:rPr lang="zh-CN" altLang="en-US" sz="1600" b="0" i="0" kern="1200" dirty="0" smtClean="0">
                <a:solidFill>
                  <a:schemeClr val="tx1"/>
                </a:solidFill>
                <a:effectLst/>
                <a:latin typeface="+mn-lt"/>
                <a:ea typeface="+mn-ea"/>
                <a:cs typeface="+mn-cs"/>
              </a:rPr>
              <a:t>编译：提供算子、计算引擎和应用的开发编译，满足开发者不同场景的开发编译诉求。请参见</a:t>
            </a:r>
            <a:r>
              <a:rPr lang="zh-CN" altLang="en-US" sz="1600" b="0" i="0" kern="1200" dirty="0" smtClean="0">
                <a:solidFill>
                  <a:schemeClr val="tx1"/>
                </a:solidFill>
                <a:effectLst/>
                <a:latin typeface="+mn-lt"/>
                <a:ea typeface="+mn-ea"/>
                <a:cs typeface="+mn-cs"/>
                <a:hlinkClick r:id="rId5"/>
              </a:rPr>
              <a:t>算子编译</a:t>
            </a:r>
            <a:r>
              <a:rPr lang="zh-CN" altLang="en-US" sz="1600" b="0" i="0" kern="1200" dirty="0" smtClean="0">
                <a:solidFill>
                  <a:schemeClr val="tx1"/>
                </a:solidFill>
                <a:effectLst/>
                <a:latin typeface="+mn-lt"/>
                <a:ea typeface="+mn-ea"/>
                <a:cs typeface="+mn-cs"/>
              </a:rPr>
              <a:t>。</a:t>
            </a:r>
          </a:p>
          <a:p>
            <a:r>
              <a:rPr lang="zh-CN" altLang="en-US" sz="1600" b="0" i="0" kern="1200" dirty="0" smtClean="0">
                <a:solidFill>
                  <a:schemeClr val="tx1"/>
                </a:solidFill>
                <a:effectLst/>
                <a:latin typeface="+mn-lt"/>
                <a:ea typeface="+mn-ea"/>
                <a:cs typeface="+mn-cs"/>
              </a:rPr>
              <a:t>运行：支持开发的算子、计算引擎在真实昇腾</a:t>
            </a:r>
            <a:r>
              <a:rPr lang="en-US" altLang="zh-CN" sz="1600" b="0" i="0" kern="1200" dirty="0" smtClean="0">
                <a:solidFill>
                  <a:schemeClr val="tx1"/>
                </a:solidFill>
                <a:effectLst/>
                <a:latin typeface="+mn-lt"/>
                <a:ea typeface="+mn-ea"/>
                <a:cs typeface="+mn-cs"/>
              </a:rPr>
              <a:t>AI</a:t>
            </a:r>
            <a:r>
              <a:rPr lang="zh-CN" altLang="en-US" sz="1600" b="0" i="0" kern="1200" dirty="0" smtClean="0">
                <a:solidFill>
                  <a:schemeClr val="tx1"/>
                </a:solidFill>
                <a:effectLst/>
                <a:latin typeface="+mn-lt"/>
                <a:ea typeface="+mn-ea"/>
                <a:cs typeface="+mn-cs"/>
              </a:rPr>
              <a:t>处理器中运行，并可以统一在界面中查看运行相关的信息。请参见</a:t>
            </a:r>
            <a:r>
              <a:rPr lang="zh-CN" altLang="en-US" sz="1600" b="0" i="0" kern="1200" dirty="0" smtClean="0">
                <a:solidFill>
                  <a:schemeClr val="tx1"/>
                </a:solidFill>
                <a:effectLst/>
                <a:latin typeface="+mn-lt"/>
                <a:ea typeface="+mn-ea"/>
                <a:cs typeface="+mn-cs"/>
                <a:hlinkClick r:id="rId6"/>
              </a:rPr>
              <a:t>算子部署</a:t>
            </a:r>
            <a:r>
              <a:rPr lang="zh-CN" altLang="en-US" sz="1600" b="0" i="0" kern="1200" dirty="0" smtClean="0">
                <a:solidFill>
                  <a:schemeClr val="tx1"/>
                </a:solidFill>
                <a:effectLst/>
                <a:latin typeface="+mn-lt"/>
                <a:ea typeface="+mn-ea"/>
                <a:cs typeface="+mn-cs"/>
              </a:rPr>
              <a:t>。</a:t>
            </a:r>
          </a:p>
          <a:p>
            <a:r>
              <a:rPr lang="zh-CN" altLang="en-US" sz="1600" b="0" i="0" kern="1200" dirty="0" smtClean="0">
                <a:solidFill>
                  <a:schemeClr val="tx1"/>
                </a:solidFill>
                <a:effectLst/>
                <a:latin typeface="+mn-lt"/>
                <a:ea typeface="+mn-ea"/>
                <a:cs typeface="+mn-cs"/>
              </a:rPr>
              <a:t>应用开发：针对业务流程开发人员，</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工具提供基于</a:t>
            </a:r>
            <a:r>
              <a:rPr lang="en-US" altLang="zh-CN" sz="1600" b="0" i="0" kern="1200" dirty="0" smtClean="0">
                <a:solidFill>
                  <a:schemeClr val="tx1"/>
                </a:solidFill>
                <a:effectLst/>
                <a:latin typeface="+mn-lt"/>
                <a:ea typeface="+mn-ea"/>
                <a:cs typeface="+mn-cs"/>
              </a:rPr>
              <a:t>ACL</a:t>
            </a:r>
            <a:r>
              <a:rPr lang="zh-CN" altLang="en-US" sz="1600" b="0" i="0" kern="1200" dirty="0" smtClean="0">
                <a:solidFill>
                  <a:schemeClr val="tx1"/>
                </a:solidFill>
                <a:effectLst/>
                <a:latin typeface="+mn-lt"/>
                <a:ea typeface="+mn-ea"/>
                <a:cs typeface="+mn-cs"/>
              </a:rPr>
              <a:t>（</a:t>
            </a:r>
            <a:r>
              <a:rPr lang="en-US" altLang="zh-CN" sz="1600" b="0" i="0" kern="1200" dirty="0" smtClean="0">
                <a:solidFill>
                  <a:schemeClr val="tx1"/>
                </a:solidFill>
                <a:effectLst/>
                <a:latin typeface="+mn-lt"/>
                <a:ea typeface="+mn-ea"/>
                <a:cs typeface="+mn-cs"/>
              </a:rPr>
              <a:t>Ascend Computing Language</a:t>
            </a:r>
            <a:r>
              <a:rPr lang="zh-CN" altLang="en-US" sz="1600" b="0" i="0" kern="1200" dirty="0" smtClean="0">
                <a:solidFill>
                  <a:schemeClr val="tx1"/>
                </a:solidFill>
                <a:effectLst/>
                <a:latin typeface="+mn-lt"/>
                <a:ea typeface="+mn-ea"/>
                <a:cs typeface="+mn-cs"/>
              </a:rPr>
              <a:t>）的应用开发编程方式，编程后的编译、运行、结果显示等一站式服务让流程开发更加智能化，可以让开发者快速上手。请参见</a:t>
            </a:r>
            <a:r>
              <a:rPr lang="zh-CN" altLang="en-US" sz="1600" b="0" i="0" kern="1200" dirty="0" smtClean="0">
                <a:solidFill>
                  <a:schemeClr val="tx1"/>
                </a:solidFill>
                <a:effectLst/>
                <a:latin typeface="+mn-lt"/>
                <a:ea typeface="+mn-ea"/>
                <a:cs typeface="+mn-cs"/>
                <a:hlinkClick r:id="rId7"/>
              </a:rPr>
              <a:t>应用开发</a:t>
            </a:r>
            <a:r>
              <a:rPr lang="zh-CN" altLang="en-US" sz="1600" b="0" i="0" kern="1200" dirty="0" smtClean="0">
                <a:solidFill>
                  <a:schemeClr val="tx1"/>
                </a:solidFill>
                <a:effectLst/>
                <a:latin typeface="+mn-lt"/>
                <a:ea typeface="+mn-ea"/>
                <a:cs typeface="+mn-cs"/>
              </a:rPr>
              <a:t>。</a:t>
            </a:r>
          </a:p>
          <a:p>
            <a:r>
              <a:rPr lang="zh-CN" altLang="en-US" sz="1600" b="0" i="0" kern="1200" dirty="0" smtClean="0">
                <a:solidFill>
                  <a:schemeClr val="tx1"/>
                </a:solidFill>
                <a:effectLst/>
                <a:latin typeface="+mn-lt"/>
                <a:ea typeface="+mn-ea"/>
                <a:cs typeface="+mn-cs"/>
              </a:rPr>
              <a:t>自定义算子开发：提供了基于</a:t>
            </a:r>
            <a:r>
              <a:rPr lang="en-US" altLang="zh-CN" sz="1600" b="0" i="0" kern="1200" dirty="0" smtClean="0">
                <a:solidFill>
                  <a:schemeClr val="tx1"/>
                </a:solidFill>
                <a:effectLst/>
                <a:latin typeface="+mn-lt"/>
                <a:ea typeface="+mn-ea"/>
                <a:cs typeface="+mn-cs"/>
              </a:rPr>
              <a:t>TBE</a:t>
            </a:r>
            <a:r>
              <a:rPr lang="zh-CN" altLang="en-US" sz="1600" b="0" i="0" kern="1200" dirty="0" smtClean="0">
                <a:solidFill>
                  <a:schemeClr val="tx1"/>
                </a:solidFill>
                <a:effectLst/>
                <a:latin typeface="+mn-lt"/>
                <a:ea typeface="+mn-ea"/>
                <a:cs typeface="+mn-cs"/>
              </a:rPr>
              <a:t>的算子编程开发的集成开发环境，让不同平台下的算子移植更加便捷，适配昇腾</a:t>
            </a:r>
            <a:r>
              <a:rPr lang="en-US" altLang="zh-CN" sz="1600" b="0" i="0" kern="1200" dirty="0" smtClean="0">
                <a:solidFill>
                  <a:schemeClr val="tx1"/>
                </a:solidFill>
                <a:effectLst/>
                <a:latin typeface="+mn-lt"/>
                <a:ea typeface="+mn-ea"/>
                <a:cs typeface="+mn-cs"/>
              </a:rPr>
              <a:t>AI</a:t>
            </a:r>
            <a:r>
              <a:rPr lang="zh-CN" altLang="en-US" sz="1600" b="0" i="0" kern="1200" dirty="0" smtClean="0">
                <a:solidFill>
                  <a:schemeClr val="tx1"/>
                </a:solidFill>
                <a:effectLst/>
                <a:latin typeface="+mn-lt"/>
                <a:ea typeface="+mn-ea"/>
                <a:cs typeface="+mn-cs"/>
              </a:rPr>
              <a:t>处理器的速度更快。请参见</a:t>
            </a:r>
            <a:r>
              <a:rPr lang="zh-CN" altLang="en-US" sz="1600" b="0" i="0" kern="1200" dirty="0" smtClean="0">
                <a:solidFill>
                  <a:schemeClr val="tx1"/>
                </a:solidFill>
                <a:effectLst/>
                <a:latin typeface="+mn-lt"/>
                <a:ea typeface="+mn-ea"/>
                <a:cs typeface="+mn-cs"/>
                <a:hlinkClick r:id="rId8"/>
              </a:rPr>
              <a:t>自定义算子开发</a:t>
            </a:r>
            <a:r>
              <a:rPr lang="zh-CN" altLang="en-US" sz="1600" b="0" i="0" kern="1200" dirty="0" smtClean="0">
                <a:solidFill>
                  <a:schemeClr val="tx1"/>
                </a:solidFill>
                <a:effectLst/>
                <a:latin typeface="+mn-lt"/>
                <a:ea typeface="+mn-ea"/>
                <a:cs typeface="+mn-cs"/>
              </a:rPr>
              <a:t>。</a:t>
            </a:r>
          </a:p>
          <a:p>
            <a:r>
              <a:rPr lang="zh-CN" altLang="en-US" sz="1600" b="0" i="0" kern="1200" dirty="0" smtClean="0">
                <a:solidFill>
                  <a:schemeClr val="tx1"/>
                </a:solidFill>
                <a:effectLst/>
                <a:latin typeface="+mn-lt"/>
                <a:ea typeface="+mn-ea"/>
                <a:cs typeface="+mn-cs"/>
              </a:rPr>
              <a:t>离线模型转换：训练好的第三方网络模型可以直接通过离线模型工具导入并转换成离线模型，并可一键式自动生成模型接口，方便开发者基于模型接口进行编程，同时也提供了离线模型的可视化功能。请参见</a:t>
            </a:r>
            <a:r>
              <a:rPr lang="zh-CN" altLang="en-US" sz="1600" b="0" i="0" kern="1200" dirty="0" smtClean="0">
                <a:solidFill>
                  <a:schemeClr val="tx1"/>
                </a:solidFill>
                <a:effectLst/>
                <a:latin typeface="+mn-lt"/>
                <a:ea typeface="+mn-ea"/>
                <a:cs typeface="+mn-cs"/>
                <a:hlinkClick r:id="rId9"/>
              </a:rPr>
              <a:t>模型转换</a:t>
            </a:r>
            <a:r>
              <a:rPr lang="zh-CN" altLang="en-US" sz="1600" b="0" i="0" kern="1200" dirty="0" smtClean="0">
                <a:solidFill>
                  <a:schemeClr val="tx1"/>
                </a:solidFill>
                <a:effectLst/>
                <a:latin typeface="+mn-lt"/>
                <a:ea typeface="+mn-ea"/>
                <a:cs typeface="+mn-cs"/>
              </a:rPr>
              <a:t>。</a:t>
            </a:r>
          </a:p>
          <a:p>
            <a:r>
              <a:rPr lang="zh-CN" altLang="en-US" sz="1600" b="0" i="0" kern="1200" dirty="0" smtClean="0">
                <a:solidFill>
                  <a:schemeClr val="tx1"/>
                </a:solidFill>
                <a:effectLst/>
                <a:latin typeface="+mn-lt"/>
                <a:ea typeface="+mn-ea"/>
                <a:cs typeface="+mn-cs"/>
              </a:rPr>
              <a:t>日志管理：</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为昇腾</a:t>
            </a:r>
            <a:r>
              <a:rPr lang="en-US" altLang="zh-CN" sz="1600" b="0" i="0" kern="1200" dirty="0" smtClean="0">
                <a:solidFill>
                  <a:schemeClr val="tx1"/>
                </a:solidFill>
                <a:effectLst/>
                <a:latin typeface="+mn-lt"/>
                <a:ea typeface="+mn-ea"/>
                <a:cs typeface="+mn-cs"/>
              </a:rPr>
              <a:t>AI</a:t>
            </a:r>
            <a:r>
              <a:rPr lang="zh-CN" altLang="en-US" sz="1600" b="0" i="0" kern="1200" dirty="0" smtClean="0">
                <a:solidFill>
                  <a:schemeClr val="tx1"/>
                </a:solidFill>
                <a:effectLst/>
                <a:latin typeface="+mn-lt"/>
                <a:ea typeface="+mn-ea"/>
                <a:cs typeface="+mn-cs"/>
              </a:rPr>
              <a:t>处理器提供了覆盖全系统的日志收集与日志分析解决方案，提升运行时算法问题的定位效率。提供了统一形式的跨平台日志可视化分析能力及运行时诊断能力，提升日志分析系统的易用性。</a:t>
            </a:r>
          </a:p>
          <a:p>
            <a:r>
              <a:rPr lang="zh-CN" altLang="en-US" sz="1600" b="0" i="0" kern="1200" dirty="0" smtClean="0">
                <a:solidFill>
                  <a:schemeClr val="tx1"/>
                </a:solidFill>
                <a:effectLst/>
                <a:latin typeface="+mn-lt"/>
                <a:ea typeface="+mn-ea"/>
                <a:cs typeface="+mn-cs"/>
              </a:rPr>
              <a:t>性能分析：</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以图形界面和命令行两种用户界面呈现方式，实现针对主机和设备上多节点、多模块异构体系的高效、易用、可灵活扩展的系统化性能分析，以及针对昇腾</a:t>
            </a:r>
            <a:r>
              <a:rPr lang="en-US" altLang="zh-CN" sz="1600" b="0" i="0" kern="1200" dirty="0" smtClean="0">
                <a:solidFill>
                  <a:schemeClr val="tx1"/>
                </a:solidFill>
                <a:effectLst/>
                <a:latin typeface="+mn-lt"/>
                <a:ea typeface="+mn-ea"/>
                <a:cs typeface="+mn-cs"/>
              </a:rPr>
              <a:t>AI</a:t>
            </a:r>
            <a:r>
              <a:rPr lang="zh-CN" altLang="en-US" sz="1600" b="0" i="0" kern="1200" dirty="0" smtClean="0">
                <a:solidFill>
                  <a:schemeClr val="tx1"/>
                </a:solidFill>
                <a:effectLst/>
                <a:latin typeface="+mn-lt"/>
                <a:ea typeface="+mn-ea"/>
                <a:cs typeface="+mn-cs"/>
              </a:rPr>
              <a:t>处理器的性能和功耗的同步分析，满足算法优化对系统性能分析的需求。请参见</a:t>
            </a:r>
            <a:r>
              <a:rPr lang="en-US" altLang="zh-CN" sz="1600" b="0" i="0" kern="1200" dirty="0" smtClean="0">
                <a:solidFill>
                  <a:schemeClr val="tx1"/>
                </a:solidFill>
                <a:effectLst/>
                <a:latin typeface="+mn-lt"/>
                <a:ea typeface="+mn-ea"/>
                <a:cs typeface="+mn-cs"/>
                <a:hlinkClick r:id="rId10"/>
              </a:rPr>
              <a:t>Profiling</a:t>
            </a:r>
            <a:r>
              <a:rPr lang="zh-CN" altLang="en-US" sz="1600" b="0" i="0" kern="1200" dirty="0" smtClean="0">
                <a:solidFill>
                  <a:schemeClr val="tx1"/>
                </a:solidFill>
                <a:effectLst/>
                <a:latin typeface="+mn-lt"/>
                <a:ea typeface="+mn-ea"/>
                <a:cs typeface="+mn-cs"/>
                <a:hlinkClick r:id="rId10"/>
              </a:rPr>
              <a:t>工具</a:t>
            </a:r>
            <a:r>
              <a:rPr lang="zh-CN" altLang="en-US" sz="1600" b="0" i="0" kern="1200" dirty="0" smtClean="0">
                <a:solidFill>
                  <a:schemeClr val="tx1"/>
                </a:solidFill>
                <a:effectLst/>
                <a:latin typeface="+mn-lt"/>
                <a:ea typeface="+mn-ea"/>
                <a:cs typeface="+mn-cs"/>
              </a:rPr>
              <a:t>。</a:t>
            </a:r>
          </a:p>
          <a:p>
            <a:r>
              <a:rPr lang="zh-CN" altLang="en-US" sz="1600" b="0" i="0" kern="1200" dirty="0" smtClean="0">
                <a:solidFill>
                  <a:schemeClr val="tx1"/>
                </a:solidFill>
                <a:effectLst/>
                <a:latin typeface="+mn-lt"/>
                <a:ea typeface="+mn-ea"/>
                <a:cs typeface="+mn-cs"/>
              </a:rPr>
              <a:t>设备管理：</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提供设备管理工具，实现对连接到主机上的设备的管理功能。请参见</a:t>
            </a:r>
            <a:r>
              <a:rPr lang="zh-CN" altLang="en-US" sz="1600" b="0" i="0" kern="1200" dirty="0" smtClean="0">
                <a:solidFill>
                  <a:schemeClr val="tx1"/>
                </a:solidFill>
                <a:effectLst/>
                <a:latin typeface="+mn-lt"/>
                <a:ea typeface="+mn-ea"/>
                <a:cs typeface="+mn-cs"/>
                <a:hlinkClick r:id="rId11"/>
              </a:rPr>
              <a:t>设备管理</a:t>
            </a:r>
            <a:r>
              <a:rPr lang="zh-CN" altLang="en-US" sz="1600" b="0" i="0" kern="1200" dirty="0" smtClean="0">
                <a:solidFill>
                  <a:schemeClr val="tx1"/>
                </a:solidFill>
                <a:effectLst/>
                <a:latin typeface="+mn-lt"/>
                <a:ea typeface="+mn-ea"/>
                <a:cs typeface="+mn-cs"/>
              </a:rPr>
              <a:t>。</a:t>
            </a:r>
          </a:p>
          <a:p>
            <a:r>
              <a:rPr lang="zh-CN" altLang="en-US" sz="1600" b="0" i="0" kern="1200" dirty="0" smtClean="0">
                <a:solidFill>
                  <a:schemeClr val="tx1"/>
                </a:solidFill>
                <a:effectLst/>
                <a:latin typeface="+mn-lt"/>
                <a:ea typeface="+mn-ea"/>
                <a:cs typeface="+mn-cs"/>
              </a:rPr>
              <a:t>精度比对：可以用来比对通过</a:t>
            </a:r>
            <a:r>
              <a:rPr lang="en-US" altLang="zh-CN" sz="1600" b="0" i="0" kern="1200" dirty="0" smtClean="0">
                <a:solidFill>
                  <a:schemeClr val="tx1"/>
                </a:solidFill>
                <a:effectLst/>
                <a:latin typeface="+mn-lt"/>
                <a:ea typeface="+mn-ea"/>
                <a:cs typeface="+mn-cs"/>
              </a:rPr>
              <a:t>TBE</a:t>
            </a:r>
            <a:r>
              <a:rPr lang="zh-CN" altLang="en-US" sz="1600" b="0" i="0" kern="1200" dirty="0" smtClean="0">
                <a:solidFill>
                  <a:schemeClr val="tx1"/>
                </a:solidFill>
                <a:effectLst/>
                <a:latin typeface="+mn-lt"/>
                <a:ea typeface="+mn-ea"/>
                <a:cs typeface="+mn-cs"/>
              </a:rPr>
              <a:t>自定义的算子运行结果与</a:t>
            </a:r>
            <a:r>
              <a:rPr lang="en-US" altLang="zh-CN" sz="1600" b="0" i="0" kern="1200" dirty="0" err="1" smtClean="0">
                <a:solidFill>
                  <a:schemeClr val="tx1"/>
                </a:solidFill>
                <a:effectLst/>
                <a:latin typeface="+mn-lt"/>
                <a:ea typeface="+mn-ea"/>
                <a:cs typeface="+mn-cs"/>
              </a:rPr>
              <a:t>Caffe</a:t>
            </a:r>
            <a:r>
              <a:rPr lang="zh-CN" altLang="en-US" sz="1600" b="0" i="0" kern="1200" dirty="0" smtClean="0">
                <a:solidFill>
                  <a:schemeClr val="tx1"/>
                </a:solidFill>
                <a:effectLst/>
                <a:latin typeface="+mn-lt"/>
                <a:ea typeface="+mn-ea"/>
                <a:cs typeface="+mn-cs"/>
              </a:rPr>
              <a:t>标准算子的运行结果，以便用来确认神经网络运算误差发生的原因。请参见</a:t>
            </a:r>
            <a:r>
              <a:rPr lang="zh-CN" altLang="en-US" sz="1600" b="0" i="0" kern="1200" dirty="0" smtClean="0">
                <a:solidFill>
                  <a:schemeClr val="tx1"/>
                </a:solidFill>
                <a:effectLst/>
                <a:latin typeface="+mn-lt"/>
                <a:ea typeface="+mn-ea"/>
                <a:cs typeface="+mn-cs"/>
                <a:hlinkClick r:id="rId12"/>
              </a:rPr>
              <a:t>精度比对</a:t>
            </a:r>
            <a:r>
              <a:rPr lang="zh-CN" altLang="en-US" sz="1600" b="0" i="0" kern="1200" dirty="0" smtClean="0">
                <a:solidFill>
                  <a:schemeClr val="tx1"/>
                </a:solidFill>
                <a:effectLst/>
                <a:latin typeface="+mn-lt"/>
                <a:ea typeface="+mn-ea"/>
                <a:cs typeface="+mn-cs"/>
              </a:rPr>
              <a:t>。</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提供</a:t>
            </a:r>
            <a:r>
              <a:rPr lang="en-US" altLang="zh-CN" sz="1600" b="0" i="0" kern="1200" dirty="0" smtClean="0">
                <a:solidFill>
                  <a:schemeClr val="tx1"/>
                </a:solidFill>
                <a:effectLst/>
                <a:latin typeface="+mn-lt"/>
                <a:ea typeface="+mn-ea"/>
                <a:cs typeface="+mn-cs"/>
              </a:rPr>
              <a:t>Lower Bound</a:t>
            </a:r>
            <a:r>
              <a:rPr lang="zh-CN" altLang="en-US" sz="1600" b="0" i="0" kern="1200" dirty="0" smtClean="0">
                <a:solidFill>
                  <a:schemeClr val="tx1"/>
                </a:solidFill>
                <a:effectLst/>
                <a:latin typeface="+mn-lt"/>
                <a:ea typeface="+mn-ea"/>
                <a:cs typeface="+mn-cs"/>
              </a:rPr>
              <a:t>和</a:t>
            </a:r>
            <a:r>
              <a:rPr lang="en-US" altLang="zh-CN" sz="1600" b="0" i="0" kern="1200" dirty="0" smtClean="0">
                <a:solidFill>
                  <a:schemeClr val="tx1"/>
                </a:solidFill>
                <a:effectLst/>
                <a:latin typeface="+mn-lt"/>
                <a:ea typeface="+mn-ea"/>
                <a:cs typeface="+mn-cs"/>
              </a:rPr>
              <a:t>Vector</a:t>
            </a:r>
            <a:r>
              <a:rPr lang="zh-CN" altLang="en-US" sz="1600" b="0" i="0" kern="1200" dirty="0" smtClean="0">
                <a:solidFill>
                  <a:schemeClr val="tx1"/>
                </a:solidFill>
                <a:effectLst/>
                <a:latin typeface="+mn-lt"/>
                <a:ea typeface="+mn-ea"/>
                <a:cs typeface="+mn-cs"/>
              </a:rPr>
              <a:t>比对方法。其中：</a:t>
            </a:r>
          </a:p>
          <a:p>
            <a:pPr lvl="1"/>
            <a:r>
              <a:rPr lang="en-US" altLang="zh-CN" sz="1600" b="0" i="0" kern="1200" dirty="0" smtClean="0">
                <a:solidFill>
                  <a:schemeClr val="tx1"/>
                </a:solidFill>
                <a:effectLst/>
                <a:latin typeface="+mn-lt"/>
                <a:ea typeface="+mn-ea"/>
                <a:cs typeface="+mn-cs"/>
              </a:rPr>
              <a:t>Lower Bound</a:t>
            </a:r>
            <a:r>
              <a:rPr lang="zh-CN" altLang="en-US" sz="1600" b="0" i="0" kern="1200" dirty="0" smtClean="0">
                <a:solidFill>
                  <a:schemeClr val="tx1"/>
                </a:solidFill>
                <a:effectLst/>
                <a:latin typeface="+mn-lt"/>
                <a:ea typeface="+mn-ea"/>
                <a:cs typeface="+mn-cs"/>
              </a:rPr>
              <a:t>比对，华为自主研发的精度比对算法。</a:t>
            </a:r>
          </a:p>
          <a:p>
            <a:pPr lvl="1"/>
            <a:r>
              <a:rPr lang="en-US" altLang="zh-CN" sz="1600" b="0" i="0" kern="1200" dirty="0" smtClean="0">
                <a:solidFill>
                  <a:schemeClr val="tx1"/>
                </a:solidFill>
                <a:effectLst/>
                <a:latin typeface="+mn-lt"/>
                <a:ea typeface="+mn-ea"/>
                <a:cs typeface="+mn-cs"/>
              </a:rPr>
              <a:t>Vector</a:t>
            </a:r>
            <a:r>
              <a:rPr lang="zh-CN" altLang="en-US" sz="1600" b="0" i="0" kern="1200" dirty="0" smtClean="0">
                <a:solidFill>
                  <a:schemeClr val="tx1"/>
                </a:solidFill>
                <a:effectLst/>
                <a:latin typeface="+mn-lt"/>
                <a:ea typeface="+mn-ea"/>
                <a:cs typeface="+mn-cs"/>
              </a:rPr>
              <a:t>比对，包含余弦相似度、最大绝对误差、累积相对误差、欧几里得相对距离的精度比对。</a:t>
            </a:r>
          </a:p>
          <a:p>
            <a:r>
              <a:rPr lang="zh-CN" altLang="en-US" sz="1600" b="0" i="0" kern="1200" dirty="0" smtClean="0">
                <a:solidFill>
                  <a:schemeClr val="tx1"/>
                </a:solidFill>
                <a:effectLst/>
                <a:latin typeface="+mn-lt"/>
                <a:ea typeface="+mn-ea"/>
                <a:cs typeface="+mn-cs"/>
              </a:rPr>
              <a:t>开发工具包的安装与管理：为开发者提供基于昇腾</a:t>
            </a:r>
            <a:r>
              <a:rPr lang="en-US" altLang="zh-CN" sz="1600" b="0" i="0" kern="1200" dirty="0" smtClean="0">
                <a:solidFill>
                  <a:schemeClr val="tx1"/>
                </a:solidFill>
                <a:effectLst/>
                <a:latin typeface="+mn-lt"/>
                <a:ea typeface="+mn-ea"/>
                <a:cs typeface="+mn-cs"/>
              </a:rPr>
              <a:t>AI</a:t>
            </a:r>
            <a:r>
              <a:rPr lang="zh-CN" altLang="en-US" sz="1600" b="0" i="0" kern="1200" dirty="0" smtClean="0">
                <a:solidFill>
                  <a:schemeClr val="tx1"/>
                </a:solidFill>
                <a:effectLst/>
                <a:latin typeface="+mn-lt"/>
                <a:ea typeface="+mn-ea"/>
                <a:cs typeface="+mn-cs"/>
              </a:rPr>
              <a:t>处理器的相关算法开发工具包</a:t>
            </a:r>
            <a:r>
              <a:rPr lang="en-US" altLang="zh-CN" sz="1600" b="0" i="0" kern="1200" dirty="0" smtClean="0">
                <a:solidFill>
                  <a:schemeClr val="tx1"/>
                </a:solidFill>
                <a:effectLst/>
                <a:latin typeface="+mn-lt"/>
                <a:ea typeface="+mn-ea"/>
                <a:cs typeface="+mn-cs"/>
              </a:rPr>
              <a:t>ADK</a:t>
            </a:r>
            <a:r>
              <a:rPr lang="zh-CN" altLang="en-US" sz="1600" b="0" i="0" kern="1200" dirty="0" smtClean="0">
                <a:solidFill>
                  <a:schemeClr val="tx1"/>
                </a:solidFill>
                <a:effectLst/>
                <a:latin typeface="+mn-lt"/>
                <a:ea typeface="+mn-ea"/>
                <a:cs typeface="+mn-cs"/>
              </a:rPr>
              <a:t>（</a:t>
            </a:r>
            <a:r>
              <a:rPr lang="en-US" altLang="zh-CN" sz="1600" b="0" i="0" kern="1200" dirty="0" smtClean="0">
                <a:solidFill>
                  <a:schemeClr val="tx1"/>
                </a:solidFill>
                <a:effectLst/>
                <a:latin typeface="+mn-lt"/>
                <a:ea typeface="+mn-ea"/>
                <a:cs typeface="+mn-cs"/>
              </a:rPr>
              <a:t>Ascend Development Kit</a:t>
            </a:r>
            <a:r>
              <a:rPr lang="zh-CN" altLang="en-US" sz="1600" b="0" i="0" kern="1200" dirty="0" smtClean="0">
                <a:solidFill>
                  <a:schemeClr val="tx1"/>
                </a:solidFill>
                <a:effectLst/>
                <a:latin typeface="+mn-lt"/>
                <a:ea typeface="+mn-ea"/>
                <a:cs typeface="+mn-cs"/>
              </a:rPr>
              <a:t>）</a:t>
            </a:r>
            <a:r>
              <a:rPr lang="en-US" altLang="zh-CN" sz="1600" b="0" i="0" kern="1200" dirty="0" smtClean="0">
                <a:solidFill>
                  <a:schemeClr val="tx1"/>
                </a:solidFill>
                <a:effectLst/>
                <a:latin typeface="+mn-lt"/>
                <a:ea typeface="+mn-ea"/>
                <a:cs typeface="+mn-cs"/>
              </a:rPr>
              <a:t>,</a:t>
            </a:r>
            <a:r>
              <a:rPr lang="zh-CN" altLang="en-US" sz="1600" b="0" i="0" kern="1200" dirty="0" smtClean="0">
                <a:solidFill>
                  <a:schemeClr val="tx1"/>
                </a:solidFill>
                <a:effectLst/>
                <a:latin typeface="+mn-lt"/>
                <a:ea typeface="+mn-ea"/>
                <a:cs typeface="+mn-cs"/>
              </a:rPr>
              <a:t>旨在帮助开发者进行快速、高效的人工智能算法开发。开发者可以将设备开发工具包安装到</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上，使用</a:t>
            </a:r>
            <a:r>
              <a:rPr lang="en-US" altLang="zh-CN" sz="1600" b="0" i="0" kern="1200" dirty="0" smtClean="0">
                <a:solidFill>
                  <a:schemeClr val="tx1"/>
                </a:solidFill>
                <a:effectLst/>
                <a:latin typeface="+mn-lt"/>
                <a:ea typeface="+mn-ea"/>
                <a:cs typeface="+mn-cs"/>
              </a:rPr>
              <a:t>Mind Studio</a:t>
            </a:r>
            <a:r>
              <a:rPr lang="zh-CN" altLang="en-US" sz="1600" b="0" i="0" kern="1200" dirty="0" smtClean="0">
                <a:solidFill>
                  <a:schemeClr val="tx1"/>
                </a:solidFill>
                <a:effectLst/>
                <a:latin typeface="+mn-lt"/>
                <a:ea typeface="+mn-ea"/>
                <a:cs typeface="+mn-cs"/>
              </a:rPr>
              <a:t>开发工具进行算法快速开发，也可以使用独立的设备开发工具包进行算法开发。设备开发工具包内部包含了基于昇腾</a:t>
            </a:r>
            <a:r>
              <a:rPr lang="en-US" altLang="zh-CN" sz="1600" b="0" i="0" kern="1200" dirty="0" smtClean="0">
                <a:solidFill>
                  <a:schemeClr val="tx1"/>
                </a:solidFill>
                <a:effectLst/>
                <a:latin typeface="+mn-lt"/>
                <a:ea typeface="+mn-ea"/>
                <a:cs typeface="+mn-cs"/>
              </a:rPr>
              <a:t>AI</a:t>
            </a:r>
            <a:r>
              <a:rPr lang="zh-CN" altLang="en-US" sz="1600" b="0" i="0" kern="1200" dirty="0" smtClean="0">
                <a:solidFill>
                  <a:schemeClr val="tx1"/>
                </a:solidFill>
                <a:effectLst/>
                <a:latin typeface="+mn-lt"/>
                <a:ea typeface="+mn-ea"/>
                <a:cs typeface="+mn-cs"/>
              </a:rPr>
              <a:t>处理器开发依赖的头文件和库文件、编译工具链、调优工具等。请参见</a:t>
            </a:r>
            <a:r>
              <a:rPr lang="en-US" altLang="zh-CN" sz="1600" b="0" i="0" kern="1200" dirty="0" smtClean="0">
                <a:solidFill>
                  <a:schemeClr val="tx1"/>
                </a:solidFill>
                <a:effectLst/>
                <a:latin typeface="+mn-lt"/>
                <a:ea typeface="+mn-ea"/>
                <a:cs typeface="+mn-cs"/>
                <a:hlinkClick r:id="rId13"/>
              </a:rPr>
              <a:t>ADK</a:t>
            </a:r>
            <a:r>
              <a:rPr lang="zh-CN" altLang="en-US" sz="1600" b="0" i="0" kern="1200" dirty="0" smtClean="0">
                <a:solidFill>
                  <a:schemeClr val="tx1"/>
                </a:solidFill>
                <a:effectLst/>
                <a:latin typeface="+mn-lt"/>
                <a:ea typeface="+mn-ea"/>
                <a:cs typeface="+mn-cs"/>
                <a:hlinkClick r:id="rId13"/>
              </a:rPr>
              <a:t>管理</a:t>
            </a:r>
            <a:r>
              <a:rPr lang="zh-CN" altLang="en-US" sz="1600" b="0" i="0" kern="1200" dirty="0" smtClean="0">
                <a:solidFill>
                  <a:schemeClr val="tx1"/>
                </a:solidFill>
                <a:effectLst/>
                <a:latin typeface="+mn-lt"/>
                <a:ea typeface="+mn-ea"/>
                <a:cs typeface="+mn-cs"/>
              </a:rPr>
              <a:t>。</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13</a:t>
            </a:fld>
            <a:endParaRPr lang="zh-CN" altLang="en-US"/>
          </a:p>
        </p:txBody>
      </p:sp>
    </p:spTree>
    <p:extLst>
      <p:ext uri="{BB962C8B-B14F-4D97-AF65-F5344CB8AC3E}">
        <p14:creationId xmlns:p14="http://schemas.microsoft.com/office/powerpoint/2010/main" val="1789684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14</a:t>
            </a:fld>
            <a:endParaRPr lang="zh-CN" altLang="en-US"/>
          </a:p>
        </p:txBody>
      </p:sp>
    </p:spTree>
    <p:extLst>
      <p:ext uri="{BB962C8B-B14F-4D97-AF65-F5344CB8AC3E}">
        <p14:creationId xmlns:p14="http://schemas.microsoft.com/office/powerpoint/2010/main" val="16743000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effectLst/>
              </a:rPr>
              <a:t>ACL</a:t>
            </a:r>
            <a:r>
              <a:rPr lang="zh-CN" altLang="en-US" dirty="0" smtClean="0">
                <a:effectLst/>
              </a:rPr>
              <a:t>（</a:t>
            </a:r>
            <a:r>
              <a:rPr lang="en-US" altLang="zh-CN" dirty="0" smtClean="0">
                <a:effectLst/>
              </a:rPr>
              <a:t>Ascend Computing Language</a:t>
            </a:r>
            <a:r>
              <a:rPr lang="zh-CN" altLang="en-US" dirty="0" smtClean="0">
                <a:effectLst/>
              </a:rPr>
              <a:t>）提供</a:t>
            </a:r>
            <a:r>
              <a:rPr lang="en-US" altLang="zh-CN" dirty="0" smtClean="0">
                <a:effectLst/>
              </a:rPr>
              <a:t>Device</a:t>
            </a:r>
            <a:r>
              <a:rPr lang="zh-CN" altLang="en-US" dirty="0" smtClean="0">
                <a:effectLst/>
              </a:rPr>
              <a:t>管理、</a:t>
            </a:r>
            <a:r>
              <a:rPr lang="en-US" altLang="zh-CN" dirty="0" smtClean="0">
                <a:effectLst/>
              </a:rPr>
              <a:t>Context</a:t>
            </a:r>
            <a:r>
              <a:rPr lang="zh-CN" altLang="en-US" dirty="0" smtClean="0">
                <a:effectLst/>
              </a:rPr>
              <a:t>管理、</a:t>
            </a:r>
            <a:r>
              <a:rPr lang="en-US" altLang="zh-CN" dirty="0" smtClean="0">
                <a:effectLst/>
              </a:rPr>
              <a:t>Stream</a:t>
            </a:r>
            <a:r>
              <a:rPr lang="zh-CN" altLang="en-US" dirty="0" smtClean="0">
                <a:effectLst/>
              </a:rPr>
              <a:t>管理、内存管理、模型加载与执行、算子加载与执行、媒体数据处理等</a:t>
            </a:r>
            <a:r>
              <a:rPr lang="en-US" altLang="zh-CN" dirty="0" smtClean="0">
                <a:effectLst/>
              </a:rPr>
              <a:t>C++ API</a:t>
            </a:r>
            <a:r>
              <a:rPr lang="zh-CN" altLang="en-US" dirty="0" smtClean="0">
                <a:effectLst/>
              </a:rPr>
              <a:t>库供用户开发深度神经网络应用，用于实现目标识别、图像分类等功能。用户可以通过第三方框架调用</a:t>
            </a:r>
            <a:r>
              <a:rPr lang="en-US" altLang="zh-CN" dirty="0" smtClean="0">
                <a:effectLst/>
              </a:rPr>
              <a:t>ACL</a:t>
            </a:r>
            <a:r>
              <a:rPr lang="zh-CN" altLang="en-US" dirty="0" smtClean="0">
                <a:effectLst/>
              </a:rPr>
              <a:t>接口，以便使用昇腾</a:t>
            </a:r>
            <a:r>
              <a:rPr lang="en-US" altLang="zh-CN" dirty="0" smtClean="0">
                <a:effectLst/>
              </a:rPr>
              <a:t>AI</a:t>
            </a:r>
            <a:r>
              <a:rPr lang="zh-CN" altLang="en-US" dirty="0" smtClean="0">
                <a:effectLst/>
              </a:rPr>
              <a:t>处理器的计算能力；用户还可以使用</a:t>
            </a:r>
            <a:r>
              <a:rPr lang="en-US" altLang="zh-CN" dirty="0" smtClean="0">
                <a:effectLst/>
              </a:rPr>
              <a:t>ACL</a:t>
            </a:r>
            <a:r>
              <a:rPr lang="zh-CN" altLang="en-US" dirty="0" smtClean="0">
                <a:effectLst/>
              </a:rPr>
              <a:t>封装实现第三方</a:t>
            </a:r>
            <a:r>
              <a:rPr lang="en-US" altLang="zh-CN" dirty="0" smtClean="0">
                <a:effectLst/>
              </a:rPr>
              <a:t>lib</a:t>
            </a:r>
            <a:r>
              <a:rPr lang="zh-CN" altLang="en-US" dirty="0" smtClean="0">
                <a:effectLst/>
              </a:rPr>
              <a:t>库，以便提供昇腾</a:t>
            </a:r>
            <a:r>
              <a:rPr lang="en-US" altLang="zh-CN" dirty="0" smtClean="0">
                <a:effectLst/>
              </a:rPr>
              <a:t>AI</a:t>
            </a:r>
            <a:r>
              <a:rPr lang="zh-CN" altLang="en-US" dirty="0" smtClean="0">
                <a:effectLst/>
              </a:rPr>
              <a:t>处理器的运行管理、资源管理能力。</a:t>
            </a:r>
          </a:p>
          <a:p>
            <a:endParaRPr lang="en-US" altLang="zh-CN" dirty="0" smtClean="0">
              <a:effectLst/>
            </a:endParaRPr>
          </a:p>
          <a:p>
            <a:r>
              <a:rPr lang="zh-CN" altLang="en-US" dirty="0" smtClean="0">
                <a:effectLst/>
              </a:rPr>
              <a:t>在运行应用时，</a:t>
            </a:r>
            <a:r>
              <a:rPr lang="en-US" altLang="zh-CN" dirty="0" smtClean="0">
                <a:effectLst/>
              </a:rPr>
              <a:t>ACL</a:t>
            </a:r>
            <a:r>
              <a:rPr lang="zh-CN" altLang="en-US" dirty="0" smtClean="0">
                <a:effectLst/>
              </a:rPr>
              <a:t>调用</a:t>
            </a:r>
            <a:r>
              <a:rPr lang="en-US" altLang="zh-CN" dirty="0" smtClean="0">
                <a:effectLst/>
              </a:rPr>
              <a:t>GE</a:t>
            </a:r>
            <a:r>
              <a:rPr lang="zh-CN" altLang="en-US" dirty="0" smtClean="0">
                <a:effectLst/>
              </a:rPr>
              <a:t>执行器提供的接口实现模型和算子的加载与执行、调用运行管理器的接口实现</a:t>
            </a:r>
            <a:r>
              <a:rPr lang="en-US" altLang="zh-CN" dirty="0" smtClean="0">
                <a:effectLst/>
              </a:rPr>
              <a:t>Device</a:t>
            </a:r>
            <a:r>
              <a:rPr lang="zh-CN" altLang="en-US" dirty="0" smtClean="0">
                <a:effectLst/>
              </a:rPr>
              <a:t>管理</a:t>
            </a:r>
            <a:r>
              <a:rPr lang="en-US" altLang="zh-CN" dirty="0" smtClean="0">
                <a:effectLst/>
              </a:rPr>
              <a:t>/Context</a:t>
            </a:r>
            <a:r>
              <a:rPr lang="zh-CN" altLang="en-US" dirty="0" smtClean="0">
                <a:effectLst/>
              </a:rPr>
              <a:t>管理</a:t>
            </a:r>
            <a:r>
              <a:rPr lang="en-US" altLang="zh-CN" dirty="0" smtClean="0">
                <a:effectLst/>
              </a:rPr>
              <a:t>/Stream</a:t>
            </a:r>
            <a:r>
              <a:rPr lang="zh-CN" altLang="en-US" dirty="0" smtClean="0">
                <a:effectLst/>
              </a:rPr>
              <a:t>管理</a:t>
            </a:r>
            <a:r>
              <a:rPr lang="en-US" altLang="zh-CN" dirty="0" smtClean="0">
                <a:effectLst/>
              </a:rPr>
              <a:t>/</a:t>
            </a:r>
            <a:r>
              <a:rPr lang="zh-CN" altLang="en-US" dirty="0" smtClean="0">
                <a:effectLst/>
              </a:rPr>
              <a:t>内存管理等。</a:t>
            </a:r>
          </a:p>
          <a:p>
            <a:endParaRPr lang="en-US" altLang="zh-CN" dirty="0" smtClean="0">
              <a:effectLst/>
            </a:endParaRPr>
          </a:p>
          <a:p>
            <a:r>
              <a:rPr lang="zh-CN" altLang="en-US" dirty="0" smtClean="0">
                <a:effectLst/>
              </a:rPr>
              <a:t>计算资源层是昇腾</a:t>
            </a:r>
            <a:r>
              <a:rPr lang="en-US" altLang="zh-CN" dirty="0" smtClean="0">
                <a:effectLst/>
              </a:rPr>
              <a:t>AI</a:t>
            </a:r>
            <a:r>
              <a:rPr lang="zh-CN" altLang="en-US" dirty="0" smtClean="0">
                <a:effectLst/>
              </a:rPr>
              <a:t>处理器的硬件算力基础，主要完成神经网络的矩阵相关计算、完成控制算子</a:t>
            </a:r>
            <a:r>
              <a:rPr lang="en-US" altLang="zh-CN" dirty="0" smtClean="0">
                <a:effectLst/>
              </a:rPr>
              <a:t>/</a:t>
            </a:r>
            <a:r>
              <a:rPr lang="zh-CN" altLang="en-US" dirty="0" smtClean="0">
                <a:effectLst/>
              </a:rPr>
              <a:t>标量</a:t>
            </a:r>
            <a:r>
              <a:rPr lang="en-US" altLang="zh-CN" dirty="0" smtClean="0">
                <a:effectLst/>
              </a:rPr>
              <a:t>/</a:t>
            </a:r>
            <a:r>
              <a:rPr lang="zh-CN" altLang="en-US" dirty="0" smtClean="0">
                <a:effectLst/>
              </a:rPr>
              <a:t>向量等通用计算和执行控制功能、完成图像和视频数据的预处理，为深度神经网络计算提供了执行上的保障。</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16</a:t>
            </a:fld>
            <a:endParaRPr lang="zh-CN" altLang="en-US"/>
          </a:p>
        </p:txBody>
      </p:sp>
    </p:spTree>
    <p:extLst>
      <p:ext uri="{BB962C8B-B14F-4D97-AF65-F5344CB8AC3E}">
        <p14:creationId xmlns:p14="http://schemas.microsoft.com/office/powerpoint/2010/main" val="3236089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17</a:t>
            </a:fld>
            <a:endParaRPr lang="zh-CN" altLang="en-US"/>
          </a:p>
        </p:txBody>
      </p:sp>
    </p:spTree>
    <p:extLst>
      <p:ext uri="{BB962C8B-B14F-4D97-AF65-F5344CB8AC3E}">
        <p14:creationId xmlns:p14="http://schemas.microsoft.com/office/powerpoint/2010/main" val="1080918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altLang="zh-CN" dirty="0" smtClean="0"/>
          </a:p>
        </p:txBody>
      </p:sp>
    </p:spTree>
    <p:extLst>
      <p:ext uri="{BB962C8B-B14F-4D97-AF65-F5344CB8AC3E}">
        <p14:creationId xmlns:p14="http://schemas.microsoft.com/office/powerpoint/2010/main" val="1312852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25</a:t>
            </a:fld>
            <a:endParaRPr lang="zh-CN" altLang="en-US"/>
          </a:p>
        </p:txBody>
      </p:sp>
    </p:spTree>
    <p:extLst>
      <p:ext uri="{BB962C8B-B14F-4D97-AF65-F5344CB8AC3E}">
        <p14:creationId xmlns:p14="http://schemas.microsoft.com/office/powerpoint/2010/main" val="4047465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53593F-E4A9-4D1C-837B-FCD843521D3D}" type="slidenum">
              <a:rPr lang="zh-CN" altLang="en-US" smtClean="0"/>
              <a:t>26</a:t>
            </a:fld>
            <a:endParaRPr lang="zh-CN" altLang="en-US"/>
          </a:p>
        </p:txBody>
      </p:sp>
    </p:spTree>
    <p:extLst>
      <p:ext uri="{BB962C8B-B14F-4D97-AF65-F5344CB8AC3E}">
        <p14:creationId xmlns:p14="http://schemas.microsoft.com/office/powerpoint/2010/main" val="7048262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24568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217042" y="1231900"/>
            <a:ext cx="9702229" cy="639502"/>
          </a:xfrm>
          <a:prstGeom prst="rect">
            <a:avLst/>
          </a:prstGeom>
        </p:spPr>
        <p:txBody>
          <a:bodyPr/>
          <a:lstStyle>
            <a:lvl1pPr>
              <a:defRPr/>
            </a:lvl1pPr>
          </a:lstStyle>
          <a:p>
            <a:r>
              <a:rPr lang="zh-CN" altLang="en-US" dirty="0" smtClean="0"/>
              <a:t>目录</a:t>
            </a:r>
            <a:endParaRPr lang="zh-CN" altLang="en-US" dirty="0"/>
          </a:p>
        </p:txBody>
      </p:sp>
      <p:sp>
        <p:nvSpPr>
          <p:cNvPr id="3" name="内容占位符 2"/>
          <p:cNvSpPr>
            <a:spLocks noGrp="1"/>
          </p:cNvSpPr>
          <p:nvPr>
            <p:ph idx="1"/>
          </p:nvPr>
        </p:nvSpPr>
        <p:spPr>
          <a:xfrm>
            <a:off x="1417068" y="2083916"/>
            <a:ext cx="9361040" cy="3794150"/>
          </a:xfrm>
          <a:prstGeom prst="rect">
            <a:avLst/>
          </a:prstGeom>
        </p:spPr>
        <p:txBody>
          <a:bodyPr/>
          <a:lstStyle>
            <a:lvl1pPr>
              <a:defRPr>
                <a:solidFill>
                  <a:schemeClr val="tx1"/>
                </a:solidFill>
              </a:defRPr>
            </a:lvl1pPr>
          </a:lstStyle>
          <a:p>
            <a:pPr lvl="0"/>
            <a:r>
              <a:rPr lang="zh-CN" altLang="en-US" dirty="0" smtClean="0"/>
              <a:t>单击此处编辑母版文本样式</a:t>
            </a:r>
            <a:endParaRPr lang="en-US" altLang="zh-CN" dirty="0" smtClean="0"/>
          </a:p>
          <a:p>
            <a:pPr lvl="0"/>
            <a:endParaRPr lang="zh-CN" altLang="en-US" dirty="0" smtClean="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400" y="2130425"/>
            <a:ext cx="10366375" cy="1471613"/>
          </a:xfrm>
          <a:prstGeom prst="rect">
            <a:avLst/>
          </a:prstGeom>
        </p:spPr>
        <p:txBody>
          <a:bodyPr>
            <a:normAutofit/>
          </a:bodyPr>
          <a:lstStyle>
            <a:lvl1pPr algn="ctr">
              <a:defRPr sz="4000">
                <a:latin typeface="微软雅黑" pitchFamily="34" charset="-122"/>
                <a:ea typeface="微软雅黑" pitchFamily="34" charset="-122"/>
              </a:defRPr>
            </a:lvl1pPr>
          </a:lstStyle>
          <a:p>
            <a:r>
              <a:rPr lang="zh-CN" altLang="en-US" dirty="0" smtClean="0"/>
              <a:t>微软雅黑 </a:t>
            </a:r>
            <a:r>
              <a:rPr lang="en-US" altLang="zh-CN" dirty="0" smtClean="0"/>
              <a:t>40pt </a:t>
            </a:r>
            <a:r>
              <a:rPr lang="zh-CN" altLang="en-US" dirty="0" smtClean="0"/>
              <a:t>，居中，最多两行</a:t>
            </a:r>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5" name="TextBox 6"/>
          <p:cNvSpPr txBox="1"/>
          <p:nvPr userDrawn="1"/>
        </p:nvSpPr>
        <p:spPr>
          <a:xfrm>
            <a:off x="599333" y="3266432"/>
            <a:ext cx="4608512" cy="1200339"/>
          </a:xfrm>
          <a:prstGeom prst="rect">
            <a:avLst/>
          </a:prstGeom>
          <a:noFill/>
        </p:spPr>
        <p:txBody>
          <a:bodyPr wrap="square" lIns="91450" tIns="45725" rIns="91450" bIns="45725">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a:lstStyle>
          <a:p>
            <a:pPr algn="l">
              <a:defRPr/>
            </a:pPr>
            <a:r>
              <a:rPr lang="en-US" altLang="zh-CN" sz="900" b="1" dirty="0" smtClean="0">
                <a:solidFill>
                  <a:srgbClr val="595959"/>
                </a:solidFill>
              </a:rPr>
              <a:t>Copyright©2020 </a:t>
            </a:r>
            <a:r>
              <a:rPr lang="en-US" altLang="zh-CN" sz="900" b="1" dirty="0">
                <a:solidFill>
                  <a:srgbClr val="595959"/>
                </a:solidFill>
              </a:rPr>
              <a:t>Huawei Technologies Co., Ltd. All Rights Reserved</a:t>
            </a:r>
            <a:r>
              <a:rPr lang="en-US" altLang="zh-CN" sz="900" b="1" dirty="0" smtClean="0">
                <a:solidFill>
                  <a:srgbClr val="595959"/>
                </a:solidFill>
              </a:rPr>
              <a:t>.</a:t>
            </a:r>
          </a:p>
          <a:p>
            <a:pPr algn="l">
              <a:defRPr/>
            </a:pPr>
            <a:r>
              <a:rPr lang="en-US" altLang="zh-CN" sz="900" dirty="0" smtClean="0">
                <a:solidFill>
                  <a:srgbClr val="595959"/>
                </a:solidFill>
              </a:rPr>
              <a:t>The </a:t>
            </a:r>
            <a:r>
              <a:rPr lang="en-US" altLang="zh-CN" sz="900" dirty="0">
                <a:solidFill>
                  <a:srgbClr val="595959"/>
                </a:solidFill>
              </a:rPr>
              <a:t>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900" dirty="0">
              <a:solidFill>
                <a:srgbClr val="595959"/>
              </a:solidFill>
            </a:endParaRPr>
          </a:p>
        </p:txBody>
      </p:sp>
      <p:sp>
        <p:nvSpPr>
          <p:cNvPr id="6" name="TextBox 6"/>
          <p:cNvSpPr txBox="1"/>
          <p:nvPr userDrawn="1"/>
        </p:nvSpPr>
        <p:spPr>
          <a:xfrm>
            <a:off x="408955" y="2392816"/>
            <a:ext cx="2873864" cy="677119"/>
          </a:xfrm>
          <a:prstGeom prst="rect">
            <a:avLst/>
          </a:prstGeom>
          <a:noFill/>
        </p:spPr>
        <p:txBody>
          <a:bodyPr wrap="square" lIns="91450" tIns="45725" rIns="91450" bIns="45725">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a:lstStyle>
          <a:p>
            <a:pPr algn="ctr">
              <a:defRPr/>
            </a:pPr>
            <a:r>
              <a:rPr lang="en-US" altLang="zh-CN" sz="3800" dirty="0" smtClean="0">
                <a:solidFill>
                  <a:srgbClr val="595959"/>
                </a:solidFill>
              </a:rPr>
              <a:t>Thank You</a:t>
            </a:r>
            <a:r>
              <a:rPr lang="en-US" altLang="zh-CN" sz="3800" dirty="0" smtClean="0">
                <a:solidFill>
                  <a:schemeClr val="tx1">
                    <a:lumMod val="50000"/>
                    <a:lumOff val="50000"/>
                  </a:schemeClr>
                </a:solidFill>
              </a:rPr>
              <a:t>.</a:t>
            </a:r>
            <a:endParaRPr lang="zh-CN" altLang="zh-CN" sz="3800" dirty="0">
              <a:solidFill>
                <a:schemeClr val="tx1">
                  <a:lumMod val="50000"/>
                  <a:lumOff val="50000"/>
                </a:schemeClr>
              </a:solidFil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前言">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521" y="1233773"/>
            <a:ext cx="10561550" cy="4680872"/>
          </a:xfrm>
        </p:spPr>
        <p:txBody>
          <a:bodyPr/>
          <a:lstStyle>
            <a:lvl1pPr algn="just">
              <a:defRPr>
                <a:latin typeface="+mn-ea"/>
                <a:ea typeface="+mn-ea"/>
                <a:cs typeface="Arial" panose="020B0604020202090204" pitchFamily="34" charset="0"/>
              </a:defRPr>
            </a:lvl1pPr>
            <a:lvl5pPr>
              <a:buNone/>
              <a:defRPr/>
            </a:lvl5pPr>
          </a:lstStyle>
          <a:p>
            <a:pPr eaLnBrk="1" hangingPunct="1"/>
            <a:r>
              <a:rPr lang="zh-CN" altLang="en-US" dirty="0"/>
              <a:t>本章主要讲述</a:t>
            </a:r>
            <a:r>
              <a:rPr lang="en-US" altLang="zh-CN" dirty="0"/>
              <a:t>...</a:t>
            </a:r>
            <a:endParaRPr lang="zh-CN" altLang="en-US" dirty="0"/>
          </a:p>
        </p:txBody>
      </p:sp>
      <p:sp>
        <p:nvSpPr>
          <p:cNvPr id="7" name="TextBox 10"/>
          <p:cNvSpPr txBox="1"/>
          <p:nvPr userDrawn="1"/>
        </p:nvSpPr>
        <p:spPr bwMode="auto">
          <a:xfrm>
            <a:off x="1595915" y="408874"/>
            <a:ext cx="1665836" cy="639707"/>
          </a:xfrm>
          <a:prstGeom prst="rect">
            <a:avLst/>
          </a:prstGeom>
          <a:noFill/>
          <a:ln w="9525">
            <a:noFill/>
            <a:miter lim="800000"/>
          </a:ln>
        </p:spPr>
        <p:txBody>
          <a:bodyPr wrap="square" lIns="100003" tIns="49999" rIns="100003" bIns="49999" rtlCol="0">
            <a:spAutoFit/>
          </a:bodyPr>
          <a:lstStyle/>
          <a:p>
            <a:pPr algn="l" defTabSz="1001395" eaLnBrk="0" hangingPunct="0"/>
            <a:r>
              <a:rPr lang="zh-CN" altLang="en-US" sz="3500" b="1" dirty="0" smtClean="0">
                <a:solidFill>
                  <a:schemeClr val="tx1">
                    <a:lumMod val="75000"/>
                    <a:lumOff val="25000"/>
                  </a:schemeClr>
                </a:solidFill>
                <a:latin typeface="+mn-ea"/>
                <a:ea typeface="+mn-ea"/>
                <a:cs typeface="Arial" panose="020B0604020202090204" pitchFamily="34" charset="0"/>
              </a:rPr>
              <a:t>前言</a:t>
            </a:r>
            <a:endParaRPr lang="zh-CN" altLang="en-US" sz="3500" b="1" dirty="0">
              <a:solidFill>
                <a:schemeClr val="tx1">
                  <a:lumMod val="75000"/>
                  <a:lumOff val="25000"/>
                </a:schemeClr>
              </a:solidFill>
              <a:latin typeface="+mn-ea"/>
              <a:ea typeface="+mn-ea"/>
              <a:cs typeface="Arial" panose="020B0604020202090204" pitchFamily="34" charset="0"/>
            </a:endParaRPr>
          </a:p>
        </p:txBody>
      </p:sp>
      <p:sp>
        <p:nvSpPr>
          <p:cNvPr id="9"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10"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grpSp>
        <p:nvGrpSpPr>
          <p:cNvPr id="11" name="组合 10"/>
          <p:cNvGrpSpPr/>
          <p:nvPr userDrawn="1"/>
        </p:nvGrpSpPr>
        <p:grpSpPr>
          <a:xfrm>
            <a:off x="335447" y="498944"/>
            <a:ext cx="628322" cy="459566"/>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3" name="Freeform 7"/>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4" name="Freeform 8"/>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5" name="Freeform 9"/>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6" name="Freeform 10"/>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grpSp>
      <p:sp>
        <p:nvSpPr>
          <p:cNvPr id="18" name="Freeform 6"/>
          <p:cNvSpPr/>
          <p:nvPr userDrawn="1"/>
        </p:nvSpPr>
        <p:spPr bwMode="auto">
          <a:xfrm>
            <a:off x="3213876" y="296437"/>
            <a:ext cx="8981299" cy="8650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1" fmla="*/ 7021 w 10000"/>
              <a:gd name="connsiteY0-2" fmla="*/ 0 h 10000"/>
              <a:gd name="connsiteX1-3" fmla="*/ 0 w 10000"/>
              <a:gd name="connsiteY1-4" fmla="*/ 0 h 10000"/>
              <a:gd name="connsiteX2-5" fmla="*/ 197 w 10000"/>
              <a:gd name="connsiteY2-6" fmla="*/ 5024 h 10000"/>
              <a:gd name="connsiteX3-7" fmla="*/ 0 w 10000"/>
              <a:gd name="connsiteY3-8" fmla="*/ 10000 h 10000"/>
              <a:gd name="connsiteX4-9" fmla="*/ 10000 w 10000"/>
              <a:gd name="connsiteY4-10" fmla="*/ 10000 h 10000"/>
              <a:gd name="connsiteX5-11" fmla="*/ 7736 w 10000"/>
              <a:gd name="connsiteY5-12" fmla="*/ 5574 h 10000"/>
              <a:gd name="connsiteX6-13" fmla="*/ 7021 w 10000"/>
              <a:gd name="connsiteY6-14" fmla="*/ 0 h 10000"/>
              <a:gd name="connsiteX0-15" fmla="*/ 7021 w 7736"/>
              <a:gd name="connsiteY0-16" fmla="*/ 0 h 10038"/>
              <a:gd name="connsiteX1-17" fmla="*/ 0 w 7736"/>
              <a:gd name="connsiteY1-18" fmla="*/ 0 h 10038"/>
              <a:gd name="connsiteX2-19" fmla="*/ 197 w 7736"/>
              <a:gd name="connsiteY2-20" fmla="*/ 5024 h 10038"/>
              <a:gd name="connsiteX3-21" fmla="*/ 0 w 7736"/>
              <a:gd name="connsiteY3-22" fmla="*/ 10000 h 10038"/>
              <a:gd name="connsiteX4-23" fmla="*/ 7017 w 7736"/>
              <a:gd name="connsiteY4-24" fmla="*/ 10038 h 10038"/>
              <a:gd name="connsiteX5-25" fmla="*/ 7736 w 7736"/>
              <a:gd name="connsiteY5-26" fmla="*/ 5574 h 10038"/>
              <a:gd name="connsiteX6-27" fmla="*/ 7021 w 7736"/>
              <a:gd name="connsiteY6-28" fmla="*/ 0 h 10038"/>
              <a:gd name="connsiteX0-29" fmla="*/ 9076 w 9316"/>
              <a:gd name="connsiteY0-30" fmla="*/ 0 h 10000"/>
              <a:gd name="connsiteX1-31" fmla="*/ 0 w 9316"/>
              <a:gd name="connsiteY1-32" fmla="*/ 0 h 10000"/>
              <a:gd name="connsiteX2-33" fmla="*/ 255 w 9316"/>
              <a:gd name="connsiteY2-34" fmla="*/ 5005 h 10000"/>
              <a:gd name="connsiteX3-35" fmla="*/ 0 w 9316"/>
              <a:gd name="connsiteY3-36" fmla="*/ 9962 h 10000"/>
              <a:gd name="connsiteX4-37" fmla="*/ 9071 w 9316"/>
              <a:gd name="connsiteY4-38" fmla="*/ 10000 h 10000"/>
              <a:gd name="connsiteX5-39" fmla="*/ 9316 w 9316"/>
              <a:gd name="connsiteY5-40" fmla="*/ 5668 h 10000"/>
              <a:gd name="connsiteX6-41" fmla="*/ 9076 w 9316"/>
              <a:gd name="connsiteY6-42" fmla="*/ 0 h 10000"/>
              <a:gd name="connsiteX0-43" fmla="*/ 9742 w 10000"/>
              <a:gd name="connsiteY0-44" fmla="*/ 0 h 10000"/>
              <a:gd name="connsiteX1-45" fmla="*/ 0 w 10000"/>
              <a:gd name="connsiteY1-46" fmla="*/ 0 h 10000"/>
              <a:gd name="connsiteX2-47" fmla="*/ 274 w 10000"/>
              <a:gd name="connsiteY2-48" fmla="*/ 5005 h 10000"/>
              <a:gd name="connsiteX3-49" fmla="*/ 0 w 10000"/>
              <a:gd name="connsiteY3-50" fmla="*/ 9962 h 10000"/>
              <a:gd name="connsiteX4-51" fmla="*/ 9737 w 10000"/>
              <a:gd name="connsiteY4-52" fmla="*/ 10000 h 10000"/>
              <a:gd name="connsiteX5-53" fmla="*/ 10000 w 10000"/>
              <a:gd name="connsiteY5-54" fmla="*/ 5668 h 10000"/>
              <a:gd name="connsiteX6-55" fmla="*/ 9742 w 10000"/>
              <a:gd name="connsiteY6-56" fmla="*/ 0 h 10000"/>
              <a:gd name="connsiteX0-57" fmla="*/ 9742 w 9877"/>
              <a:gd name="connsiteY0-58" fmla="*/ 0 h 10000"/>
              <a:gd name="connsiteX1-59" fmla="*/ 0 w 9877"/>
              <a:gd name="connsiteY1-60" fmla="*/ 0 h 10000"/>
              <a:gd name="connsiteX2-61" fmla="*/ 274 w 9877"/>
              <a:gd name="connsiteY2-62" fmla="*/ 5005 h 10000"/>
              <a:gd name="connsiteX3-63" fmla="*/ 0 w 9877"/>
              <a:gd name="connsiteY3-64" fmla="*/ 9962 h 10000"/>
              <a:gd name="connsiteX4-65" fmla="*/ 9737 w 9877"/>
              <a:gd name="connsiteY4-66" fmla="*/ 10000 h 10000"/>
              <a:gd name="connsiteX5-67" fmla="*/ 9738 w 9877"/>
              <a:gd name="connsiteY5-68" fmla="*/ 5783 h 10000"/>
              <a:gd name="connsiteX6-69" fmla="*/ 9742 w 9877"/>
              <a:gd name="connsiteY6-70" fmla="*/ 0 h 10000"/>
              <a:gd name="connsiteX0-71" fmla="*/ 9863 w 9991"/>
              <a:gd name="connsiteY0-72" fmla="*/ 0 h 10000"/>
              <a:gd name="connsiteX1-73" fmla="*/ 0 w 9991"/>
              <a:gd name="connsiteY1-74" fmla="*/ 0 h 10000"/>
              <a:gd name="connsiteX2-75" fmla="*/ 277 w 9991"/>
              <a:gd name="connsiteY2-76" fmla="*/ 5005 h 10000"/>
              <a:gd name="connsiteX3-77" fmla="*/ 0 w 9991"/>
              <a:gd name="connsiteY3-78" fmla="*/ 9962 h 10000"/>
              <a:gd name="connsiteX4-79" fmla="*/ 9858 w 9991"/>
              <a:gd name="connsiteY4-80" fmla="*/ 10000 h 10000"/>
              <a:gd name="connsiteX5-81" fmla="*/ 9817 w 9991"/>
              <a:gd name="connsiteY5-82" fmla="*/ 5783 h 10000"/>
              <a:gd name="connsiteX6-83" fmla="*/ 9863 w 9991"/>
              <a:gd name="connsiteY6-84" fmla="*/ 0 h 10000"/>
              <a:gd name="connsiteX0-85" fmla="*/ 9872 w 10014"/>
              <a:gd name="connsiteY0-86" fmla="*/ 0 h 10000"/>
              <a:gd name="connsiteX1-87" fmla="*/ 0 w 10014"/>
              <a:gd name="connsiteY1-88" fmla="*/ 0 h 10000"/>
              <a:gd name="connsiteX2-89" fmla="*/ 277 w 10014"/>
              <a:gd name="connsiteY2-90" fmla="*/ 5005 h 10000"/>
              <a:gd name="connsiteX3-91" fmla="*/ 0 w 10014"/>
              <a:gd name="connsiteY3-92" fmla="*/ 9962 h 10000"/>
              <a:gd name="connsiteX4-93" fmla="*/ 9867 w 10014"/>
              <a:gd name="connsiteY4-94" fmla="*/ 10000 h 10000"/>
              <a:gd name="connsiteX5-95" fmla="*/ 9890 w 10014"/>
              <a:gd name="connsiteY5-96" fmla="*/ 5745 h 10000"/>
              <a:gd name="connsiteX6-97" fmla="*/ 9872 w 10014"/>
              <a:gd name="connsiteY6-98" fmla="*/ 0 h 10000"/>
              <a:gd name="connsiteX0-99" fmla="*/ 9872 w 10030"/>
              <a:gd name="connsiteY0-100" fmla="*/ 0 h 10000"/>
              <a:gd name="connsiteX1-101" fmla="*/ 0 w 10030"/>
              <a:gd name="connsiteY1-102" fmla="*/ 0 h 10000"/>
              <a:gd name="connsiteX2-103" fmla="*/ 277 w 10030"/>
              <a:gd name="connsiteY2-104" fmla="*/ 5005 h 10000"/>
              <a:gd name="connsiteX3-105" fmla="*/ 0 w 10030"/>
              <a:gd name="connsiteY3-106" fmla="*/ 9962 h 10000"/>
              <a:gd name="connsiteX4-107" fmla="*/ 9867 w 10030"/>
              <a:gd name="connsiteY4-108" fmla="*/ 10000 h 10000"/>
              <a:gd name="connsiteX5-109" fmla="*/ 9890 w 10030"/>
              <a:gd name="connsiteY5-110" fmla="*/ 5745 h 10000"/>
              <a:gd name="connsiteX6-111" fmla="*/ 9872 w 10030"/>
              <a:gd name="connsiteY6-112" fmla="*/ 0 h 10000"/>
              <a:gd name="connsiteX0-113" fmla="*/ 9872 w 9921"/>
              <a:gd name="connsiteY0-114" fmla="*/ 0 h 10000"/>
              <a:gd name="connsiteX1-115" fmla="*/ 0 w 9921"/>
              <a:gd name="connsiteY1-116" fmla="*/ 0 h 10000"/>
              <a:gd name="connsiteX2-117" fmla="*/ 277 w 9921"/>
              <a:gd name="connsiteY2-118" fmla="*/ 5005 h 10000"/>
              <a:gd name="connsiteX3-119" fmla="*/ 0 w 9921"/>
              <a:gd name="connsiteY3-120" fmla="*/ 9962 h 10000"/>
              <a:gd name="connsiteX4-121" fmla="*/ 9867 w 9921"/>
              <a:gd name="connsiteY4-122" fmla="*/ 10000 h 10000"/>
              <a:gd name="connsiteX5-123" fmla="*/ 9890 w 9921"/>
              <a:gd name="connsiteY5-124" fmla="*/ 5745 h 10000"/>
              <a:gd name="connsiteX6-125" fmla="*/ 9872 w 9921"/>
              <a:gd name="connsiteY6-126" fmla="*/ 0 h 10000"/>
              <a:gd name="connsiteX0-127" fmla="*/ 9951 w 9974"/>
              <a:gd name="connsiteY0-128" fmla="*/ 0 h 10000"/>
              <a:gd name="connsiteX1-129" fmla="*/ 0 w 9974"/>
              <a:gd name="connsiteY1-130" fmla="*/ 0 h 10000"/>
              <a:gd name="connsiteX2-131" fmla="*/ 279 w 9974"/>
              <a:gd name="connsiteY2-132" fmla="*/ 5005 h 10000"/>
              <a:gd name="connsiteX3-133" fmla="*/ 0 w 9974"/>
              <a:gd name="connsiteY3-134" fmla="*/ 9962 h 10000"/>
              <a:gd name="connsiteX4-135" fmla="*/ 9946 w 9974"/>
              <a:gd name="connsiteY4-136" fmla="*/ 10000 h 10000"/>
              <a:gd name="connsiteX5-137" fmla="*/ 9969 w 9974"/>
              <a:gd name="connsiteY5-138" fmla="*/ 5745 h 10000"/>
              <a:gd name="connsiteX6-139" fmla="*/ 9951 w 9974"/>
              <a:gd name="connsiteY6-140" fmla="*/ 0 h 10000"/>
              <a:gd name="connsiteX0-141" fmla="*/ 9977 w 10001"/>
              <a:gd name="connsiteY0-142" fmla="*/ 0 h 10000"/>
              <a:gd name="connsiteX1-143" fmla="*/ 0 w 10001"/>
              <a:gd name="connsiteY1-144" fmla="*/ 0 h 10000"/>
              <a:gd name="connsiteX2-145" fmla="*/ 280 w 10001"/>
              <a:gd name="connsiteY2-146" fmla="*/ 5005 h 10000"/>
              <a:gd name="connsiteX3-147" fmla="*/ 0 w 10001"/>
              <a:gd name="connsiteY3-148" fmla="*/ 9962 h 10000"/>
              <a:gd name="connsiteX4-149" fmla="*/ 9972 w 10001"/>
              <a:gd name="connsiteY4-150" fmla="*/ 10000 h 10000"/>
              <a:gd name="connsiteX5-151" fmla="*/ 9995 w 10001"/>
              <a:gd name="connsiteY5-152" fmla="*/ 5745 h 10000"/>
              <a:gd name="connsiteX6-153" fmla="*/ 9977 w 10001"/>
              <a:gd name="connsiteY6-154" fmla="*/ 0 h 10000"/>
              <a:gd name="connsiteX0-155" fmla="*/ 9977 w 10001"/>
              <a:gd name="connsiteY0-156" fmla="*/ 0 h 10000"/>
              <a:gd name="connsiteX1-157" fmla="*/ 0 w 10001"/>
              <a:gd name="connsiteY1-158" fmla="*/ 0 h 10000"/>
              <a:gd name="connsiteX2-159" fmla="*/ 280 w 10001"/>
              <a:gd name="connsiteY2-160" fmla="*/ 5005 h 10000"/>
              <a:gd name="connsiteX3-161" fmla="*/ 0 w 10001"/>
              <a:gd name="connsiteY3-162" fmla="*/ 9962 h 10000"/>
              <a:gd name="connsiteX4-163" fmla="*/ 9972 w 10001"/>
              <a:gd name="connsiteY4-164" fmla="*/ 10000 h 10000"/>
              <a:gd name="connsiteX5-165" fmla="*/ 9995 w 10001"/>
              <a:gd name="connsiteY5-166" fmla="*/ 5745 h 10000"/>
              <a:gd name="connsiteX6-167" fmla="*/ 9977 w 10001"/>
              <a:gd name="connsiteY6-168" fmla="*/ 0 h 10000"/>
              <a:gd name="connsiteX0-169" fmla="*/ 9977 w 10001"/>
              <a:gd name="connsiteY0-170" fmla="*/ 0 h 10000"/>
              <a:gd name="connsiteX1-171" fmla="*/ 0 w 10001"/>
              <a:gd name="connsiteY1-172" fmla="*/ 0 h 10000"/>
              <a:gd name="connsiteX2-173" fmla="*/ 280 w 10001"/>
              <a:gd name="connsiteY2-174" fmla="*/ 5005 h 10000"/>
              <a:gd name="connsiteX3-175" fmla="*/ 0 w 10001"/>
              <a:gd name="connsiteY3-176" fmla="*/ 9962 h 10000"/>
              <a:gd name="connsiteX4-177" fmla="*/ 9972 w 10001"/>
              <a:gd name="connsiteY4-178" fmla="*/ 10000 h 10000"/>
              <a:gd name="connsiteX5-179" fmla="*/ 9995 w 10001"/>
              <a:gd name="connsiteY5-180" fmla="*/ 5745 h 10000"/>
              <a:gd name="connsiteX6-181" fmla="*/ 9977 w 10001"/>
              <a:gd name="connsiteY6-182" fmla="*/ 0 h 10000"/>
              <a:gd name="connsiteX0-183" fmla="*/ 9977 w 9995"/>
              <a:gd name="connsiteY0-184" fmla="*/ 0 h 10000"/>
              <a:gd name="connsiteX1-185" fmla="*/ 0 w 9995"/>
              <a:gd name="connsiteY1-186" fmla="*/ 0 h 10000"/>
              <a:gd name="connsiteX2-187" fmla="*/ 280 w 9995"/>
              <a:gd name="connsiteY2-188" fmla="*/ 5005 h 10000"/>
              <a:gd name="connsiteX3-189" fmla="*/ 0 w 9995"/>
              <a:gd name="connsiteY3-190" fmla="*/ 9962 h 10000"/>
              <a:gd name="connsiteX4-191" fmla="*/ 9972 w 9995"/>
              <a:gd name="connsiteY4-192" fmla="*/ 10000 h 10000"/>
              <a:gd name="connsiteX5-193" fmla="*/ 9995 w 9995"/>
              <a:gd name="connsiteY5-194" fmla="*/ 5745 h 10000"/>
              <a:gd name="connsiteX6-195" fmla="*/ 9977 w 9995"/>
              <a:gd name="connsiteY6-196" fmla="*/ 0 h 10000"/>
              <a:gd name="connsiteX0-197" fmla="*/ 9999 w 10000"/>
              <a:gd name="connsiteY0-198" fmla="*/ 0 h 10000"/>
              <a:gd name="connsiteX1-199" fmla="*/ 0 w 10000"/>
              <a:gd name="connsiteY1-200" fmla="*/ 0 h 10000"/>
              <a:gd name="connsiteX2-201" fmla="*/ 280 w 10000"/>
              <a:gd name="connsiteY2-202" fmla="*/ 5005 h 10000"/>
              <a:gd name="connsiteX3-203" fmla="*/ 0 w 10000"/>
              <a:gd name="connsiteY3-204" fmla="*/ 9962 h 10000"/>
              <a:gd name="connsiteX4-205" fmla="*/ 9977 w 10000"/>
              <a:gd name="connsiteY4-206" fmla="*/ 10000 h 10000"/>
              <a:gd name="connsiteX5-207" fmla="*/ 10000 w 10000"/>
              <a:gd name="connsiteY5-208" fmla="*/ 5745 h 10000"/>
              <a:gd name="connsiteX6-209" fmla="*/ 9999 w 10000"/>
              <a:gd name="connsiteY6-210" fmla="*/ 0 h 10000"/>
              <a:gd name="connsiteX0-211" fmla="*/ 9999 w 10004"/>
              <a:gd name="connsiteY0-212" fmla="*/ 0 h 10000"/>
              <a:gd name="connsiteX1-213" fmla="*/ 0 w 10004"/>
              <a:gd name="connsiteY1-214" fmla="*/ 0 h 10000"/>
              <a:gd name="connsiteX2-215" fmla="*/ 280 w 10004"/>
              <a:gd name="connsiteY2-216" fmla="*/ 5005 h 10000"/>
              <a:gd name="connsiteX3-217" fmla="*/ 0 w 10004"/>
              <a:gd name="connsiteY3-218" fmla="*/ 9962 h 10000"/>
              <a:gd name="connsiteX4-219" fmla="*/ 10000 w 10004"/>
              <a:gd name="connsiteY4-220" fmla="*/ 10000 h 10000"/>
              <a:gd name="connsiteX5-221" fmla="*/ 10000 w 10004"/>
              <a:gd name="connsiteY5-222" fmla="*/ 5745 h 10000"/>
              <a:gd name="connsiteX6-223" fmla="*/ 9999 w 10004"/>
              <a:gd name="connsiteY6-224" fmla="*/ 0 h 10000"/>
              <a:gd name="connsiteX0-225" fmla="*/ 9999 w 10000"/>
              <a:gd name="connsiteY0-226" fmla="*/ 0 h 10000"/>
              <a:gd name="connsiteX1-227" fmla="*/ 0 w 10000"/>
              <a:gd name="connsiteY1-228" fmla="*/ 0 h 10000"/>
              <a:gd name="connsiteX2-229" fmla="*/ 280 w 10000"/>
              <a:gd name="connsiteY2-230" fmla="*/ 5005 h 10000"/>
              <a:gd name="connsiteX3-231" fmla="*/ 0 w 10000"/>
              <a:gd name="connsiteY3-232" fmla="*/ 9962 h 10000"/>
              <a:gd name="connsiteX4-233" fmla="*/ 10000 w 10000"/>
              <a:gd name="connsiteY4-234" fmla="*/ 10000 h 10000"/>
              <a:gd name="connsiteX5-235" fmla="*/ 10000 w 10000"/>
              <a:gd name="connsiteY5-236" fmla="*/ 5745 h 10000"/>
              <a:gd name="connsiteX6-237" fmla="*/ 9999 w 10000"/>
              <a:gd name="connsiteY6-238" fmla="*/ 0 h 10000"/>
              <a:gd name="connsiteX0-239" fmla="*/ 14796 w 14796"/>
              <a:gd name="connsiteY0-240" fmla="*/ 0 h 10000"/>
              <a:gd name="connsiteX1-241" fmla="*/ 0 w 14796"/>
              <a:gd name="connsiteY1-242" fmla="*/ 0 h 10000"/>
              <a:gd name="connsiteX2-243" fmla="*/ 280 w 14796"/>
              <a:gd name="connsiteY2-244" fmla="*/ 5005 h 10000"/>
              <a:gd name="connsiteX3-245" fmla="*/ 0 w 14796"/>
              <a:gd name="connsiteY3-246" fmla="*/ 9962 h 10000"/>
              <a:gd name="connsiteX4-247" fmla="*/ 10000 w 14796"/>
              <a:gd name="connsiteY4-248" fmla="*/ 10000 h 10000"/>
              <a:gd name="connsiteX5-249" fmla="*/ 10000 w 14796"/>
              <a:gd name="connsiteY5-250" fmla="*/ 5745 h 10000"/>
              <a:gd name="connsiteX6-251" fmla="*/ 14796 w 14796"/>
              <a:gd name="connsiteY6-252" fmla="*/ 0 h 10000"/>
              <a:gd name="connsiteX0-253" fmla="*/ 14796 w 14796"/>
              <a:gd name="connsiteY0-254" fmla="*/ 0 h 9968"/>
              <a:gd name="connsiteX1-255" fmla="*/ 0 w 14796"/>
              <a:gd name="connsiteY1-256" fmla="*/ 0 h 9968"/>
              <a:gd name="connsiteX2-257" fmla="*/ 280 w 14796"/>
              <a:gd name="connsiteY2-258" fmla="*/ 5005 h 9968"/>
              <a:gd name="connsiteX3-259" fmla="*/ 0 w 14796"/>
              <a:gd name="connsiteY3-260" fmla="*/ 9962 h 9968"/>
              <a:gd name="connsiteX4-261" fmla="*/ 14788 w 14796"/>
              <a:gd name="connsiteY4-262" fmla="*/ 9968 h 9968"/>
              <a:gd name="connsiteX5-263" fmla="*/ 10000 w 14796"/>
              <a:gd name="connsiteY5-264" fmla="*/ 5745 h 9968"/>
              <a:gd name="connsiteX6-265" fmla="*/ 14796 w 14796"/>
              <a:gd name="connsiteY6-266" fmla="*/ 0 h 9968"/>
              <a:gd name="connsiteX0-267" fmla="*/ 10000 w 10000"/>
              <a:gd name="connsiteY0-268" fmla="*/ 0 h 10000"/>
              <a:gd name="connsiteX1-269" fmla="*/ 0 w 10000"/>
              <a:gd name="connsiteY1-270" fmla="*/ 0 h 10000"/>
              <a:gd name="connsiteX2-271" fmla="*/ 189 w 10000"/>
              <a:gd name="connsiteY2-272" fmla="*/ 5021 h 10000"/>
              <a:gd name="connsiteX3-273" fmla="*/ 0 w 10000"/>
              <a:gd name="connsiteY3-274" fmla="*/ 9994 h 10000"/>
              <a:gd name="connsiteX4-275" fmla="*/ 9995 w 10000"/>
              <a:gd name="connsiteY4-276" fmla="*/ 10000 h 10000"/>
              <a:gd name="connsiteX5-277" fmla="*/ 9998 w 10000"/>
              <a:gd name="connsiteY5-278" fmla="*/ 6152 h 10000"/>
              <a:gd name="connsiteX6-279" fmla="*/ 10000 w 10000"/>
              <a:gd name="connsiteY6-280"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19" name="Freeform 11"/>
          <p:cNvSpPr/>
          <p:nvPr userDrawn="1"/>
        </p:nvSpPr>
        <p:spPr bwMode="auto">
          <a:xfrm>
            <a:off x="3108478"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521" y="1233772"/>
            <a:ext cx="10561550" cy="4681084"/>
          </a:xfrm>
        </p:spPr>
        <p:txBody>
          <a:bodyPr/>
          <a:lstStyle>
            <a:lvl1pPr marL="301625" marR="0" indent="-301625" algn="just" defTabSz="801370" rtl="0" eaLnBrk="1" fontAlgn="base" latinLnBrk="0" hangingPunct="1">
              <a:lnSpc>
                <a:spcPct val="140000"/>
              </a:lnSpc>
              <a:spcBef>
                <a:spcPct val="30000"/>
              </a:spcBef>
              <a:spcAft>
                <a:spcPct val="0"/>
              </a:spcAft>
              <a:buClr>
                <a:srgbClr val="808080"/>
              </a:buClr>
              <a:buSzPct val="60000"/>
              <a:buFont typeface="Wingdings" panose="05000000000000000000" pitchFamily="2" charset="2"/>
              <a:buChar char="l"/>
              <a:defRPr>
                <a:latin typeface="+mn-ea"/>
                <a:ea typeface="+mn-ea"/>
                <a:cs typeface="Arial" panose="020B0604020202090204" pitchFamily="34" charset="0"/>
              </a:defRPr>
            </a:lvl1pPr>
            <a:lvl2pPr algn="just" eaLnBrk="1" hangingPunct="1">
              <a:defRPr>
                <a:latin typeface="+mn-ea"/>
                <a:ea typeface="+mn-ea"/>
                <a:cs typeface="Arial" panose="020B0604020202090204" pitchFamily="34" charset="0"/>
              </a:defRPr>
            </a:lvl2pPr>
            <a:lvl3pPr algn="just" eaLnBrk="1" hangingPunct="1">
              <a:defRPr>
                <a:latin typeface="+mn-ea"/>
                <a:ea typeface="+mn-ea"/>
                <a:cs typeface="Arial" panose="020B0604020202090204" pitchFamily="34" charset="0"/>
              </a:defRPr>
            </a:lvl3pPr>
            <a:lvl4pPr algn="just" eaLnBrk="1" hangingPunct="1">
              <a:defRPr>
                <a:latin typeface="+mn-ea"/>
                <a:ea typeface="+mn-ea"/>
                <a:cs typeface="Arial" panose="020B0604020202090204" pitchFamily="34" charset="0"/>
              </a:defRPr>
            </a:lvl4pPr>
            <a:lvl5pPr algn="just" eaLnBrk="1" hangingPunct="1">
              <a:defRPr>
                <a:latin typeface="+mn-ea"/>
                <a:ea typeface="+mn-ea"/>
                <a:cs typeface="Arial" panose="020B0604020202090204" pitchFamily="34" charset="0"/>
              </a:defRPr>
            </a:lvl5pPr>
          </a:lstStyle>
          <a:p>
            <a:pPr marL="301625" marR="0" lvl="0" indent="-301625" algn="l" defTabSz="801370" rtl="0" eaLnBrk="0" fontAlgn="base" latinLnBrk="0" hangingPunct="0">
              <a:lnSpc>
                <a:spcPct val="140000"/>
              </a:lnSpc>
              <a:spcBef>
                <a:spcPct val="30000"/>
              </a:spcBef>
              <a:spcAft>
                <a:spcPct val="0"/>
              </a:spcAft>
              <a:buClr>
                <a:srgbClr val="808080"/>
              </a:buClr>
              <a:buSzPct val="60000"/>
              <a:buFont typeface="Wingdings" panose="05000000000000000000" pitchFamily="2" charset="2"/>
              <a:buChar char="l"/>
              <a:defRPr/>
            </a:pPr>
            <a:r>
              <a:rPr kumimoji="0" lang="zh-CN" altLang="en-US" sz="2200" b="0" i="0" u="none" strike="noStrike" kern="0" cap="none" spc="0" normalizeH="0" baseline="0" noProof="0" dirty="0">
                <a:ln>
                  <a:noFill/>
                </a:ln>
                <a:solidFill>
                  <a:srgbClr val="000000"/>
                </a:solidFill>
                <a:effectLst/>
                <a:uLnTx/>
                <a:uFillTx/>
                <a:latin typeface="+mn-lt"/>
                <a:ea typeface="+mn-ea"/>
                <a:cs typeface="+mn-cs"/>
              </a:rPr>
              <a:t>学完本课程后，您将能够：</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TextBox 10"/>
          <p:cNvSpPr txBox="1"/>
          <p:nvPr userDrawn="1"/>
        </p:nvSpPr>
        <p:spPr bwMode="auto">
          <a:xfrm>
            <a:off x="1595915" y="408874"/>
            <a:ext cx="1665836" cy="639707"/>
          </a:xfrm>
          <a:prstGeom prst="rect">
            <a:avLst/>
          </a:prstGeom>
          <a:noFill/>
          <a:ln w="9525">
            <a:noFill/>
            <a:miter lim="800000"/>
          </a:ln>
        </p:spPr>
        <p:txBody>
          <a:bodyPr wrap="square" lIns="100003" tIns="49999" rIns="100003" bIns="49999" rtlCol="0">
            <a:spAutoFit/>
          </a:bodyPr>
          <a:lstStyle/>
          <a:p>
            <a:pPr defTabSz="1001395" eaLnBrk="0" hangingPunct="0"/>
            <a:r>
              <a:rPr lang="zh-CN" altLang="en-US" sz="3500" b="1" dirty="0">
                <a:solidFill>
                  <a:schemeClr val="tx1">
                    <a:lumMod val="75000"/>
                    <a:lumOff val="25000"/>
                  </a:schemeClr>
                </a:solidFill>
                <a:latin typeface="+mn-ea"/>
                <a:ea typeface="+mn-ea"/>
                <a:cs typeface="Arial" panose="020B0604020202090204" pitchFamily="34" charset="0"/>
              </a:rPr>
              <a:t>目标</a:t>
            </a:r>
            <a:endParaRPr lang="en-US" altLang="zh-CN" sz="3500" b="1" dirty="0">
              <a:solidFill>
                <a:schemeClr val="tx1">
                  <a:lumMod val="75000"/>
                  <a:lumOff val="25000"/>
                </a:schemeClr>
              </a:solidFill>
              <a:latin typeface="+mn-ea"/>
              <a:ea typeface="+mn-ea"/>
              <a:cs typeface="Arial" panose="020B0604020202090204" pitchFamily="34" charset="0"/>
            </a:endParaRPr>
          </a:p>
        </p:txBody>
      </p:sp>
      <p:sp>
        <p:nvSpPr>
          <p:cNvPr id="8"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9"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grpSp>
        <p:nvGrpSpPr>
          <p:cNvPr id="10" name="组合 9"/>
          <p:cNvGrpSpPr/>
          <p:nvPr userDrawn="1"/>
        </p:nvGrpSpPr>
        <p:grpSpPr>
          <a:xfrm>
            <a:off x="443487" y="440770"/>
            <a:ext cx="534109" cy="533594"/>
            <a:chOff x="2960687" y="4865687"/>
            <a:chExt cx="1698626" cy="1697038"/>
          </a:xfrm>
          <a:solidFill>
            <a:schemeClr val="bg1"/>
          </a:solidFill>
        </p:grpSpPr>
        <p:sp>
          <p:nvSpPr>
            <p:cNvPr id="11" name="Freeform 6"/>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2" name="Freeform 7"/>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3" name="Freeform 8"/>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4" name="Freeform 9"/>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grpSp>
      <p:sp>
        <p:nvSpPr>
          <p:cNvPr id="18" name="Freeform 6"/>
          <p:cNvSpPr/>
          <p:nvPr userDrawn="1"/>
        </p:nvSpPr>
        <p:spPr bwMode="auto">
          <a:xfrm>
            <a:off x="3213876" y="296437"/>
            <a:ext cx="8981299" cy="8650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1" fmla="*/ 7021 w 10000"/>
              <a:gd name="connsiteY0-2" fmla="*/ 0 h 10000"/>
              <a:gd name="connsiteX1-3" fmla="*/ 0 w 10000"/>
              <a:gd name="connsiteY1-4" fmla="*/ 0 h 10000"/>
              <a:gd name="connsiteX2-5" fmla="*/ 197 w 10000"/>
              <a:gd name="connsiteY2-6" fmla="*/ 5024 h 10000"/>
              <a:gd name="connsiteX3-7" fmla="*/ 0 w 10000"/>
              <a:gd name="connsiteY3-8" fmla="*/ 10000 h 10000"/>
              <a:gd name="connsiteX4-9" fmla="*/ 10000 w 10000"/>
              <a:gd name="connsiteY4-10" fmla="*/ 10000 h 10000"/>
              <a:gd name="connsiteX5-11" fmla="*/ 7736 w 10000"/>
              <a:gd name="connsiteY5-12" fmla="*/ 5574 h 10000"/>
              <a:gd name="connsiteX6-13" fmla="*/ 7021 w 10000"/>
              <a:gd name="connsiteY6-14" fmla="*/ 0 h 10000"/>
              <a:gd name="connsiteX0-15" fmla="*/ 7021 w 7736"/>
              <a:gd name="connsiteY0-16" fmla="*/ 0 h 10038"/>
              <a:gd name="connsiteX1-17" fmla="*/ 0 w 7736"/>
              <a:gd name="connsiteY1-18" fmla="*/ 0 h 10038"/>
              <a:gd name="connsiteX2-19" fmla="*/ 197 w 7736"/>
              <a:gd name="connsiteY2-20" fmla="*/ 5024 h 10038"/>
              <a:gd name="connsiteX3-21" fmla="*/ 0 w 7736"/>
              <a:gd name="connsiteY3-22" fmla="*/ 10000 h 10038"/>
              <a:gd name="connsiteX4-23" fmla="*/ 7017 w 7736"/>
              <a:gd name="connsiteY4-24" fmla="*/ 10038 h 10038"/>
              <a:gd name="connsiteX5-25" fmla="*/ 7736 w 7736"/>
              <a:gd name="connsiteY5-26" fmla="*/ 5574 h 10038"/>
              <a:gd name="connsiteX6-27" fmla="*/ 7021 w 7736"/>
              <a:gd name="connsiteY6-28" fmla="*/ 0 h 10038"/>
              <a:gd name="connsiteX0-29" fmla="*/ 9076 w 9316"/>
              <a:gd name="connsiteY0-30" fmla="*/ 0 h 10000"/>
              <a:gd name="connsiteX1-31" fmla="*/ 0 w 9316"/>
              <a:gd name="connsiteY1-32" fmla="*/ 0 h 10000"/>
              <a:gd name="connsiteX2-33" fmla="*/ 255 w 9316"/>
              <a:gd name="connsiteY2-34" fmla="*/ 5005 h 10000"/>
              <a:gd name="connsiteX3-35" fmla="*/ 0 w 9316"/>
              <a:gd name="connsiteY3-36" fmla="*/ 9962 h 10000"/>
              <a:gd name="connsiteX4-37" fmla="*/ 9071 w 9316"/>
              <a:gd name="connsiteY4-38" fmla="*/ 10000 h 10000"/>
              <a:gd name="connsiteX5-39" fmla="*/ 9316 w 9316"/>
              <a:gd name="connsiteY5-40" fmla="*/ 5668 h 10000"/>
              <a:gd name="connsiteX6-41" fmla="*/ 9076 w 9316"/>
              <a:gd name="connsiteY6-42" fmla="*/ 0 h 10000"/>
              <a:gd name="connsiteX0-43" fmla="*/ 9742 w 10000"/>
              <a:gd name="connsiteY0-44" fmla="*/ 0 h 10000"/>
              <a:gd name="connsiteX1-45" fmla="*/ 0 w 10000"/>
              <a:gd name="connsiteY1-46" fmla="*/ 0 h 10000"/>
              <a:gd name="connsiteX2-47" fmla="*/ 274 w 10000"/>
              <a:gd name="connsiteY2-48" fmla="*/ 5005 h 10000"/>
              <a:gd name="connsiteX3-49" fmla="*/ 0 w 10000"/>
              <a:gd name="connsiteY3-50" fmla="*/ 9962 h 10000"/>
              <a:gd name="connsiteX4-51" fmla="*/ 9737 w 10000"/>
              <a:gd name="connsiteY4-52" fmla="*/ 10000 h 10000"/>
              <a:gd name="connsiteX5-53" fmla="*/ 10000 w 10000"/>
              <a:gd name="connsiteY5-54" fmla="*/ 5668 h 10000"/>
              <a:gd name="connsiteX6-55" fmla="*/ 9742 w 10000"/>
              <a:gd name="connsiteY6-56" fmla="*/ 0 h 10000"/>
              <a:gd name="connsiteX0-57" fmla="*/ 9742 w 9877"/>
              <a:gd name="connsiteY0-58" fmla="*/ 0 h 10000"/>
              <a:gd name="connsiteX1-59" fmla="*/ 0 w 9877"/>
              <a:gd name="connsiteY1-60" fmla="*/ 0 h 10000"/>
              <a:gd name="connsiteX2-61" fmla="*/ 274 w 9877"/>
              <a:gd name="connsiteY2-62" fmla="*/ 5005 h 10000"/>
              <a:gd name="connsiteX3-63" fmla="*/ 0 w 9877"/>
              <a:gd name="connsiteY3-64" fmla="*/ 9962 h 10000"/>
              <a:gd name="connsiteX4-65" fmla="*/ 9737 w 9877"/>
              <a:gd name="connsiteY4-66" fmla="*/ 10000 h 10000"/>
              <a:gd name="connsiteX5-67" fmla="*/ 9738 w 9877"/>
              <a:gd name="connsiteY5-68" fmla="*/ 5783 h 10000"/>
              <a:gd name="connsiteX6-69" fmla="*/ 9742 w 9877"/>
              <a:gd name="connsiteY6-70" fmla="*/ 0 h 10000"/>
              <a:gd name="connsiteX0-71" fmla="*/ 9863 w 9991"/>
              <a:gd name="connsiteY0-72" fmla="*/ 0 h 10000"/>
              <a:gd name="connsiteX1-73" fmla="*/ 0 w 9991"/>
              <a:gd name="connsiteY1-74" fmla="*/ 0 h 10000"/>
              <a:gd name="connsiteX2-75" fmla="*/ 277 w 9991"/>
              <a:gd name="connsiteY2-76" fmla="*/ 5005 h 10000"/>
              <a:gd name="connsiteX3-77" fmla="*/ 0 w 9991"/>
              <a:gd name="connsiteY3-78" fmla="*/ 9962 h 10000"/>
              <a:gd name="connsiteX4-79" fmla="*/ 9858 w 9991"/>
              <a:gd name="connsiteY4-80" fmla="*/ 10000 h 10000"/>
              <a:gd name="connsiteX5-81" fmla="*/ 9817 w 9991"/>
              <a:gd name="connsiteY5-82" fmla="*/ 5783 h 10000"/>
              <a:gd name="connsiteX6-83" fmla="*/ 9863 w 9991"/>
              <a:gd name="connsiteY6-84" fmla="*/ 0 h 10000"/>
              <a:gd name="connsiteX0-85" fmla="*/ 9872 w 10014"/>
              <a:gd name="connsiteY0-86" fmla="*/ 0 h 10000"/>
              <a:gd name="connsiteX1-87" fmla="*/ 0 w 10014"/>
              <a:gd name="connsiteY1-88" fmla="*/ 0 h 10000"/>
              <a:gd name="connsiteX2-89" fmla="*/ 277 w 10014"/>
              <a:gd name="connsiteY2-90" fmla="*/ 5005 h 10000"/>
              <a:gd name="connsiteX3-91" fmla="*/ 0 w 10014"/>
              <a:gd name="connsiteY3-92" fmla="*/ 9962 h 10000"/>
              <a:gd name="connsiteX4-93" fmla="*/ 9867 w 10014"/>
              <a:gd name="connsiteY4-94" fmla="*/ 10000 h 10000"/>
              <a:gd name="connsiteX5-95" fmla="*/ 9890 w 10014"/>
              <a:gd name="connsiteY5-96" fmla="*/ 5745 h 10000"/>
              <a:gd name="connsiteX6-97" fmla="*/ 9872 w 10014"/>
              <a:gd name="connsiteY6-98" fmla="*/ 0 h 10000"/>
              <a:gd name="connsiteX0-99" fmla="*/ 9872 w 10030"/>
              <a:gd name="connsiteY0-100" fmla="*/ 0 h 10000"/>
              <a:gd name="connsiteX1-101" fmla="*/ 0 w 10030"/>
              <a:gd name="connsiteY1-102" fmla="*/ 0 h 10000"/>
              <a:gd name="connsiteX2-103" fmla="*/ 277 w 10030"/>
              <a:gd name="connsiteY2-104" fmla="*/ 5005 h 10000"/>
              <a:gd name="connsiteX3-105" fmla="*/ 0 w 10030"/>
              <a:gd name="connsiteY3-106" fmla="*/ 9962 h 10000"/>
              <a:gd name="connsiteX4-107" fmla="*/ 9867 w 10030"/>
              <a:gd name="connsiteY4-108" fmla="*/ 10000 h 10000"/>
              <a:gd name="connsiteX5-109" fmla="*/ 9890 w 10030"/>
              <a:gd name="connsiteY5-110" fmla="*/ 5745 h 10000"/>
              <a:gd name="connsiteX6-111" fmla="*/ 9872 w 10030"/>
              <a:gd name="connsiteY6-112" fmla="*/ 0 h 10000"/>
              <a:gd name="connsiteX0-113" fmla="*/ 9872 w 9921"/>
              <a:gd name="connsiteY0-114" fmla="*/ 0 h 10000"/>
              <a:gd name="connsiteX1-115" fmla="*/ 0 w 9921"/>
              <a:gd name="connsiteY1-116" fmla="*/ 0 h 10000"/>
              <a:gd name="connsiteX2-117" fmla="*/ 277 w 9921"/>
              <a:gd name="connsiteY2-118" fmla="*/ 5005 h 10000"/>
              <a:gd name="connsiteX3-119" fmla="*/ 0 w 9921"/>
              <a:gd name="connsiteY3-120" fmla="*/ 9962 h 10000"/>
              <a:gd name="connsiteX4-121" fmla="*/ 9867 w 9921"/>
              <a:gd name="connsiteY4-122" fmla="*/ 10000 h 10000"/>
              <a:gd name="connsiteX5-123" fmla="*/ 9890 w 9921"/>
              <a:gd name="connsiteY5-124" fmla="*/ 5745 h 10000"/>
              <a:gd name="connsiteX6-125" fmla="*/ 9872 w 9921"/>
              <a:gd name="connsiteY6-126" fmla="*/ 0 h 10000"/>
              <a:gd name="connsiteX0-127" fmla="*/ 9951 w 9974"/>
              <a:gd name="connsiteY0-128" fmla="*/ 0 h 10000"/>
              <a:gd name="connsiteX1-129" fmla="*/ 0 w 9974"/>
              <a:gd name="connsiteY1-130" fmla="*/ 0 h 10000"/>
              <a:gd name="connsiteX2-131" fmla="*/ 279 w 9974"/>
              <a:gd name="connsiteY2-132" fmla="*/ 5005 h 10000"/>
              <a:gd name="connsiteX3-133" fmla="*/ 0 w 9974"/>
              <a:gd name="connsiteY3-134" fmla="*/ 9962 h 10000"/>
              <a:gd name="connsiteX4-135" fmla="*/ 9946 w 9974"/>
              <a:gd name="connsiteY4-136" fmla="*/ 10000 h 10000"/>
              <a:gd name="connsiteX5-137" fmla="*/ 9969 w 9974"/>
              <a:gd name="connsiteY5-138" fmla="*/ 5745 h 10000"/>
              <a:gd name="connsiteX6-139" fmla="*/ 9951 w 9974"/>
              <a:gd name="connsiteY6-140" fmla="*/ 0 h 10000"/>
              <a:gd name="connsiteX0-141" fmla="*/ 9977 w 10001"/>
              <a:gd name="connsiteY0-142" fmla="*/ 0 h 10000"/>
              <a:gd name="connsiteX1-143" fmla="*/ 0 w 10001"/>
              <a:gd name="connsiteY1-144" fmla="*/ 0 h 10000"/>
              <a:gd name="connsiteX2-145" fmla="*/ 280 w 10001"/>
              <a:gd name="connsiteY2-146" fmla="*/ 5005 h 10000"/>
              <a:gd name="connsiteX3-147" fmla="*/ 0 w 10001"/>
              <a:gd name="connsiteY3-148" fmla="*/ 9962 h 10000"/>
              <a:gd name="connsiteX4-149" fmla="*/ 9972 w 10001"/>
              <a:gd name="connsiteY4-150" fmla="*/ 10000 h 10000"/>
              <a:gd name="connsiteX5-151" fmla="*/ 9995 w 10001"/>
              <a:gd name="connsiteY5-152" fmla="*/ 5745 h 10000"/>
              <a:gd name="connsiteX6-153" fmla="*/ 9977 w 10001"/>
              <a:gd name="connsiteY6-154" fmla="*/ 0 h 10000"/>
              <a:gd name="connsiteX0-155" fmla="*/ 9977 w 10001"/>
              <a:gd name="connsiteY0-156" fmla="*/ 0 h 10000"/>
              <a:gd name="connsiteX1-157" fmla="*/ 0 w 10001"/>
              <a:gd name="connsiteY1-158" fmla="*/ 0 h 10000"/>
              <a:gd name="connsiteX2-159" fmla="*/ 280 w 10001"/>
              <a:gd name="connsiteY2-160" fmla="*/ 5005 h 10000"/>
              <a:gd name="connsiteX3-161" fmla="*/ 0 w 10001"/>
              <a:gd name="connsiteY3-162" fmla="*/ 9962 h 10000"/>
              <a:gd name="connsiteX4-163" fmla="*/ 9972 w 10001"/>
              <a:gd name="connsiteY4-164" fmla="*/ 10000 h 10000"/>
              <a:gd name="connsiteX5-165" fmla="*/ 9995 w 10001"/>
              <a:gd name="connsiteY5-166" fmla="*/ 5745 h 10000"/>
              <a:gd name="connsiteX6-167" fmla="*/ 9977 w 10001"/>
              <a:gd name="connsiteY6-168" fmla="*/ 0 h 10000"/>
              <a:gd name="connsiteX0-169" fmla="*/ 9977 w 10001"/>
              <a:gd name="connsiteY0-170" fmla="*/ 0 h 10000"/>
              <a:gd name="connsiteX1-171" fmla="*/ 0 w 10001"/>
              <a:gd name="connsiteY1-172" fmla="*/ 0 h 10000"/>
              <a:gd name="connsiteX2-173" fmla="*/ 280 w 10001"/>
              <a:gd name="connsiteY2-174" fmla="*/ 5005 h 10000"/>
              <a:gd name="connsiteX3-175" fmla="*/ 0 w 10001"/>
              <a:gd name="connsiteY3-176" fmla="*/ 9962 h 10000"/>
              <a:gd name="connsiteX4-177" fmla="*/ 9972 w 10001"/>
              <a:gd name="connsiteY4-178" fmla="*/ 10000 h 10000"/>
              <a:gd name="connsiteX5-179" fmla="*/ 9995 w 10001"/>
              <a:gd name="connsiteY5-180" fmla="*/ 5745 h 10000"/>
              <a:gd name="connsiteX6-181" fmla="*/ 9977 w 10001"/>
              <a:gd name="connsiteY6-182" fmla="*/ 0 h 10000"/>
              <a:gd name="connsiteX0-183" fmla="*/ 9977 w 9995"/>
              <a:gd name="connsiteY0-184" fmla="*/ 0 h 10000"/>
              <a:gd name="connsiteX1-185" fmla="*/ 0 w 9995"/>
              <a:gd name="connsiteY1-186" fmla="*/ 0 h 10000"/>
              <a:gd name="connsiteX2-187" fmla="*/ 280 w 9995"/>
              <a:gd name="connsiteY2-188" fmla="*/ 5005 h 10000"/>
              <a:gd name="connsiteX3-189" fmla="*/ 0 w 9995"/>
              <a:gd name="connsiteY3-190" fmla="*/ 9962 h 10000"/>
              <a:gd name="connsiteX4-191" fmla="*/ 9972 w 9995"/>
              <a:gd name="connsiteY4-192" fmla="*/ 10000 h 10000"/>
              <a:gd name="connsiteX5-193" fmla="*/ 9995 w 9995"/>
              <a:gd name="connsiteY5-194" fmla="*/ 5745 h 10000"/>
              <a:gd name="connsiteX6-195" fmla="*/ 9977 w 9995"/>
              <a:gd name="connsiteY6-196" fmla="*/ 0 h 10000"/>
              <a:gd name="connsiteX0-197" fmla="*/ 9999 w 10000"/>
              <a:gd name="connsiteY0-198" fmla="*/ 0 h 10000"/>
              <a:gd name="connsiteX1-199" fmla="*/ 0 w 10000"/>
              <a:gd name="connsiteY1-200" fmla="*/ 0 h 10000"/>
              <a:gd name="connsiteX2-201" fmla="*/ 280 w 10000"/>
              <a:gd name="connsiteY2-202" fmla="*/ 5005 h 10000"/>
              <a:gd name="connsiteX3-203" fmla="*/ 0 w 10000"/>
              <a:gd name="connsiteY3-204" fmla="*/ 9962 h 10000"/>
              <a:gd name="connsiteX4-205" fmla="*/ 9977 w 10000"/>
              <a:gd name="connsiteY4-206" fmla="*/ 10000 h 10000"/>
              <a:gd name="connsiteX5-207" fmla="*/ 10000 w 10000"/>
              <a:gd name="connsiteY5-208" fmla="*/ 5745 h 10000"/>
              <a:gd name="connsiteX6-209" fmla="*/ 9999 w 10000"/>
              <a:gd name="connsiteY6-210" fmla="*/ 0 h 10000"/>
              <a:gd name="connsiteX0-211" fmla="*/ 9999 w 10004"/>
              <a:gd name="connsiteY0-212" fmla="*/ 0 h 10000"/>
              <a:gd name="connsiteX1-213" fmla="*/ 0 w 10004"/>
              <a:gd name="connsiteY1-214" fmla="*/ 0 h 10000"/>
              <a:gd name="connsiteX2-215" fmla="*/ 280 w 10004"/>
              <a:gd name="connsiteY2-216" fmla="*/ 5005 h 10000"/>
              <a:gd name="connsiteX3-217" fmla="*/ 0 w 10004"/>
              <a:gd name="connsiteY3-218" fmla="*/ 9962 h 10000"/>
              <a:gd name="connsiteX4-219" fmla="*/ 10000 w 10004"/>
              <a:gd name="connsiteY4-220" fmla="*/ 10000 h 10000"/>
              <a:gd name="connsiteX5-221" fmla="*/ 10000 w 10004"/>
              <a:gd name="connsiteY5-222" fmla="*/ 5745 h 10000"/>
              <a:gd name="connsiteX6-223" fmla="*/ 9999 w 10004"/>
              <a:gd name="connsiteY6-224" fmla="*/ 0 h 10000"/>
              <a:gd name="connsiteX0-225" fmla="*/ 9999 w 10000"/>
              <a:gd name="connsiteY0-226" fmla="*/ 0 h 10000"/>
              <a:gd name="connsiteX1-227" fmla="*/ 0 w 10000"/>
              <a:gd name="connsiteY1-228" fmla="*/ 0 h 10000"/>
              <a:gd name="connsiteX2-229" fmla="*/ 280 w 10000"/>
              <a:gd name="connsiteY2-230" fmla="*/ 5005 h 10000"/>
              <a:gd name="connsiteX3-231" fmla="*/ 0 w 10000"/>
              <a:gd name="connsiteY3-232" fmla="*/ 9962 h 10000"/>
              <a:gd name="connsiteX4-233" fmla="*/ 10000 w 10000"/>
              <a:gd name="connsiteY4-234" fmla="*/ 10000 h 10000"/>
              <a:gd name="connsiteX5-235" fmla="*/ 10000 w 10000"/>
              <a:gd name="connsiteY5-236" fmla="*/ 5745 h 10000"/>
              <a:gd name="connsiteX6-237" fmla="*/ 9999 w 10000"/>
              <a:gd name="connsiteY6-238" fmla="*/ 0 h 10000"/>
              <a:gd name="connsiteX0-239" fmla="*/ 14796 w 14796"/>
              <a:gd name="connsiteY0-240" fmla="*/ 0 h 10000"/>
              <a:gd name="connsiteX1-241" fmla="*/ 0 w 14796"/>
              <a:gd name="connsiteY1-242" fmla="*/ 0 h 10000"/>
              <a:gd name="connsiteX2-243" fmla="*/ 280 w 14796"/>
              <a:gd name="connsiteY2-244" fmla="*/ 5005 h 10000"/>
              <a:gd name="connsiteX3-245" fmla="*/ 0 w 14796"/>
              <a:gd name="connsiteY3-246" fmla="*/ 9962 h 10000"/>
              <a:gd name="connsiteX4-247" fmla="*/ 10000 w 14796"/>
              <a:gd name="connsiteY4-248" fmla="*/ 10000 h 10000"/>
              <a:gd name="connsiteX5-249" fmla="*/ 10000 w 14796"/>
              <a:gd name="connsiteY5-250" fmla="*/ 5745 h 10000"/>
              <a:gd name="connsiteX6-251" fmla="*/ 14796 w 14796"/>
              <a:gd name="connsiteY6-252" fmla="*/ 0 h 10000"/>
              <a:gd name="connsiteX0-253" fmla="*/ 14796 w 14796"/>
              <a:gd name="connsiteY0-254" fmla="*/ 0 h 9968"/>
              <a:gd name="connsiteX1-255" fmla="*/ 0 w 14796"/>
              <a:gd name="connsiteY1-256" fmla="*/ 0 h 9968"/>
              <a:gd name="connsiteX2-257" fmla="*/ 280 w 14796"/>
              <a:gd name="connsiteY2-258" fmla="*/ 5005 h 9968"/>
              <a:gd name="connsiteX3-259" fmla="*/ 0 w 14796"/>
              <a:gd name="connsiteY3-260" fmla="*/ 9962 h 9968"/>
              <a:gd name="connsiteX4-261" fmla="*/ 14788 w 14796"/>
              <a:gd name="connsiteY4-262" fmla="*/ 9968 h 9968"/>
              <a:gd name="connsiteX5-263" fmla="*/ 10000 w 14796"/>
              <a:gd name="connsiteY5-264" fmla="*/ 5745 h 9968"/>
              <a:gd name="connsiteX6-265" fmla="*/ 14796 w 14796"/>
              <a:gd name="connsiteY6-266" fmla="*/ 0 h 9968"/>
              <a:gd name="connsiteX0-267" fmla="*/ 10000 w 10000"/>
              <a:gd name="connsiteY0-268" fmla="*/ 0 h 10000"/>
              <a:gd name="connsiteX1-269" fmla="*/ 0 w 10000"/>
              <a:gd name="connsiteY1-270" fmla="*/ 0 h 10000"/>
              <a:gd name="connsiteX2-271" fmla="*/ 189 w 10000"/>
              <a:gd name="connsiteY2-272" fmla="*/ 5021 h 10000"/>
              <a:gd name="connsiteX3-273" fmla="*/ 0 w 10000"/>
              <a:gd name="connsiteY3-274" fmla="*/ 9994 h 10000"/>
              <a:gd name="connsiteX4-275" fmla="*/ 9995 w 10000"/>
              <a:gd name="connsiteY4-276" fmla="*/ 10000 h 10000"/>
              <a:gd name="connsiteX5-277" fmla="*/ 9998 w 10000"/>
              <a:gd name="connsiteY5-278" fmla="*/ 6152 h 10000"/>
              <a:gd name="connsiteX6-279" fmla="*/ 10000 w 10000"/>
              <a:gd name="connsiteY6-280"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19" name="Freeform 11"/>
          <p:cNvSpPr/>
          <p:nvPr userDrawn="1"/>
        </p:nvSpPr>
        <p:spPr bwMode="auto">
          <a:xfrm>
            <a:off x="3108478"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520" y="1233772"/>
            <a:ext cx="10561550" cy="4681084"/>
          </a:xfrm>
        </p:spPr>
        <p:txBody>
          <a:bodyPr/>
          <a:lstStyle>
            <a:lvl1pPr marL="457200" marR="0" indent="-457200" algn="just" defTabSz="801370" rtl="0" eaLnBrk="1" fontAlgn="base" latinLnBrk="0" hangingPunct="1">
              <a:lnSpc>
                <a:spcPct val="140000"/>
              </a:lnSpc>
              <a:spcBef>
                <a:spcPct val="30000"/>
              </a:spcBef>
              <a:spcAft>
                <a:spcPct val="0"/>
              </a:spcAft>
              <a:buClr>
                <a:schemeClr val="tx1"/>
              </a:buClr>
              <a:buSzPct val="100000"/>
              <a:buFont typeface="+mj-lt"/>
              <a:buAutoNum type="arabicPeriod"/>
              <a:defRPr>
                <a:latin typeface="+mn-ea"/>
                <a:ea typeface="+mn-ea"/>
                <a:cs typeface="Arial" panose="020B0604020202090204" pitchFamily="34" charset="0"/>
              </a:defRPr>
            </a:lvl1pPr>
            <a:lvl2pPr>
              <a:buFont typeface="Wingdings" panose="05000000000000000000" pitchFamily="2" charset="2"/>
              <a:buChar char="p"/>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6" name="TextBox 10"/>
          <p:cNvSpPr txBox="1"/>
          <p:nvPr userDrawn="1"/>
        </p:nvSpPr>
        <p:spPr bwMode="auto">
          <a:xfrm>
            <a:off x="1595915" y="408874"/>
            <a:ext cx="1665836" cy="639707"/>
          </a:xfrm>
          <a:prstGeom prst="rect">
            <a:avLst/>
          </a:prstGeom>
          <a:noFill/>
          <a:ln w="9525">
            <a:noFill/>
            <a:miter lim="800000"/>
          </a:ln>
        </p:spPr>
        <p:txBody>
          <a:bodyPr wrap="square" lIns="100003" tIns="49999" rIns="100003" bIns="49999" rtlCol="0">
            <a:spAutoFit/>
          </a:bodyPr>
          <a:lstStyle/>
          <a:p>
            <a:pPr defTabSz="1001395" eaLnBrk="0" hangingPunct="0"/>
            <a:r>
              <a:rPr lang="zh-CN" altLang="en-US" sz="3500" b="1" dirty="0" smtClean="0">
                <a:solidFill>
                  <a:schemeClr val="tx1">
                    <a:lumMod val="75000"/>
                    <a:lumOff val="25000"/>
                  </a:schemeClr>
                </a:solidFill>
                <a:latin typeface="+mn-ea"/>
                <a:ea typeface="+mn-ea"/>
                <a:cs typeface="Arial" panose="020B0604020202090204" pitchFamily="34" charset="0"/>
              </a:rPr>
              <a:t>目录</a:t>
            </a:r>
            <a:endParaRPr lang="zh-CN" altLang="en-US" sz="3500" b="1" dirty="0">
              <a:solidFill>
                <a:schemeClr val="tx1">
                  <a:lumMod val="75000"/>
                  <a:lumOff val="25000"/>
                </a:schemeClr>
              </a:solidFill>
              <a:latin typeface="+mn-ea"/>
              <a:ea typeface="+mn-ea"/>
              <a:cs typeface="Arial" panose="020B0604020202090204" pitchFamily="34" charset="0"/>
            </a:endParaRPr>
          </a:p>
        </p:txBody>
      </p:sp>
      <p:sp>
        <p:nvSpPr>
          <p:cNvPr id="7"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9"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grpSp>
        <p:nvGrpSpPr>
          <p:cNvPr id="10" name="组合 9"/>
          <p:cNvGrpSpPr/>
          <p:nvPr userDrawn="1"/>
        </p:nvGrpSpPr>
        <p:grpSpPr>
          <a:xfrm>
            <a:off x="587542" y="515499"/>
            <a:ext cx="358428" cy="426458"/>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8" name="Freeform 22"/>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grpSp>
      <p:sp>
        <p:nvSpPr>
          <p:cNvPr id="29" name="Freeform 6"/>
          <p:cNvSpPr/>
          <p:nvPr userDrawn="1"/>
        </p:nvSpPr>
        <p:spPr bwMode="auto">
          <a:xfrm>
            <a:off x="3213876" y="296437"/>
            <a:ext cx="8981299" cy="8650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1" fmla="*/ 7021 w 10000"/>
              <a:gd name="connsiteY0-2" fmla="*/ 0 h 10000"/>
              <a:gd name="connsiteX1-3" fmla="*/ 0 w 10000"/>
              <a:gd name="connsiteY1-4" fmla="*/ 0 h 10000"/>
              <a:gd name="connsiteX2-5" fmla="*/ 197 w 10000"/>
              <a:gd name="connsiteY2-6" fmla="*/ 5024 h 10000"/>
              <a:gd name="connsiteX3-7" fmla="*/ 0 w 10000"/>
              <a:gd name="connsiteY3-8" fmla="*/ 10000 h 10000"/>
              <a:gd name="connsiteX4-9" fmla="*/ 10000 w 10000"/>
              <a:gd name="connsiteY4-10" fmla="*/ 10000 h 10000"/>
              <a:gd name="connsiteX5-11" fmla="*/ 7736 w 10000"/>
              <a:gd name="connsiteY5-12" fmla="*/ 5574 h 10000"/>
              <a:gd name="connsiteX6-13" fmla="*/ 7021 w 10000"/>
              <a:gd name="connsiteY6-14" fmla="*/ 0 h 10000"/>
              <a:gd name="connsiteX0-15" fmla="*/ 7021 w 7736"/>
              <a:gd name="connsiteY0-16" fmla="*/ 0 h 10038"/>
              <a:gd name="connsiteX1-17" fmla="*/ 0 w 7736"/>
              <a:gd name="connsiteY1-18" fmla="*/ 0 h 10038"/>
              <a:gd name="connsiteX2-19" fmla="*/ 197 w 7736"/>
              <a:gd name="connsiteY2-20" fmla="*/ 5024 h 10038"/>
              <a:gd name="connsiteX3-21" fmla="*/ 0 w 7736"/>
              <a:gd name="connsiteY3-22" fmla="*/ 10000 h 10038"/>
              <a:gd name="connsiteX4-23" fmla="*/ 7017 w 7736"/>
              <a:gd name="connsiteY4-24" fmla="*/ 10038 h 10038"/>
              <a:gd name="connsiteX5-25" fmla="*/ 7736 w 7736"/>
              <a:gd name="connsiteY5-26" fmla="*/ 5574 h 10038"/>
              <a:gd name="connsiteX6-27" fmla="*/ 7021 w 7736"/>
              <a:gd name="connsiteY6-28" fmla="*/ 0 h 10038"/>
              <a:gd name="connsiteX0-29" fmla="*/ 9076 w 9316"/>
              <a:gd name="connsiteY0-30" fmla="*/ 0 h 10000"/>
              <a:gd name="connsiteX1-31" fmla="*/ 0 w 9316"/>
              <a:gd name="connsiteY1-32" fmla="*/ 0 h 10000"/>
              <a:gd name="connsiteX2-33" fmla="*/ 255 w 9316"/>
              <a:gd name="connsiteY2-34" fmla="*/ 5005 h 10000"/>
              <a:gd name="connsiteX3-35" fmla="*/ 0 w 9316"/>
              <a:gd name="connsiteY3-36" fmla="*/ 9962 h 10000"/>
              <a:gd name="connsiteX4-37" fmla="*/ 9071 w 9316"/>
              <a:gd name="connsiteY4-38" fmla="*/ 10000 h 10000"/>
              <a:gd name="connsiteX5-39" fmla="*/ 9316 w 9316"/>
              <a:gd name="connsiteY5-40" fmla="*/ 5668 h 10000"/>
              <a:gd name="connsiteX6-41" fmla="*/ 9076 w 9316"/>
              <a:gd name="connsiteY6-42" fmla="*/ 0 h 10000"/>
              <a:gd name="connsiteX0-43" fmla="*/ 9742 w 10000"/>
              <a:gd name="connsiteY0-44" fmla="*/ 0 h 10000"/>
              <a:gd name="connsiteX1-45" fmla="*/ 0 w 10000"/>
              <a:gd name="connsiteY1-46" fmla="*/ 0 h 10000"/>
              <a:gd name="connsiteX2-47" fmla="*/ 274 w 10000"/>
              <a:gd name="connsiteY2-48" fmla="*/ 5005 h 10000"/>
              <a:gd name="connsiteX3-49" fmla="*/ 0 w 10000"/>
              <a:gd name="connsiteY3-50" fmla="*/ 9962 h 10000"/>
              <a:gd name="connsiteX4-51" fmla="*/ 9737 w 10000"/>
              <a:gd name="connsiteY4-52" fmla="*/ 10000 h 10000"/>
              <a:gd name="connsiteX5-53" fmla="*/ 10000 w 10000"/>
              <a:gd name="connsiteY5-54" fmla="*/ 5668 h 10000"/>
              <a:gd name="connsiteX6-55" fmla="*/ 9742 w 10000"/>
              <a:gd name="connsiteY6-56" fmla="*/ 0 h 10000"/>
              <a:gd name="connsiteX0-57" fmla="*/ 9742 w 9877"/>
              <a:gd name="connsiteY0-58" fmla="*/ 0 h 10000"/>
              <a:gd name="connsiteX1-59" fmla="*/ 0 w 9877"/>
              <a:gd name="connsiteY1-60" fmla="*/ 0 h 10000"/>
              <a:gd name="connsiteX2-61" fmla="*/ 274 w 9877"/>
              <a:gd name="connsiteY2-62" fmla="*/ 5005 h 10000"/>
              <a:gd name="connsiteX3-63" fmla="*/ 0 w 9877"/>
              <a:gd name="connsiteY3-64" fmla="*/ 9962 h 10000"/>
              <a:gd name="connsiteX4-65" fmla="*/ 9737 w 9877"/>
              <a:gd name="connsiteY4-66" fmla="*/ 10000 h 10000"/>
              <a:gd name="connsiteX5-67" fmla="*/ 9738 w 9877"/>
              <a:gd name="connsiteY5-68" fmla="*/ 5783 h 10000"/>
              <a:gd name="connsiteX6-69" fmla="*/ 9742 w 9877"/>
              <a:gd name="connsiteY6-70" fmla="*/ 0 h 10000"/>
              <a:gd name="connsiteX0-71" fmla="*/ 9863 w 9991"/>
              <a:gd name="connsiteY0-72" fmla="*/ 0 h 10000"/>
              <a:gd name="connsiteX1-73" fmla="*/ 0 w 9991"/>
              <a:gd name="connsiteY1-74" fmla="*/ 0 h 10000"/>
              <a:gd name="connsiteX2-75" fmla="*/ 277 w 9991"/>
              <a:gd name="connsiteY2-76" fmla="*/ 5005 h 10000"/>
              <a:gd name="connsiteX3-77" fmla="*/ 0 w 9991"/>
              <a:gd name="connsiteY3-78" fmla="*/ 9962 h 10000"/>
              <a:gd name="connsiteX4-79" fmla="*/ 9858 w 9991"/>
              <a:gd name="connsiteY4-80" fmla="*/ 10000 h 10000"/>
              <a:gd name="connsiteX5-81" fmla="*/ 9817 w 9991"/>
              <a:gd name="connsiteY5-82" fmla="*/ 5783 h 10000"/>
              <a:gd name="connsiteX6-83" fmla="*/ 9863 w 9991"/>
              <a:gd name="connsiteY6-84" fmla="*/ 0 h 10000"/>
              <a:gd name="connsiteX0-85" fmla="*/ 9872 w 10014"/>
              <a:gd name="connsiteY0-86" fmla="*/ 0 h 10000"/>
              <a:gd name="connsiteX1-87" fmla="*/ 0 w 10014"/>
              <a:gd name="connsiteY1-88" fmla="*/ 0 h 10000"/>
              <a:gd name="connsiteX2-89" fmla="*/ 277 w 10014"/>
              <a:gd name="connsiteY2-90" fmla="*/ 5005 h 10000"/>
              <a:gd name="connsiteX3-91" fmla="*/ 0 w 10014"/>
              <a:gd name="connsiteY3-92" fmla="*/ 9962 h 10000"/>
              <a:gd name="connsiteX4-93" fmla="*/ 9867 w 10014"/>
              <a:gd name="connsiteY4-94" fmla="*/ 10000 h 10000"/>
              <a:gd name="connsiteX5-95" fmla="*/ 9890 w 10014"/>
              <a:gd name="connsiteY5-96" fmla="*/ 5745 h 10000"/>
              <a:gd name="connsiteX6-97" fmla="*/ 9872 w 10014"/>
              <a:gd name="connsiteY6-98" fmla="*/ 0 h 10000"/>
              <a:gd name="connsiteX0-99" fmla="*/ 9872 w 10030"/>
              <a:gd name="connsiteY0-100" fmla="*/ 0 h 10000"/>
              <a:gd name="connsiteX1-101" fmla="*/ 0 w 10030"/>
              <a:gd name="connsiteY1-102" fmla="*/ 0 h 10000"/>
              <a:gd name="connsiteX2-103" fmla="*/ 277 w 10030"/>
              <a:gd name="connsiteY2-104" fmla="*/ 5005 h 10000"/>
              <a:gd name="connsiteX3-105" fmla="*/ 0 w 10030"/>
              <a:gd name="connsiteY3-106" fmla="*/ 9962 h 10000"/>
              <a:gd name="connsiteX4-107" fmla="*/ 9867 w 10030"/>
              <a:gd name="connsiteY4-108" fmla="*/ 10000 h 10000"/>
              <a:gd name="connsiteX5-109" fmla="*/ 9890 w 10030"/>
              <a:gd name="connsiteY5-110" fmla="*/ 5745 h 10000"/>
              <a:gd name="connsiteX6-111" fmla="*/ 9872 w 10030"/>
              <a:gd name="connsiteY6-112" fmla="*/ 0 h 10000"/>
              <a:gd name="connsiteX0-113" fmla="*/ 9872 w 9921"/>
              <a:gd name="connsiteY0-114" fmla="*/ 0 h 10000"/>
              <a:gd name="connsiteX1-115" fmla="*/ 0 w 9921"/>
              <a:gd name="connsiteY1-116" fmla="*/ 0 h 10000"/>
              <a:gd name="connsiteX2-117" fmla="*/ 277 w 9921"/>
              <a:gd name="connsiteY2-118" fmla="*/ 5005 h 10000"/>
              <a:gd name="connsiteX3-119" fmla="*/ 0 w 9921"/>
              <a:gd name="connsiteY3-120" fmla="*/ 9962 h 10000"/>
              <a:gd name="connsiteX4-121" fmla="*/ 9867 w 9921"/>
              <a:gd name="connsiteY4-122" fmla="*/ 10000 h 10000"/>
              <a:gd name="connsiteX5-123" fmla="*/ 9890 w 9921"/>
              <a:gd name="connsiteY5-124" fmla="*/ 5745 h 10000"/>
              <a:gd name="connsiteX6-125" fmla="*/ 9872 w 9921"/>
              <a:gd name="connsiteY6-126" fmla="*/ 0 h 10000"/>
              <a:gd name="connsiteX0-127" fmla="*/ 9951 w 9974"/>
              <a:gd name="connsiteY0-128" fmla="*/ 0 h 10000"/>
              <a:gd name="connsiteX1-129" fmla="*/ 0 w 9974"/>
              <a:gd name="connsiteY1-130" fmla="*/ 0 h 10000"/>
              <a:gd name="connsiteX2-131" fmla="*/ 279 w 9974"/>
              <a:gd name="connsiteY2-132" fmla="*/ 5005 h 10000"/>
              <a:gd name="connsiteX3-133" fmla="*/ 0 w 9974"/>
              <a:gd name="connsiteY3-134" fmla="*/ 9962 h 10000"/>
              <a:gd name="connsiteX4-135" fmla="*/ 9946 w 9974"/>
              <a:gd name="connsiteY4-136" fmla="*/ 10000 h 10000"/>
              <a:gd name="connsiteX5-137" fmla="*/ 9969 w 9974"/>
              <a:gd name="connsiteY5-138" fmla="*/ 5745 h 10000"/>
              <a:gd name="connsiteX6-139" fmla="*/ 9951 w 9974"/>
              <a:gd name="connsiteY6-140" fmla="*/ 0 h 10000"/>
              <a:gd name="connsiteX0-141" fmla="*/ 9977 w 10001"/>
              <a:gd name="connsiteY0-142" fmla="*/ 0 h 10000"/>
              <a:gd name="connsiteX1-143" fmla="*/ 0 w 10001"/>
              <a:gd name="connsiteY1-144" fmla="*/ 0 h 10000"/>
              <a:gd name="connsiteX2-145" fmla="*/ 280 w 10001"/>
              <a:gd name="connsiteY2-146" fmla="*/ 5005 h 10000"/>
              <a:gd name="connsiteX3-147" fmla="*/ 0 w 10001"/>
              <a:gd name="connsiteY3-148" fmla="*/ 9962 h 10000"/>
              <a:gd name="connsiteX4-149" fmla="*/ 9972 w 10001"/>
              <a:gd name="connsiteY4-150" fmla="*/ 10000 h 10000"/>
              <a:gd name="connsiteX5-151" fmla="*/ 9995 w 10001"/>
              <a:gd name="connsiteY5-152" fmla="*/ 5745 h 10000"/>
              <a:gd name="connsiteX6-153" fmla="*/ 9977 w 10001"/>
              <a:gd name="connsiteY6-154" fmla="*/ 0 h 10000"/>
              <a:gd name="connsiteX0-155" fmla="*/ 9977 w 10001"/>
              <a:gd name="connsiteY0-156" fmla="*/ 0 h 10000"/>
              <a:gd name="connsiteX1-157" fmla="*/ 0 w 10001"/>
              <a:gd name="connsiteY1-158" fmla="*/ 0 h 10000"/>
              <a:gd name="connsiteX2-159" fmla="*/ 280 w 10001"/>
              <a:gd name="connsiteY2-160" fmla="*/ 5005 h 10000"/>
              <a:gd name="connsiteX3-161" fmla="*/ 0 w 10001"/>
              <a:gd name="connsiteY3-162" fmla="*/ 9962 h 10000"/>
              <a:gd name="connsiteX4-163" fmla="*/ 9972 w 10001"/>
              <a:gd name="connsiteY4-164" fmla="*/ 10000 h 10000"/>
              <a:gd name="connsiteX5-165" fmla="*/ 9995 w 10001"/>
              <a:gd name="connsiteY5-166" fmla="*/ 5745 h 10000"/>
              <a:gd name="connsiteX6-167" fmla="*/ 9977 w 10001"/>
              <a:gd name="connsiteY6-168" fmla="*/ 0 h 10000"/>
              <a:gd name="connsiteX0-169" fmla="*/ 9977 w 10001"/>
              <a:gd name="connsiteY0-170" fmla="*/ 0 h 10000"/>
              <a:gd name="connsiteX1-171" fmla="*/ 0 w 10001"/>
              <a:gd name="connsiteY1-172" fmla="*/ 0 h 10000"/>
              <a:gd name="connsiteX2-173" fmla="*/ 280 w 10001"/>
              <a:gd name="connsiteY2-174" fmla="*/ 5005 h 10000"/>
              <a:gd name="connsiteX3-175" fmla="*/ 0 w 10001"/>
              <a:gd name="connsiteY3-176" fmla="*/ 9962 h 10000"/>
              <a:gd name="connsiteX4-177" fmla="*/ 9972 w 10001"/>
              <a:gd name="connsiteY4-178" fmla="*/ 10000 h 10000"/>
              <a:gd name="connsiteX5-179" fmla="*/ 9995 w 10001"/>
              <a:gd name="connsiteY5-180" fmla="*/ 5745 h 10000"/>
              <a:gd name="connsiteX6-181" fmla="*/ 9977 w 10001"/>
              <a:gd name="connsiteY6-182" fmla="*/ 0 h 10000"/>
              <a:gd name="connsiteX0-183" fmla="*/ 9977 w 9995"/>
              <a:gd name="connsiteY0-184" fmla="*/ 0 h 10000"/>
              <a:gd name="connsiteX1-185" fmla="*/ 0 w 9995"/>
              <a:gd name="connsiteY1-186" fmla="*/ 0 h 10000"/>
              <a:gd name="connsiteX2-187" fmla="*/ 280 w 9995"/>
              <a:gd name="connsiteY2-188" fmla="*/ 5005 h 10000"/>
              <a:gd name="connsiteX3-189" fmla="*/ 0 w 9995"/>
              <a:gd name="connsiteY3-190" fmla="*/ 9962 h 10000"/>
              <a:gd name="connsiteX4-191" fmla="*/ 9972 w 9995"/>
              <a:gd name="connsiteY4-192" fmla="*/ 10000 h 10000"/>
              <a:gd name="connsiteX5-193" fmla="*/ 9995 w 9995"/>
              <a:gd name="connsiteY5-194" fmla="*/ 5745 h 10000"/>
              <a:gd name="connsiteX6-195" fmla="*/ 9977 w 9995"/>
              <a:gd name="connsiteY6-196" fmla="*/ 0 h 10000"/>
              <a:gd name="connsiteX0-197" fmla="*/ 9999 w 10000"/>
              <a:gd name="connsiteY0-198" fmla="*/ 0 h 10000"/>
              <a:gd name="connsiteX1-199" fmla="*/ 0 w 10000"/>
              <a:gd name="connsiteY1-200" fmla="*/ 0 h 10000"/>
              <a:gd name="connsiteX2-201" fmla="*/ 280 w 10000"/>
              <a:gd name="connsiteY2-202" fmla="*/ 5005 h 10000"/>
              <a:gd name="connsiteX3-203" fmla="*/ 0 w 10000"/>
              <a:gd name="connsiteY3-204" fmla="*/ 9962 h 10000"/>
              <a:gd name="connsiteX4-205" fmla="*/ 9977 w 10000"/>
              <a:gd name="connsiteY4-206" fmla="*/ 10000 h 10000"/>
              <a:gd name="connsiteX5-207" fmla="*/ 10000 w 10000"/>
              <a:gd name="connsiteY5-208" fmla="*/ 5745 h 10000"/>
              <a:gd name="connsiteX6-209" fmla="*/ 9999 w 10000"/>
              <a:gd name="connsiteY6-210" fmla="*/ 0 h 10000"/>
              <a:gd name="connsiteX0-211" fmla="*/ 9999 w 10004"/>
              <a:gd name="connsiteY0-212" fmla="*/ 0 h 10000"/>
              <a:gd name="connsiteX1-213" fmla="*/ 0 w 10004"/>
              <a:gd name="connsiteY1-214" fmla="*/ 0 h 10000"/>
              <a:gd name="connsiteX2-215" fmla="*/ 280 w 10004"/>
              <a:gd name="connsiteY2-216" fmla="*/ 5005 h 10000"/>
              <a:gd name="connsiteX3-217" fmla="*/ 0 w 10004"/>
              <a:gd name="connsiteY3-218" fmla="*/ 9962 h 10000"/>
              <a:gd name="connsiteX4-219" fmla="*/ 10000 w 10004"/>
              <a:gd name="connsiteY4-220" fmla="*/ 10000 h 10000"/>
              <a:gd name="connsiteX5-221" fmla="*/ 10000 w 10004"/>
              <a:gd name="connsiteY5-222" fmla="*/ 5745 h 10000"/>
              <a:gd name="connsiteX6-223" fmla="*/ 9999 w 10004"/>
              <a:gd name="connsiteY6-224" fmla="*/ 0 h 10000"/>
              <a:gd name="connsiteX0-225" fmla="*/ 9999 w 10000"/>
              <a:gd name="connsiteY0-226" fmla="*/ 0 h 10000"/>
              <a:gd name="connsiteX1-227" fmla="*/ 0 w 10000"/>
              <a:gd name="connsiteY1-228" fmla="*/ 0 h 10000"/>
              <a:gd name="connsiteX2-229" fmla="*/ 280 w 10000"/>
              <a:gd name="connsiteY2-230" fmla="*/ 5005 h 10000"/>
              <a:gd name="connsiteX3-231" fmla="*/ 0 w 10000"/>
              <a:gd name="connsiteY3-232" fmla="*/ 9962 h 10000"/>
              <a:gd name="connsiteX4-233" fmla="*/ 10000 w 10000"/>
              <a:gd name="connsiteY4-234" fmla="*/ 10000 h 10000"/>
              <a:gd name="connsiteX5-235" fmla="*/ 10000 w 10000"/>
              <a:gd name="connsiteY5-236" fmla="*/ 5745 h 10000"/>
              <a:gd name="connsiteX6-237" fmla="*/ 9999 w 10000"/>
              <a:gd name="connsiteY6-238" fmla="*/ 0 h 10000"/>
              <a:gd name="connsiteX0-239" fmla="*/ 14796 w 14796"/>
              <a:gd name="connsiteY0-240" fmla="*/ 0 h 10000"/>
              <a:gd name="connsiteX1-241" fmla="*/ 0 w 14796"/>
              <a:gd name="connsiteY1-242" fmla="*/ 0 h 10000"/>
              <a:gd name="connsiteX2-243" fmla="*/ 280 w 14796"/>
              <a:gd name="connsiteY2-244" fmla="*/ 5005 h 10000"/>
              <a:gd name="connsiteX3-245" fmla="*/ 0 w 14796"/>
              <a:gd name="connsiteY3-246" fmla="*/ 9962 h 10000"/>
              <a:gd name="connsiteX4-247" fmla="*/ 10000 w 14796"/>
              <a:gd name="connsiteY4-248" fmla="*/ 10000 h 10000"/>
              <a:gd name="connsiteX5-249" fmla="*/ 10000 w 14796"/>
              <a:gd name="connsiteY5-250" fmla="*/ 5745 h 10000"/>
              <a:gd name="connsiteX6-251" fmla="*/ 14796 w 14796"/>
              <a:gd name="connsiteY6-252" fmla="*/ 0 h 10000"/>
              <a:gd name="connsiteX0-253" fmla="*/ 14796 w 14796"/>
              <a:gd name="connsiteY0-254" fmla="*/ 0 h 9968"/>
              <a:gd name="connsiteX1-255" fmla="*/ 0 w 14796"/>
              <a:gd name="connsiteY1-256" fmla="*/ 0 h 9968"/>
              <a:gd name="connsiteX2-257" fmla="*/ 280 w 14796"/>
              <a:gd name="connsiteY2-258" fmla="*/ 5005 h 9968"/>
              <a:gd name="connsiteX3-259" fmla="*/ 0 w 14796"/>
              <a:gd name="connsiteY3-260" fmla="*/ 9962 h 9968"/>
              <a:gd name="connsiteX4-261" fmla="*/ 14788 w 14796"/>
              <a:gd name="connsiteY4-262" fmla="*/ 9968 h 9968"/>
              <a:gd name="connsiteX5-263" fmla="*/ 10000 w 14796"/>
              <a:gd name="connsiteY5-264" fmla="*/ 5745 h 9968"/>
              <a:gd name="connsiteX6-265" fmla="*/ 14796 w 14796"/>
              <a:gd name="connsiteY6-266" fmla="*/ 0 h 9968"/>
              <a:gd name="connsiteX0-267" fmla="*/ 10000 w 10000"/>
              <a:gd name="connsiteY0-268" fmla="*/ 0 h 10000"/>
              <a:gd name="connsiteX1-269" fmla="*/ 0 w 10000"/>
              <a:gd name="connsiteY1-270" fmla="*/ 0 h 10000"/>
              <a:gd name="connsiteX2-271" fmla="*/ 189 w 10000"/>
              <a:gd name="connsiteY2-272" fmla="*/ 5021 h 10000"/>
              <a:gd name="connsiteX3-273" fmla="*/ 0 w 10000"/>
              <a:gd name="connsiteY3-274" fmla="*/ 9994 h 10000"/>
              <a:gd name="connsiteX4-275" fmla="*/ 9995 w 10000"/>
              <a:gd name="connsiteY4-276" fmla="*/ 10000 h 10000"/>
              <a:gd name="connsiteX5-277" fmla="*/ 9998 w 10000"/>
              <a:gd name="connsiteY5-278" fmla="*/ 6152 h 10000"/>
              <a:gd name="connsiteX6-279" fmla="*/ 10000 w 10000"/>
              <a:gd name="connsiteY6-280"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30" name="Freeform 11"/>
          <p:cNvSpPr/>
          <p:nvPr userDrawn="1"/>
        </p:nvSpPr>
        <p:spPr bwMode="auto">
          <a:xfrm>
            <a:off x="3108478"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95215" y="410495"/>
            <a:ext cx="9834160" cy="640948"/>
          </a:xfrm>
        </p:spPr>
        <p:txBody>
          <a:bodyPr lIns="100800" tIns="50400" rIns="100800" bIns="50400" anchor="t" anchorCtr="0"/>
          <a:lstStyle>
            <a:lvl1pPr>
              <a:defRPr b="1">
                <a:latin typeface="+mn-ea"/>
                <a:ea typeface="+mn-ea"/>
              </a:defRPr>
            </a:lvl1pPr>
          </a:lstStyle>
          <a:p>
            <a:r>
              <a:rPr lang="zh-CN" altLang="en-US" dirty="0" smtClean="0"/>
              <a:t>单击此处编辑母版标题样式</a:t>
            </a:r>
            <a:endParaRPr lang="zh-CN" altLang="en-US" dirty="0"/>
          </a:p>
        </p:txBody>
      </p:sp>
      <p:sp>
        <p:nvSpPr>
          <p:cNvPr id="3"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4"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grpSp>
        <p:nvGrpSpPr>
          <p:cNvPr id="5" name="组合 4"/>
          <p:cNvGrpSpPr/>
          <p:nvPr userDrawn="1"/>
        </p:nvGrpSpPr>
        <p:grpSpPr>
          <a:xfrm>
            <a:off x="587541" y="505896"/>
            <a:ext cx="374806" cy="445661"/>
            <a:chOff x="-1647825" y="2492375"/>
            <a:chExt cx="1947863" cy="2316163"/>
          </a:xfrm>
          <a:solidFill>
            <a:schemeClr val="bg1"/>
          </a:solidFill>
        </p:grpSpPr>
        <p:sp>
          <p:nvSpPr>
            <p:cNvPr id="6"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7"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grpSp>
      <p:sp>
        <p:nvSpPr>
          <p:cNvPr id="8" name="文本占位符 6"/>
          <p:cNvSpPr>
            <a:spLocks noGrp="1"/>
          </p:cNvSpPr>
          <p:nvPr>
            <p:ph type="body" sz="quarter" idx="10" hasCustomPrompt="1"/>
          </p:nvPr>
        </p:nvSpPr>
        <p:spPr>
          <a:xfrm>
            <a:off x="912523" y="1233773"/>
            <a:ext cx="10562798" cy="4681084"/>
          </a:xfrm>
        </p:spPr>
        <p:txBody>
          <a:bodyPr/>
          <a:lstStyle>
            <a:lvl1pPr algn="just">
              <a:defRPr>
                <a:latin typeface="+mn-ea"/>
                <a:ea typeface="+mn-ea"/>
                <a:cs typeface="Arial" panose="020B0604020202090204" pitchFamily="34" charset="0"/>
              </a:defRPr>
            </a:lvl1pPr>
          </a:lstStyle>
          <a:p>
            <a:r>
              <a:rPr lang="zh-CN" altLang="en-US" dirty="0"/>
              <a:t>单击此处输入文字</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10"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ea typeface="宋体" pitchFamily="2" charset="-122"/>
            </a:endParaRPr>
          </a:p>
        </p:txBody>
      </p:sp>
      <p:sp>
        <p:nvSpPr>
          <p:cNvPr id="11"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ea typeface="宋体" pitchFamily="2" charset="-122"/>
            </a:endParaRPr>
          </a:p>
        </p:txBody>
      </p:sp>
      <p:sp>
        <p:nvSpPr>
          <p:cNvPr id="12" name="Freeform 12"/>
          <p:cNvSpPr>
            <a:spLocks noEditPoints="1"/>
          </p:cNvSpPr>
          <p:nvPr userDrawn="1"/>
        </p:nvSpPr>
        <p:spPr bwMode="auto">
          <a:xfrm>
            <a:off x="479501" y="474185"/>
            <a:ext cx="508294" cy="509085"/>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61" tIns="45731" rIns="91461" bIns="45731" numCol="1" anchor="t" anchorCtr="0" compatLnSpc="1"/>
          <a:lstStyle/>
          <a:p>
            <a:endParaRPr lang="zh-CN" altLang="en-US" sz="2400"/>
          </a:p>
        </p:txBody>
      </p:sp>
      <p:sp>
        <p:nvSpPr>
          <p:cNvPr id="6" name="标题 1"/>
          <p:cNvSpPr>
            <a:spLocks noGrp="1"/>
          </p:cNvSpPr>
          <p:nvPr>
            <p:ph type="title"/>
          </p:nvPr>
        </p:nvSpPr>
        <p:spPr>
          <a:xfrm>
            <a:off x="1595215" y="410495"/>
            <a:ext cx="9834160" cy="640948"/>
          </a:xfrm>
        </p:spPr>
        <p:txBody>
          <a:bodyPr lIns="100800" tIns="50400" rIns="100800" bIns="50400" anchor="t" anchorCtr="0"/>
          <a:lstStyle>
            <a:lvl1pPr>
              <a:defRPr b="1">
                <a:latin typeface="+mn-ea"/>
                <a:ea typeface="+mn-ea"/>
              </a:defRPr>
            </a:lvl1p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523" y="1233772"/>
            <a:ext cx="10562799" cy="4681084"/>
          </a:xfrm>
        </p:spPr>
        <p:txBody>
          <a:bodyPr/>
          <a:lstStyle>
            <a:lvl1pPr marL="457200" marR="0" indent="-457200" algn="just" defTabSz="801370" rtl="0" eaLnBrk="1" fontAlgn="base" latinLnBrk="0" hangingPunct="1">
              <a:lnSpc>
                <a:spcPct val="140000"/>
              </a:lnSpc>
              <a:spcBef>
                <a:spcPct val="30000"/>
              </a:spcBef>
              <a:spcAft>
                <a:spcPct val="0"/>
              </a:spcAft>
              <a:buClr>
                <a:srgbClr val="808080"/>
              </a:buClr>
              <a:buSzPct val="100000"/>
              <a:buFont typeface="+mj-lt"/>
              <a:buAutoNum type="arabicPeriod"/>
              <a:defRPr sz="2000">
                <a:latin typeface="+mn-ea"/>
                <a:ea typeface="+mn-ea"/>
                <a:cs typeface="Arial" panose="020B0604020202090204" pitchFamily="34" charset="0"/>
              </a:defRPr>
            </a:lvl1pPr>
            <a:lvl2pPr marL="401955" indent="0" algn="just">
              <a:buSzPct val="100000"/>
              <a:buFont typeface="+mj-lt"/>
              <a:buNone/>
              <a:defRPr sz="1800"/>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r>
              <a:rPr lang="zh-CN" altLang="en-US" dirty="0" smtClean="0"/>
              <a:t>）</a:t>
            </a:r>
            <a:endParaRPr lang="en-US" altLang="zh-CN" dirty="0"/>
          </a:p>
        </p:txBody>
      </p:sp>
      <p:sp>
        <p:nvSpPr>
          <p:cNvPr id="5" name="TextBox 10"/>
          <p:cNvSpPr txBox="1"/>
          <p:nvPr userDrawn="1"/>
        </p:nvSpPr>
        <p:spPr bwMode="auto">
          <a:xfrm>
            <a:off x="1595915" y="408874"/>
            <a:ext cx="1665836" cy="639707"/>
          </a:xfrm>
          <a:prstGeom prst="rect">
            <a:avLst/>
          </a:prstGeom>
          <a:noFill/>
          <a:ln w="9525">
            <a:noFill/>
            <a:miter lim="800000"/>
          </a:ln>
        </p:spPr>
        <p:txBody>
          <a:bodyPr wrap="square" lIns="100003" tIns="49999" rIns="100003" bIns="49999" rtlCol="0">
            <a:spAutoFit/>
          </a:bodyPr>
          <a:lstStyle/>
          <a:p>
            <a:pPr defTabSz="1001395" eaLnBrk="0" hangingPunct="0"/>
            <a:r>
              <a:rPr lang="zh-CN" altLang="en-US" sz="3500" b="1" dirty="0">
                <a:solidFill>
                  <a:schemeClr val="tx1">
                    <a:lumMod val="75000"/>
                    <a:lumOff val="25000"/>
                  </a:schemeClr>
                </a:solidFill>
                <a:latin typeface="+mn-ea"/>
                <a:ea typeface="+mn-ea"/>
                <a:cs typeface="Arial" panose="020B0604020202090204" pitchFamily="34" charset="0"/>
              </a:rPr>
              <a:t>思考题</a:t>
            </a:r>
          </a:p>
        </p:txBody>
      </p:sp>
      <p:sp>
        <p:nvSpPr>
          <p:cNvPr id="8"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9"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grpSp>
        <p:nvGrpSpPr>
          <p:cNvPr id="10" name="组合 9"/>
          <p:cNvGrpSpPr/>
          <p:nvPr userDrawn="1"/>
        </p:nvGrpSpPr>
        <p:grpSpPr>
          <a:xfrm>
            <a:off x="479501" y="424368"/>
            <a:ext cx="495748" cy="592599"/>
            <a:chOff x="5554662" y="2422526"/>
            <a:chExt cx="690564" cy="825500"/>
          </a:xfrm>
          <a:solidFill>
            <a:schemeClr val="bg1"/>
          </a:solidFill>
        </p:grpSpPr>
        <p:sp>
          <p:nvSpPr>
            <p:cNvPr id="11" name="Freeform 30"/>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2" name="Freeform 31"/>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3" name="Freeform 32"/>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6" name="Freeform 35"/>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9" name="Freeform 38"/>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0" name="Freeform 39"/>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1" name="Freeform 40"/>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2" name="Freeform 41"/>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23" name="Freeform 42"/>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grpSp>
      <p:sp>
        <p:nvSpPr>
          <p:cNvPr id="25" name="Freeform 6"/>
          <p:cNvSpPr/>
          <p:nvPr userDrawn="1"/>
        </p:nvSpPr>
        <p:spPr bwMode="auto">
          <a:xfrm>
            <a:off x="3213876" y="296437"/>
            <a:ext cx="8981299" cy="8650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1" fmla="*/ 7021 w 10000"/>
              <a:gd name="connsiteY0-2" fmla="*/ 0 h 10000"/>
              <a:gd name="connsiteX1-3" fmla="*/ 0 w 10000"/>
              <a:gd name="connsiteY1-4" fmla="*/ 0 h 10000"/>
              <a:gd name="connsiteX2-5" fmla="*/ 197 w 10000"/>
              <a:gd name="connsiteY2-6" fmla="*/ 5024 h 10000"/>
              <a:gd name="connsiteX3-7" fmla="*/ 0 w 10000"/>
              <a:gd name="connsiteY3-8" fmla="*/ 10000 h 10000"/>
              <a:gd name="connsiteX4-9" fmla="*/ 10000 w 10000"/>
              <a:gd name="connsiteY4-10" fmla="*/ 10000 h 10000"/>
              <a:gd name="connsiteX5-11" fmla="*/ 7736 w 10000"/>
              <a:gd name="connsiteY5-12" fmla="*/ 5574 h 10000"/>
              <a:gd name="connsiteX6-13" fmla="*/ 7021 w 10000"/>
              <a:gd name="connsiteY6-14" fmla="*/ 0 h 10000"/>
              <a:gd name="connsiteX0-15" fmla="*/ 7021 w 7736"/>
              <a:gd name="connsiteY0-16" fmla="*/ 0 h 10038"/>
              <a:gd name="connsiteX1-17" fmla="*/ 0 w 7736"/>
              <a:gd name="connsiteY1-18" fmla="*/ 0 h 10038"/>
              <a:gd name="connsiteX2-19" fmla="*/ 197 w 7736"/>
              <a:gd name="connsiteY2-20" fmla="*/ 5024 h 10038"/>
              <a:gd name="connsiteX3-21" fmla="*/ 0 w 7736"/>
              <a:gd name="connsiteY3-22" fmla="*/ 10000 h 10038"/>
              <a:gd name="connsiteX4-23" fmla="*/ 7017 w 7736"/>
              <a:gd name="connsiteY4-24" fmla="*/ 10038 h 10038"/>
              <a:gd name="connsiteX5-25" fmla="*/ 7736 w 7736"/>
              <a:gd name="connsiteY5-26" fmla="*/ 5574 h 10038"/>
              <a:gd name="connsiteX6-27" fmla="*/ 7021 w 7736"/>
              <a:gd name="connsiteY6-28" fmla="*/ 0 h 10038"/>
              <a:gd name="connsiteX0-29" fmla="*/ 9076 w 9316"/>
              <a:gd name="connsiteY0-30" fmla="*/ 0 h 10000"/>
              <a:gd name="connsiteX1-31" fmla="*/ 0 w 9316"/>
              <a:gd name="connsiteY1-32" fmla="*/ 0 h 10000"/>
              <a:gd name="connsiteX2-33" fmla="*/ 255 w 9316"/>
              <a:gd name="connsiteY2-34" fmla="*/ 5005 h 10000"/>
              <a:gd name="connsiteX3-35" fmla="*/ 0 w 9316"/>
              <a:gd name="connsiteY3-36" fmla="*/ 9962 h 10000"/>
              <a:gd name="connsiteX4-37" fmla="*/ 9071 w 9316"/>
              <a:gd name="connsiteY4-38" fmla="*/ 10000 h 10000"/>
              <a:gd name="connsiteX5-39" fmla="*/ 9316 w 9316"/>
              <a:gd name="connsiteY5-40" fmla="*/ 5668 h 10000"/>
              <a:gd name="connsiteX6-41" fmla="*/ 9076 w 9316"/>
              <a:gd name="connsiteY6-42" fmla="*/ 0 h 10000"/>
              <a:gd name="connsiteX0-43" fmla="*/ 9742 w 10000"/>
              <a:gd name="connsiteY0-44" fmla="*/ 0 h 10000"/>
              <a:gd name="connsiteX1-45" fmla="*/ 0 w 10000"/>
              <a:gd name="connsiteY1-46" fmla="*/ 0 h 10000"/>
              <a:gd name="connsiteX2-47" fmla="*/ 274 w 10000"/>
              <a:gd name="connsiteY2-48" fmla="*/ 5005 h 10000"/>
              <a:gd name="connsiteX3-49" fmla="*/ 0 w 10000"/>
              <a:gd name="connsiteY3-50" fmla="*/ 9962 h 10000"/>
              <a:gd name="connsiteX4-51" fmla="*/ 9737 w 10000"/>
              <a:gd name="connsiteY4-52" fmla="*/ 10000 h 10000"/>
              <a:gd name="connsiteX5-53" fmla="*/ 10000 w 10000"/>
              <a:gd name="connsiteY5-54" fmla="*/ 5668 h 10000"/>
              <a:gd name="connsiteX6-55" fmla="*/ 9742 w 10000"/>
              <a:gd name="connsiteY6-56" fmla="*/ 0 h 10000"/>
              <a:gd name="connsiteX0-57" fmla="*/ 9742 w 9877"/>
              <a:gd name="connsiteY0-58" fmla="*/ 0 h 10000"/>
              <a:gd name="connsiteX1-59" fmla="*/ 0 w 9877"/>
              <a:gd name="connsiteY1-60" fmla="*/ 0 h 10000"/>
              <a:gd name="connsiteX2-61" fmla="*/ 274 w 9877"/>
              <a:gd name="connsiteY2-62" fmla="*/ 5005 h 10000"/>
              <a:gd name="connsiteX3-63" fmla="*/ 0 w 9877"/>
              <a:gd name="connsiteY3-64" fmla="*/ 9962 h 10000"/>
              <a:gd name="connsiteX4-65" fmla="*/ 9737 w 9877"/>
              <a:gd name="connsiteY4-66" fmla="*/ 10000 h 10000"/>
              <a:gd name="connsiteX5-67" fmla="*/ 9738 w 9877"/>
              <a:gd name="connsiteY5-68" fmla="*/ 5783 h 10000"/>
              <a:gd name="connsiteX6-69" fmla="*/ 9742 w 9877"/>
              <a:gd name="connsiteY6-70" fmla="*/ 0 h 10000"/>
              <a:gd name="connsiteX0-71" fmla="*/ 9863 w 9991"/>
              <a:gd name="connsiteY0-72" fmla="*/ 0 h 10000"/>
              <a:gd name="connsiteX1-73" fmla="*/ 0 w 9991"/>
              <a:gd name="connsiteY1-74" fmla="*/ 0 h 10000"/>
              <a:gd name="connsiteX2-75" fmla="*/ 277 w 9991"/>
              <a:gd name="connsiteY2-76" fmla="*/ 5005 h 10000"/>
              <a:gd name="connsiteX3-77" fmla="*/ 0 w 9991"/>
              <a:gd name="connsiteY3-78" fmla="*/ 9962 h 10000"/>
              <a:gd name="connsiteX4-79" fmla="*/ 9858 w 9991"/>
              <a:gd name="connsiteY4-80" fmla="*/ 10000 h 10000"/>
              <a:gd name="connsiteX5-81" fmla="*/ 9817 w 9991"/>
              <a:gd name="connsiteY5-82" fmla="*/ 5783 h 10000"/>
              <a:gd name="connsiteX6-83" fmla="*/ 9863 w 9991"/>
              <a:gd name="connsiteY6-84" fmla="*/ 0 h 10000"/>
              <a:gd name="connsiteX0-85" fmla="*/ 9872 w 10014"/>
              <a:gd name="connsiteY0-86" fmla="*/ 0 h 10000"/>
              <a:gd name="connsiteX1-87" fmla="*/ 0 w 10014"/>
              <a:gd name="connsiteY1-88" fmla="*/ 0 h 10000"/>
              <a:gd name="connsiteX2-89" fmla="*/ 277 w 10014"/>
              <a:gd name="connsiteY2-90" fmla="*/ 5005 h 10000"/>
              <a:gd name="connsiteX3-91" fmla="*/ 0 w 10014"/>
              <a:gd name="connsiteY3-92" fmla="*/ 9962 h 10000"/>
              <a:gd name="connsiteX4-93" fmla="*/ 9867 w 10014"/>
              <a:gd name="connsiteY4-94" fmla="*/ 10000 h 10000"/>
              <a:gd name="connsiteX5-95" fmla="*/ 9890 w 10014"/>
              <a:gd name="connsiteY5-96" fmla="*/ 5745 h 10000"/>
              <a:gd name="connsiteX6-97" fmla="*/ 9872 w 10014"/>
              <a:gd name="connsiteY6-98" fmla="*/ 0 h 10000"/>
              <a:gd name="connsiteX0-99" fmla="*/ 9872 w 10030"/>
              <a:gd name="connsiteY0-100" fmla="*/ 0 h 10000"/>
              <a:gd name="connsiteX1-101" fmla="*/ 0 w 10030"/>
              <a:gd name="connsiteY1-102" fmla="*/ 0 h 10000"/>
              <a:gd name="connsiteX2-103" fmla="*/ 277 w 10030"/>
              <a:gd name="connsiteY2-104" fmla="*/ 5005 h 10000"/>
              <a:gd name="connsiteX3-105" fmla="*/ 0 w 10030"/>
              <a:gd name="connsiteY3-106" fmla="*/ 9962 h 10000"/>
              <a:gd name="connsiteX4-107" fmla="*/ 9867 w 10030"/>
              <a:gd name="connsiteY4-108" fmla="*/ 10000 h 10000"/>
              <a:gd name="connsiteX5-109" fmla="*/ 9890 w 10030"/>
              <a:gd name="connsiteY5-110" fmla="*/ 5745 h 10000"/>
              <a:gd name="connsiteX6-111" fmla="*/ 9872 w 10030"/>
              <a:gd name="connsiteY6-112" fmla="*/ 0 h 10000"/>
              <a:gd name="connsiteX0-113" fmla="*/ 9872 w 9921"/>
              <a:gd name="connsiteY0-114" fmla="*/ 0 h 10000"/>
              <a:gd name="connsiteX1-115" fmla="*/ 0 w 9921"/>
              <a:gd name="connsiteY1-116" fmla="*/ 0 h 10000"/>
              <a:gd name="connsiteX2-117" fmla="*/ 277 w 9921"/>
              <a:gd name="connsiteY2-118" fmla="*/ 5005 h 10000"/>
              <a:gd name="connsiteX3-119" fmla="*/ 0 w 9921"/>
              <a:gd name="connsiteY3-120" fmla="*/ 9962 h 10000"/>
              <a:gd name="connsiteX4-121" fmla="*/ 9867 w 9921"/>
              <a:gd name="connsiteY4-122" fmla="*/ 10000 h 10000"/>
              <a:gd name="connsiteX5-123" fmla="*/ 9890 w 9921"/>
              <a:gd name="connsiteY5-124" fmla="*/ 5745 h 10000"/>
              <a:gd name="connsiteX6-125" fmla="*/ 9872 w 9921"/>
              <a:gd name="connsiteY6-126" fmla="*/ 0 h 10000"/>
              <a:gd name="connsiteX0-127" fmla="*/ 9951 w 9974"/>
              <a:gd name="connsiteY0-128" fmla="*/ 0 h 10000"/>
              <a:gd name="connsiteX1-129" fmla="*/ 0 w 9974"/>
              <a:gd name="connsiteY1-130" fmla="*/ 0 h 10000"/>
              <a:gd name="connsiteX2-131" fmla="*/ 279 w 9974"/>
              <a:gd name="connsiteY2-132" fmla="*/ 5005 h 10000"/>
              <a:gd name="connsiteX3-133" fmla="*/ 0 w 9974"/>
              <a:gd name="connsiteY3-134" fmla="*/ 9962 h 10000"/>
              <a:gd name="connsiteX4-135" fmla="*/ 9946 w 9974"/>
              <a:gd name="connsiteY4-136" fmla="*/ 10000 h 10000"/>
              <a:gd name="connsiteX5-137" fmla="*/ 9969 w 9974"/>
              <a:gd name="connsiteY5-138" fmla="*/ 5745 h 10000"/>
              <a:gd name="connsiteX6-139" fmla="*/ 9951 w 9974"/>
              <a:gd name="connsiteY6-140" fmla="*/ 0 h 10000"/>
              <a:gd name="connsiteX0-141" fmla="*/ 9977 w 10001"/>
              <a:gd name="connsiteY0-142" fmla="*/ 0 h 10000"/>
              <a:gd name="connsiteX1-143" fmla="*/ 0 w 10001"/>
              <a:gd name="connsiteY1-144" fmla="*/ 0 h 10000"/>
              <a:gd name="connsiteX2-145" fmla="*/ 280 w 10001"/>
              <a:gd name="connsiteY2-146" fmla="*/ 5005 h 10000"/>
              <a:gd name="connsiteX3-147" fmla="*/ 0 w 10001"/>
              <a:gd name="connsiteY3-148" fmla="*/ 9962 h 10000"/>
              <a:gd name="connsiteX4-149" fmla="*/ 9972 w 10001"/>
              <a:gd name="connsiteY4-150" fmla="*/ 10000 h 10000"/>
              <a:gd name="connsiteX5-151" fmla="*/ 9995 w 10001"/>
              <a:gd name="connsiteY5-152" fmla="*/ 5745 h 10000"/>
              <a:gd name="connsiteX6-153" fmla="*/ 9977 w 10001"/>
              <a:gd name="connsiteY6-154" fmla="*/ 0 h 10000"/>
              <a:gd name="connsiteX0-155" fmla="*/ 9977 w 10001"/>
              <a:gd name="connsiteY0-156" fmla="*/ 0 h 10000"/>
              <a:gd name="connsiteX1-157" fmla="*/ 0 w 10001"/>
              <a:gd name="connsiteY1-158" fmla="*/ 0 h 10000"/>
              <a:gd name="connsiteX2-159" fmla="*/ 280 w 10001"/>
              <a:gd name="connsiteY2-160" fmla="*/ 5005 h 10000"/>
              <a:gd name="connsiteX3-161" fmla="*/ 0 w 10001"/>
              <a:gd name="connsiteY3-162" fmla="*/ 9962 h 10000"/>
              <a:gd name="connsiteX4-163" fmla="*/ 9972 w 10001"/>
              <a:gd name="connsiteY4-164" fmla="*/ 10000 h 10000"/>
              <a:gd name="connsiteX5-165" fmla="*/ 9995 w 10001"/>
              <a:gd name="connsiteY5-166" fmla="*/ 5745 h 10000"/>
              <a:gd name="connsiteX6-167" fmla="*/ 9977 w 10001"/>
              <a:gd name="connsiteY6-168" fmla="*/ 0 h 10000"/>
              <a:gd name="connsiteX0-169" fmla="*/ 9977 w 10001"/>
              <a:gd name="connsiteY0-170" fmla="*/ 0 h 10000"/>
              <a:gd name="connsiteX1-171" fmla="*/ 0 w 10001"/>
              <a:gd name="connsiteY1-172" fmla="*/ 0 h 10000"/>
              <a:gd name="connsiteX2-173" fmla="*/ 280 w 10001"/>
              <a:gd name="connsiteY2-174" fmla="*/ 5005 h 10000"/>
              <a:gd name="connsiteX3-175" fmla="*/ 0 w 10001"/>
              <a:gd name="connsiteY3-176" fmla="*/ 9962 h 10000"/>
              <a:gd name="connsiteX4-177" fmla="*/ 9972 w 10001"/>
              <a:gd name="connsiteY4-178" fmla="*/ 10000 h 10000"/>
              <a:gd name="connsiteX5-179" fmla="*/ 9995 w 10001"/>
              <a:gd name="connsiteY5-180" fmla="*/ 5745 h 10000"/>
              <a:gd name="connsiteX6-181" fmla="*/ 9977 w 10001"/>
              <a:gd name="connsiteY6-182" fmla="*/ 0 h 10000"/>
              <a:gd name="connsiteX0-183" fmla="*/ 9977 w 9995"/>
              <a:gd name="connsiteY0-184" fmla="*/ 0 h 10000"/>
              <a:gd name="connsiteX1-185" fmla="*/ 0 w 9995"/>
              <a:gd name="connsiteY1-186" fmla="*/ 0 h 10000"/>
              <a:gd name="connsiteX2-187" fmla="*/ 280 w 9995"/>
              <a:gd name="connsiteY2-188" fmla="*/ 5005 h 10000"/>
              <a:gd name="connsiteX3-189" fmla="*/ 0 w 9995"/>
              <a:gd name="connsiteY3-190" fmla="*/ 9962 h 10000"/>
              <a:gd name="connsiteX4-191" fmla="*/ 9972 w 9995"/>
              <a:gd name="connsiteY4-192" fmla="*/ 10000 h 10000"/>
              <a:gd name="connsiteX5-193" fmla="*/ 9995 w 9995"/>
              <a:gd name="connsiteY5-194" fmla="*/ 5745 h 10000"/>
              <a:gd name="connsiteX6-195" fmla="*/ 9977 w 9995"/>
              <a:gd name="connsiteY6-196" fmla="*/ 0 h 10000"/>
              <a:gd name="connsiteX0-197" fmla="*/ 9999 w 10000"/>
              <a:gd name="connsiteY0-198" fmla="*/ 0 h 10000"/>
              <a:gd name="connsiteX1-199" fmla="*/ 0 w 10000"/>
              <a:gd name="connsiteY1-200" fmla="*/ 0 h 10000"/>
              <a:gd name="connsiteX2-201" fmla="*/ 280 w 10000"/>
              <a:gd name="connsiteY2-202" fmla="*/ 5005 h 10000"/>
              <a:gd name="connsiteX3-203" fmla="*/ 0 w 10000"/>
              <a:gd name="connsiteY3-204" fmla="*/ 9962 h 10000"/>
              <a:gd name="connsiteX4-205" fmla="*/ 9977 w 10000"/>
              <a:gd name="connsiteY4-206" fmla="*/ 10000 h 10000"/>
              <a:gd name="connsiteX5-207" fmla="*/ 10000 w 10000"/>
              <a:gd name="connsiteY5-208" fmla="*/ 5745 h 10000"/>
              <a:gd name="connsiteX6-209" fmla="*/ 9999 w 10000"/>
              <a:gd name="connsiteY6-210" fmla="*/ 0 h 10000"/>
              <a:gd name="connsiteX0-211" fmla="*/ 9999 w 10004"/>
              <a:gd name="connsiteY0-212" fmla="*/ 0 h 10000"/>
              <a:gd name="connsiteX1-213" fmla="*/ 0 w 10004"/>
              <a:gd name="connsiteY1-214" fmla="*/ 0 h 10000"/>
              <a:gd name="connsiteX2-215" fmla="*/ 280 w 10004"/>
              <a:gd name="connsiteY2-216" fmla="*/ 5005 h 10000"/>
              <a:gd name="connsiteX3-217" fmla="*/ 0 w 10004"/>
              <a:gd name="connsiteY3-218" fmla="*/ 9962 h 10000"/>
              <a:gd name="connsiteX4-219" fmla="*/ 10000 w 10004"/>
              <a:gd name="connsiteY4-220" fmla="*/ 10000 h 10000"/>
              <a:gd name="connsiteX5-221" fmla="*/ 10000 w 10004"/>
              <a:gd name="connsiteY5-222" fmla="*/ 5745 h 10000"/>
              <a:gd name="connsiteX6-223" fmla="*/ 9999 w 10004"/>
              <a:gd name="connsiteY6-224" fmla="*/ 0 h 10000"/>
              <a:gd name="connsiteX0-225" fmla="*/ 9999 w 10000"/>
              <a:gd name="connsiteY0-226" fmla="*/ 0 h 10000"/>
              <a:gd name="connsiteX1-227" fmla="*/ 0 w 10000"/>
              <a:gd name="connsiteY1-228" fmla="*/ 0 h 10000"/>
              <a:gd name="connsiteX2-229" fmla="*/ 280 w 10000"/>
              <a:gd name="connsiteY2-230" fmla="*/ 5005 h 10000"/>
              <a:gd name="connsiteX3-231" fmla="*/ 0 w 10000"/>
              <a:gd name="connsiteY3-232" fmla="*/ 9962 h 10000"/>
              <a:gd name="connsiteX4-233" fmla="*/ 10000 w 10000"/>
              <a:gd name="connsiteY4-234" fmla="*/ 10000 h 10000"/>
              <a:gd name="connsiteX5-235" fmla="*/ 10000 w 10000"/>
              <a:gd name="connsiteY5-236" fmla="*/ 5745 h 10000"/>
              <a:gd name="connsiteX6-237" fmla="*/ 9999 w 10000"/>
              <a:gd name="connsiteY6-238" fmla="*/ 0 h 10000"/>
              <a:gd name="connsiteX0-239" fmla="*/ 14796 w 14796"/>
              <a:gd name="connsiteY0-240" fmla="*/ 0 h 10000"/>
              <a:gd name="connsiteX1-241" fmla="*/ 0 w 14796"/>
              <a:gd name="connsiteY1-242" fmla="*/ 0 h 10000"/>
              <a:gd name="connsiteX2-243" fmla="*/ 280 w 14796"/>
              <a:gd name="connsiteY2-244" fmla="*/ 5005 h 10000"/>
              <a:gd name="connsiteX3-245" fmla="*/ 0 w 14796"/>
              <a:gd name="connsiteY3-246" fmla="*/ 9962 h 10000"/>
              <a:gd name="connsiteX4-247" fmla="*/ 10000 w 14796"/>
              <a:gd name="connsiteY4-248" fmla="*/ 10000 h 10000"/>
              <a:gd name="connsiteX5-249" fmla="*/ 10000 w 14796"/>
              <a:gd name="connsiteY5-250" fmla="*/ 5745 h 10000"/>
              <a:gd name="connsiteX6-251" fmla="*/ 14796 w 14796"/>
              <a:gd name="connsiteY6-252" fmla="*/ 0 h 10000"/>
              <a:gd name="connsiteX0-253" fmla="*/ 14796 w 14796"/>
              <a:gd name="connsiteY0-254" fmla="*/ 0 h 9968"/>
              <a:gd name="connsiteX1-255" fmla="*/ 0 w 14796"/>
              <a:gd name="connsiteY1-256" fmla="*/ 0 h 9968"/>
              <a:gd name="connsiteX2-257" fmla="*/ 280 w 14796"/>
              <a:gd name="connsiteY2-258" fmla="*/ 5005 h 9968"/>
              <a:gd name="connsiteX3-259" fmla="*/ 0 w 14796"/>
              <a:gd name="connsiteY3-260" fmla="*/ 9962 h 9968"/>
              <a:gd name="connsiteX4-261" fmla="*/ 14788 w 14796"/>
              <a:gd name="connsiteY4-262" fmla="*/ 9968 h 9968"/>
              <a:gd name="connsiteX5-263" fmla="*/ 10000 w 14796"/>
              <a:gd name="connsiteY5-264" fmla="*/ 5745 h 9968"/>
              <a:gd name="connsiteX6-265" fmla="*/ 14796 w 14796"/>
              <a:gd name="connsiteY6-266" fmla="*/ 0 h 9968"/>
              <a:gd name="connsiteX0-267" fmla="*/ 10000 w 10000"/>
              <a:gd name="connsiteY0-268" fmla="*/ 0 h 10000"/>
              <a:gd name="connsiteX1-269" fmla="*/ 0 w 10000"/>
              <a:gd name="connsiteY1-270" fmla="*/ 0 h 10000"/>
              <a:gd name="connsiteX2-271" fmla="*/ 189 w 10000"/>
              <a:gd name="connsiteY2-272" fmla="*/ 5021 h 10000"/>
              <a:gd name="connsiteX3-273" fmla="*/ 0 w 10000"/>
              <a:gd name="connsiteY3-274" fmla="*/ 9994 h 10000"/>
              <a:gd name="connsiteX4-275" fmla="*/ 9995 w 10000"/>
              <a:gd name="connsiteY4-276" fmla="*/ 10000 h 10000"/>
              <a:gd name="connsiteX5-277" fmla="*/ 9998 w 10000"/>
              <a:gd name="connsiteY5-278" fmla="*/ 6152 h 10000"/>
              <a:gd name="connsiteX6-279" fmla="*/ 10000 w 10000"/>
              <a:gd name="connsiteY6-280"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26" name="Freeform 11"/>
          <p:cNvSpPr/>
          <p:nvPr userDrawn="1"/>
        </p:nvSpPr>
        <p:spPr bwMode="auto">
          <a:xfrm>
            <a:off x="3108478"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5" name="TextBox 10"/>
          <p:cNvSpPr txBox="1"/>
          <p:nvPr userDrawn="1"/>
        </p:nvSpPr>
        <p:spPr bwMode="auto">
          <a:xfrm>
            <a:off x="1595916" y="408874"/>
            <a:ext cx="2016749" cy="639707"/>
          </a:xfrm>
          <a:prstGeom prst="rect">
            <a:avLst/>
          </a:prstGeom>
          <a:noFill/>
          <a:ln w="9525">
            <a:noFill/>
            <a:miter lim="800000"/>
          </a:ln>
        </p:spPr>
        <p:txBody>
          <a:bodyPr wrap="square" lIns="100003" tIns="49999" rIns="100003" bIns="49999" rtlCol="0">
            <a:spAutoFit/>
          </a:bodyPr>
          <a:lstStyle/>
          <a:p>
            <a:pPr defTabSz="1001395" eaLnBrk="0" hangingPunct="0"/>
            <a:r>
              <a:rPr lang="zh-CN" altLang="en-US" sz="3500" b="1" dirty="0" smtClean="0">
                <a:solidFill>
                  <a:schemeClr val="tx1">
                    <a:lumMod val="75000"/>
                    <a:lumOff val="25000"/>
                  </a:schemeClr>
                </a:solidFill>
                <a:latin typeface="+mn-ea"/>
                <a:ea typeface="+mn-ea"/>
                <a:cs typeface="Arial" panose="020B0604020202090204" pitchFamily="34" charset="0"/>
              </a:rPr>
              <a:t>本章总结</a:t>
            </a:r>
            <a:endParaRPr lang="zh-CN" altLang="en-US" sz="3500" b="1" dirty="0">
              <a:solidFill>
                <a:schemeClr val="tx1">
                  <a:lumMod val="75000"/>
                  <a:lumOff val="25000"/>
                </a:schemeClr>
              </a:solidFill>
              <a:latin typeface="+mn-ea"/>
              <a:ea typeface="+mn-ea"/>
              <a:cs typeface="Arial" panose="020B0604020202090204" pitchFamily="34" charset="0"/>
            </a:endParaRPr>
          </a:p>
        </p:txBody>
      </p:sp>
      <p:sp>
        <p:nvSpPr>
          <p:cNvPr id="9"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10"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grpSp>
        <p:nvGrpSpPr>
          <p:cNvPr id="11" name="组合 10"/>
          <p:cNvGrpSpPr/>
          <p:nvPr userDrawn="1"/>
        </p:nvGrpSpPr>
        <p:grpSpPr>
          <a:xfrm>
            <a:off x="515514" y="490962"/>
            <a:ext cx="470817" cy="475531"/>
            <a:chOff x="5540375" y="2868613"/>
            <a:chExt cx="1106488" cy="1117600"/>
          </a:xfrm>
          <a:solidFill>
            <a:schemeClr val="bg1"/>
          </a:solidFill>
        </p:grpSpPr>
        <p:sp>
          <p:nvSpPr>
            <p:cNvPr id="12" name="Freeform 6"/>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3" name="Freeform 7"/>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grpSp>
      <p:sp>
        <p:nvSpPr>
          <p:cNvPr id="14" name="文本占位符 6"/>
          <p:cNvSpPr>
            <a:spLocks noGrp="1"/>
          </p:cNvSpPr>
          <p:nvPr>
            <p:ph type="body" sz="quarter" idx="11"/>
          </p:nvPr>
        </p:nvSpPr>
        <p:spPr>
          <a:xfrm>
            <a:off x="911662" y="1233041"/>
            <a:ext cx="10562799" cy="4681084"/>
          </a:xfrm>
        </p:spPr>
        <p:txBody>
          <a:bodyPr/>
          <a:lstStyle>
            <a:lvl1pPr algn="just">
              <a:defRPr>
                <a:latin typeface="+mn-ea"/>
                <a:ea typeface="+mn-ea"/>
                <a:cs typeface="Arial" panose="020B0604020202090204" pitchFamily="34" charset="0"/>
              </a:defRPr>
            </a:lvl1pPr>
            <a:lvl5pPr>
              <a:buNone/>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523" y="1233772"/>
            <a:ext cx="10562799" cy="4681084"/>
          </a:xfrm>
        </p:spPr>
        <p:txBody>
          <a:bodyPr/>
          <a:lstStyle>
            <a:lvl1pPr algn="just">
              <a:defRPr>
                <a:latin typeface="+mn-ea"/>
                <a:ea typeface="+mn-ea"/>
                <a:cs typeface="Arial" panose="020B0604020202090204" pitchFamily="34" charset="0"/>
              </a:defRPr>
            </a:lvl1pPr>
            <a:lvl5pPr>
              <a:buNone/>
              <a:defRPr/>
            </a:lvl5pPr>
          </a:lstStyle>
          <a:p>
            <a:r>
              <a:rPr lang="zh-CN" altLang="en-US" dirty="0"/>
              <a:t>此版式用于提供给学员更多学习信息。</a:t>
            </a:r>
          </a:p>
        </p:txBody>
      </p:sp>
      <p:sp>
        <p:nvSpPr>
          <p:cNvPr id="5" name="TextBox 10"/>
          <p:cNvSpPr txBox="1"/>
          <p:nvPr userDrawn="1"/>
        </p:nvSpPr>
        <p:spPr bwMode="auto">
          <a:xfrm>
            <a:off x="1595915" y="408874"/>
            <a:ext cx="5041873" cy="639707"/>
          </a:xfrm>
          <a:prstGeom prst="rect">
            <a:avLst/>
          </a:prstGeom>
          <a:noFill/>
          <a:ln w="9525">
            <a:noFill/>
            <a:miter lim="800000"/>
          </a:ln>
        </p:spPr>
        <p:txBody>
          <a:bodyPr wrap="square" lIns="100003" tIns="49999" rIns="100003" bIns="49999" rtlCol="0">
            <a:spAutoFit/>
          </a:bodyPr>
          <a:lstStyle/>
          <a:p>
            <a:pPr defTabSz="1001395" eaLnBrk="0" hangingPunct="0"/>
            <a:r>
              <a:rPr lang="zh-CN" altLang="en-US" sz="3500" b="1" dirty="0">
                <a:solidFill>
                  <a:schemeClr val="tx1">
                    <a:lumMod val="75000"/>
                    <a:lumOff val="25000"/>
                  </a:schemeClr>
                </a:solidFill>
                <a:latin typeface="+mn-ea"/>
                <a:ea typeface="+mn-ea"/>
                <a:cs typeface="Arial" panose="020B0604020202090204" pitchFamily="34" charset="0"/>
              </a:rPr>
              <a:t>更多信息</a:t>
            </a:r>
          </a:p>
        </p:txBody>
      </p:sp>
      <p:sp>
        <p:nvSpPr>
          <p:cNvPr id="6"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10"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grpSp>
        <p:nvGrpSpPr>
          <p:cNvPr id="11" name="组合 10"/>
          <p:cNvGrpSpPr/>
          <p:nvPr userDrawn="1"/>
        </p:nvGrpSpPr>
        <p:grpSpPr>
          <a:xfrm>
            <a:off x="479501" y="480380"/>
            <a:ext cx="496710" cy="496696"/>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3" name="Freeform 7"/>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4" name="Freeform 8"/>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5" name="Freeform 9"/>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gr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523" y="1233772"/>
            <a:ext cx="10562799" cy="4681084"/>
          </a:xfrm>
        </p:spPr>
        <p:txBody>
          <a:bodyPr/>
          <a:lstStyle>
            <a:lvl1pPr algn="just">
              <a:defRPr>
                <a:latin typeface="+mn-ea"/>
                <a:ea typeface="+mn-ea"/>
                <a:cs typeface="Arial" panose="020B0604020202090204" pitchFamily="34" charset="0"/>
              </a:defRPr>
            </a:lvl1pPr>
          </a:lstStyle>
          <a:p>
            <a:endParaRPr lang="zh-CN" altLang="en-US" dirty="0"/>
          </a:p>
        </p:txBody>
      </p:sp>
      <p:sp>
        <p:nvSpPr>
          <p:cNvPr id="8" name="TextBox 10"/>
          <p:cNvSpPr txBox="1"/>
          <p:nvPr userDrawn="1"/>
        </p:nvSpPr>
        <p:spPr bwMode="auto">
          <a:xfrm>
            <a:off x="1595915" y="408874"/>
            <a:ext cx="5041873" cy="639707"/>
          </a:xfrm>
          <a:prstGeom prst="rect">
            <a:avLst/>
          </a:prstGeom>
          <a:noFill/>
          <a:ln w="9525">
            <a:noFill/>
            <a:miter lim="800000"/>
          </a:ln>
        </p:spPr>
        <p:txBody>
          <a:bodyPr wrap="square" lIns="100003" tIns="49999" rIns="100003" bIns="49999" rtlCol="0">
            <a:spAutoFit/>
          </a:bodyPr>
          <a:lstStyle/>
          <a:p>
            <a:pPr defTabSz="1001395" eaLnBrk="0" hangingPunct="0"/>
            <a:r>
              <a:rPr lang="zh-CN" altLang="en-US" sz="3500" b="1" dirty="0">
                <a:solidFill>
                  <a:schemeClr val="tx1">
                    <a:lumMod val="75000"/>
                    <a:lumOff val="25000"/>
                  </a:schemeClr>
                </a:solidFill>
                <a:latin typeface="+mn-ea"/>
                <a:ea typeface="+mn-ea"/>
                <a:cs typeface="Arial" panose="020B0604020202090204" pitchFamily="34" charset="0"/>
              </a:rPr>
              <a:t>学习推荐</a:t>
            </a:r>
          </a:p>
        </p:txBody>
      </p:sp>
      <p:sp>
        <p:nvSpPr>
          <p:cNvPr id="9" name="Freeform 9"/>
          <p:cNvSpPr/>
          <p:nvPr userDrawn="1"/>
        </p:nvSpPr>
        <p:spPr bwMode="auto">
          <a:xfrm>
            <a:off x="3115" y="296437"/>
            <a:ext cx="1376721" cy="8645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sp>
        <p:nvSpPr>
          <p:cNvPr id="10" name="Freeform 11"/>
          <p:cNvSpPr/>
          <p:nvPr userDrawn="1"/>
        </p:nvSpPr>
        <p:spPr bwMode="auto">
          <a:xfrm>
            <a:off x="1246513" y="296437"/>
            <a:ext cx="233424" cy="8645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61" tIns="45731" rIns="91461" bIns="45731" numCol="1" spcCol="0" rtlCol="0" fromWordArt="0" anchor="t" anchorCtr="0" forceAA="0" compatLnSpc="1">
            <a:noAutofit/>
          </a:bodyPr>
          <a:lstStyle/>
          <a:p>
            <a:endParaRPr lang="zh-CN" altLang="en-US" sz="2400">
              <a:latin typeface="+mn-ea"/>
              <a:ea typeface="+mn-ea"/>
            </a:endParaRPr>
          </a:p>
        </p:txBody>
      </p:sp>
      <p:grpSp>
        <p:nvGrpSpPr>
          <p:cNvPr id="11" name="组合 10"/>
          <p:cNvGrpSpPr/>
          <p:nvPr userDrawn="1"/>
        </p:nvGrpSpPr>
        <p:grpSpPr>
          <a:xfrm>
            <a:off x="515515" y="457035"/>
            <a:ext cx="462083" cy="485302"/>
            <a:chOff x="-779463" y="1835151"/>
            <a:chExt cx="1136650" cy="1193799"/>
          </a:xfrm>
          <a:solidFill>
            <a:schemeClr val="bg1"/>
          </a:solidFill>
        </p:grpSpPr>
        <p:sp>
          <p:nvSpPr>
            <p:cNvPr id="12" name="Freeform 6"/>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4" name="Freeform 8"/>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ea"/>
                <a:ea typeface="+mn-ea"/>
              </a:endParaRPr>
            </a:p>
          </p:txBody>
        </p:sp>
      </p:gr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400" y="2130425"/>
            <a:ext cx="10366375" cy="1471613"/>
          </a:xfrm>
        </p:spPr>
        <p:txBody>
          <a:bodyPr>
            <a:normAutofit/>
          </a:bodyPr>
          <a:lstStyle>
            <a:lvl1pPr algn="ctr">
              <a:defRPr sz="4000">
                <a:latin typeface="微软雅黑" pitchFamily="34" charset="-122"/>
                <a:ea typeface="微软雅黑" pitchFamily="34" charset="-122"/>
              </a:defRPr>
            </a:lvl1pPr>
          </a:lstStyle>
          <a:p>
            <a:r>
              <a:rPr lang="zh-CN" altLang="en-US" dirty="0" smtClean="0"/>
              <a:t>微软雅黑 </a:t>
            </a:r>
            <a:r>
              <a:rPr lang="en-US" altLang="zh-CN" dirty="0" smtClean="0"/>
              <a:t>40pt </a:t>
            </a:r>
            <a:r>
              <a:rPr lang="zh-CN" altLang="en-US" dirty="0" smtClean="0"/>
              <a:t>，居中，最多两行</a:t>
            </a:r>
            <a:endParaRPr lang="zh-CN" altLang="en-US" dirty="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10"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2.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pic>
        <p:nvPicPr>
          <p:cNvPr id="10" name="图片 9"/>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58027" y="6310114"/>
            <a:ext cx="1808790" cy="252977"/>
          </a:xfrm>
          <a:prstGeom prst="rect">
            <a:avLst/>
          </a:prstGeom>
        </p:spPr>
      </p:pic>
      <p:pic>
        <p:nvPicPr>
          <p:cNvPr id="7" name="图片 6"/>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552971" y="364213"/>
            <a:ext cx="568567" cy="582898"/>
          </a:xfrm>
          <a:prstGeom prst="rect">
            <a:avLst/>
          </a:prstGeom>
        </p:spPr>
      </p:pic>
      <p:pic>
        <p:nvPicPr>
          <p:cNvPr id="3" name="图片 2"/>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4939" y="6169362"/>
            <a:ext cx="2610997" cy="526588"/>
          </a:xfrm>
          <a:prstGeom prst="rect">
            <a:avLst/>
          </a:prstGeom>
        </p:spPr>
      </p:pic>
      <p:pic>
        <p:nvPicPr>
          <p:cNvPr id="6" name="图片 5"/>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349333" y="474335"/>
            <a:ext cx="1364878" cy="43517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09575" y="468784"/>
            <a:ext cx="11376025" cy="1042516"/>
          </a:xfrm>
          <a:prstGeom prst="rect">
            <a:avLst/>
          </a:prstGeom>
        </p:spPr>
        <p:txBody>
          <a:bodyPr vert="horz" lIns="91440" tIns="45720" rIns="91440" bIns="45720" rtlCol="0" anchor="ctr">
            <a:normAutofit/>
          </a:bodyPr>
          <a:lstStyle/>
          <a:p>
            <a:r>
              <a:rPr lang="zh-CN" altLang="en-US" dirty="0" smtClean="0"/>
              <a:t>微软雅黑 左对齐 一行</a:t>
            </a:r>
            <a:endParaRPr lang="zh-CN" altLang="en-US" dirty="0"/>
          </a:p>
        </p:txBody>
      </p:sp>
      <p:sp>
        <p:nvSpPr>
          <p:cNvPr id="3" name="文本占位符 2"/>
          <p:cNvSpPr>
            <a:spLocks noGrp="1"/>
          </p:cNvSpPr>
          <p:nvPr>
            <p:ph type="body" idx="1"/>
          </p:nvPr>
        </p:nvSpPr>
        <p:spPr>
          <a:xfrm>
            <a:off x="609600" y="1600200"/>
            <a:ext cx="10975975" cy="4527550"/>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8" name="Rectangle 5"/>
          <p:cNvSpPr>
            <a:spLocks noChangeArrowheads="1"/>
          </p:cNvSpPr>
          <p:nvPr userDrawn="1"/>
        </p:nvSpPr>
        <p:spPr bwMode="auto">
          <a:xfrm>
            <a:off x="2153124" y="6526138"/>
            <a:ext cx="272055" cy="195943"/>
          </a:xfrm>
          <a:prstGeom prst="rect">
            <a:avLst/>
          </a:prstGeom>
          <a:noFill/>
          <a:ln w="9525">
            <a:noFill/>
            <a:miter lim="800000"/>
          </a:ln>
        </p:spPr>
        <p:txBody>
          <a:bodyPr lIns="0" tIns="0" rIns="0" bIns="0"/>
          <a:lstStyle/>
          <a:p>
            <a:pPr eaLnBrk="0" hangingPunct="0">
              <a:lnSpc>
                <a:spcPct val="85000"/>
              </a:lnSpc>
              <a:defRPr/>
            </a:pPr>
            <a:fld id="{F350CB96-EF0E-44F1-90D2-2D2DCEB1810F}" type="slidenum">
              <a:rPr lang="de-DE" altLang="zh-CN" sz="900" b="0" smtClean="0">
                <a:solidFill>
                  <a:schemeClr val="bg1">
                    <a:lumMod val="65000"/>
                  </a:schemeClr>
                </a:solidFill>
                <a:latin typeface="+mn-lt"/>
                <a:ea typeface="+mn-ea"/>
              </a:rPr>
              <a:t>‹#›</a:t>
            </a:fld>
            <a:endParaRPr lang="en-GB" altLang="zh-CN" sz="900" b="0" dirty="0">
              <a:solidFill>
                <a:schemeClr val="bg1">
                  <a:lumMod val="65000"/>
                </a:schemeClr>
              </a:solidFill>
              <a:latin typeface="+mn-lt"/>
              <a:ea typeface="+mn-ea"/>
            </a:endParaRPr>
          </a:p>
        </p:txBody>
      </p:sp>
      <p:pic>
        <p:nvPicPr>
          <p:cNvPr id="4" name="图片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64939" y="6440416"/>
            <a:ext cx="1808790" cy="252977"/>
          </a:xfrm>
          <a:prstGeom prst="rect">
            <a:avLst/>
          </a:prstGeom>
        </p:spPr>
      </p:pic>
      <p:pic>
        <p:nvPicPr>
          <p:cNvPr id="9" name="图片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458726" y="6237331"/>
            <a:ext cx="2591570" cy="640445"/>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iming>
    <p:tnLst>
      <p:par>
        <p:cTn id="1" dur="indefinite" restart="never" nodeType="tmRoot"/>
      </p:par>
    </p:tnLst>
  </p:timing>
  <p:txStyles>
    <p:titleStyle>
      <a:lvl1pPr algn="l" defTabSz="914400" rtl="0" eaLnBrk="1" latinLnBrk="0" hangingPunct="1">
        <a:spcBef>
          <a:spcPct val="0"/>
        </a:spcBef>
        <a:buNone/>
        <a:defRPr sz="3200" kern="1200" baseline="0">
          <a:solidFill>
            <a:schemeClr val="tx1"/>
          </a:solidFill>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2800" kern="1200">
          <a:solidFill>
            <a:srgbClr val="595959"/>
          </a:solidFill>
          <a:latin typeface="微软雅黑" pitchFamily="34" charset="-122"/>
          <a:ea typeface="微软雅黑" pitchFamily="34" charset="-122"/>
          <a:cs typeface="+mn-cs"/>
        </a:defRPr>
      </a:lvl1pPr>
      <a:lvl2pPr marL="742950" indent="-285750" algn="l" defTabSz="914400" rtl="0" eaLnBrk="1" latinLnBrk="0" hangingPunct="1">
        <a:spcBef>
          <a:spcPct val="20000"/>
        </a:spcBef>
        <a:buFont typeface="Arial" panose="020B0604020202090204" pitchFamily="34" charset="0"/>
        <a:buChar char="–"/>
        <a:defRPr sz="2400" kern="1200">
          <a:solidFill>
            <a:srgbClr val="595959"/>
          </a:solidFill>
          <a:latin typeface="微软雅黑" pitchFamily="34" charset="-122"/>
          <a:ea typeface="微软雅黑" pitchFamily="34" charset="-122"/>
          <a:cs typeface="+mn-cs"/>
        </a:defRPr>
      </a:lvl2pPr>
      <a:lvl3pPr marL="1143000" indent="-228600" algn="l" defTabSz="914400" rtl="0" eaLnBrk="1" latinLnBrk="0" hangingPunct="1">
        <a:spcBef>
          <a:spcPct val="20000"/>
        </a:spcBef>
        <a:buFont typeface="Arial" panose="020B0604020202090204" pitchFamily="34" charset="0"/>
        <a:buChar char="•"/>
        <a:defRPr sz="2000" kern="1200">
          <a:solidFill>
            <a:srgbClr val="595959"/>
          </a:solidFill>
          <a:latin typeface="微软雅黑" pitchFamily="34" charset="-122"/>
          <a:ea typeface="微软雅黑" pitchFamily="34" charset="-122"/>
          <a:cs typeface="+mn-cs"/>
        </a:defRPr>
      </a:lvl3pPr>
      <a:lvl4pPr marL="1600200" indent="-228600" algn="l" defTabSz="914400" rtl="0" eaLnBrk="1" latinLnBrk="0" hangingPunct="1">
        <a:spcBef>
          <a:spcPct val="20000"/>
        </a:spcBef>
        <a:buFont typeface="Arial" panose="020B0604020202090204" pitchFamily="34" charset="0"/>
        <a:buChar char="–"/>
        <a:defRPr sz="1800" kern="1200">
          <a:solidFill>
            <a:srgbClr val="595959"/>
          </a:solidFill>
          <a:latin typeface="微软雅黑" pitchFamily="34" charset="-122"/>
          <a:ea typeface="微软雅黑" pitchFamily="34" charset="-122"/>
          <a:cs typeface="+mn-cs"/>
        </a:defRPr>
      </a:lvl4pPr>
      <a:lvl5pPr marL="2057400" indent="-228600" algn="l" defTabSz="914400" rtl="0" eaLnBrk="1" latinLnBrk="0" hangingPunct="1">
        <a:spcBef>
          <a:spcPct val="20000"/>
        </a:spcBef>
        <a:buFont typeface="Arial" panose="020B0604020202090204" pitchFamily="34" charset="0"/>
        <a:buChar char="»"/>
        <a:defRPr sz="1600" kern="1200">
          <a:solidFill>
            <a:srgbClr val="595959"/>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www.cnblogs.com/geo-will/p/11032342.html" TargetMode="External"/><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hyperlink" Target="https://blog.csdn.net/weixin_44791964/article/details/102779878" TargetMode="External"/><Relationship Id="rId4" Type="http://schemas.openxmlformats.org/officeDocument/2006/relationships/hyperlink" Target="https://blog.csdn.net/weixin_44791964/article/details/10410727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tif"/><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8.xml"/><Relationship Id="rId16" Type="http://schemas.openxmlformats.org/officeDocument/2006/relationships/image" Target="../media/image27.png"/><Relationship Id="rId1" Type="http://schemas.openxmlformats.org/officeDocument/2006/relationships/slideLayout" Target="../slideLayouts/slideLayout9.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weiliu89/caffe/blob/ssd/examples/ssd/ssd_detect.py" TargetMode="External"/><Relationship Id="rId2" Type="http://schemas.openxmlformats.org/officeDocument/2006/relationships/hyperlink" Target="https://github.com/weiliu89/caffe/tree/ssd" TargetMode="External"/><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hyperlink" Target="https://lab.huaweicloud.com/testdetail.html?testId=441" TargetMode="External"/><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hyperlink" Target="http://ascend.huawei.com/" TargetMode="External"/><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hyperlink" Target="https://www.huaweicloud.com/ascend/Apps" TargetMode="Externa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68995" y="1696995"/>
            <a:ext cx="7508240" cy="645160"/>
          </a:xfrm>
          <a:prstGeom prst="rect">
            <a:avLst/>
          </a:prstGeom>
          <a:noFill/>
        </p:spPr>
        <p:txBody>
          <a:bodyPr wrap="none" rtlCol="0">
            <a:spAutoFit/>
          </a:bodyPr>
          <a:lstStyle/>
          <a:p>
            <a:pPr algn="l" fontAlgn="auto">
              <a:spcAft>
                <a:spcPts val="4000"/>
              </a:spcAft>
            </a:pPr>
            <a:r>
              <a:rPr lang="zh-CN" altLang="en-US" sz="3600" b="1" dirty="0" smtClean="0">
                <a:cs typeface="+mn-ea"/>
                <a:sym typeface="+mn-lt"/>
              </a:rPr>
              <a:t>基于昇腾处理器的人工智能应用开发</a:t>
            </a:r>
          </a:p>
        </p:txBody>
      </p:sp>
      <p:sp>
        <p:nvSpPr>
          <p:cNvPr id="3" name="文本框 2"/>
          <p:cNvSpPr txBox="1"/>
          <p:nvPr/>
        </p:nvSpPr>
        <p:spPr>
          <a:xfrm>
            <a:off x="768985" y="3099435"/>
            <a:ext cx="3669665" cy="460375"/>
          </a:xfrm>
          <a:prstGeom prst="rect">
            <a:avLst/>
          </a:prstGeom>
          <a:noFill/>
        </p:spPr>
        <p:txBody>
          <a:bodyPr wrap="square" rtlCol="0">
            <a:spAutoFit/>
          </a:bodyPr>
          <a:lstStyle/>
          <a:p>
            <a:r>
              <a:rPr lang="zh-CN" altLang="en-US" b="1">
                <a:latin typeface="Microsoft YaHei" panose="020B0503020204020204" charset="-122"/>
                <a:ea typeface="Microsoft YaHei" panose="020B0503020204020204" charset="-122"/>
              </a:rPr>
              <a:t>目标检测应用案例实战</a:t>
            </a:r>
          </a:p>
        </p:txBody>
      </p:sp>
    </p:spTree>
  </p:cSld>
  <p:clrMapOvr>
    <a:masterClrMapping/>
  </p:clrMapOvr>
  <mc:AlternateContent xmlns:mc="http://schemas.openxmlformats.org/markup-compatibility/2006" xmlns:p14="http://schemas.microsoft.com/office/powerpoint/2010/main">
    <mc:Choice Requires="p14">
      <p:transition spd="med" p14:dur="700" advTm="2993">
        <p:fade/>
      </p:transition>
    </mc:Choice>
    <mc:Fallback xmlns="">
      <p:transition spd="med" advTm="2993">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t>目标检测概述</a:t>
            </a:r>
            <a:endParaRPr lang="en-US" altLang="zh-CN" b="1" dirty="0" smtClean="0"/>
          </a:p>
          <a:p>
            <a:r>
              <a:rPr lang="zh-CN" altLang="en-US" dirty="0" smtClean="0"/>
              <a:t>目标检测关键技术</a:t>
            </a:r>
            <a:endParaRPr lang="en-US" altLang="zh-CN" dirty="0" smtClean="0"/>
          </a:p>
          <a:p>
            <a:r>
              <a:rPr lang="zh-CN" altLang="en-US" dirty="0" smtClean="0"/>
              <a:t>基于昇腾</a:t>
            </a:r>
            <a:r>
              <a:rPr lang="en-US" altLang="zh-CN" dirty="0" smtClean="0"/>
              <a:t>AI</a:t>
            </a:r>
            <a:r>
              <a:rPr lang="zh-CN" altLang="en-US" dirty="0" smtClean="0"/>
              <a:t>处理器的应用开发流程</a:t>
            </a:r>
            <a:endParaRPr lang="en-US" altLang="zh-CN" dirty="0" smtClean="0"/>
          </a:p>
          <a:p>
            <a:r>
              <a:rPr lang="zh-CN" altLang="en-US" dirty="0" smtClean="0"/>
              <a:t>目标检测应用开发实战</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1430"/>
    </mc:Choice>
    <mc:Fallback xmlns="">
      <p:transition spd="slow" advTm="1143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目标检测是什么</a:t>
            </a:r>
            <a:endParaRPr lang="zh-CN" altLang="en-US" dirty="0"/>
          </a:p>
        </p:txBody>
      </p:sp>
      <p:sp>
        <p:nvSpPr>
          <p:cNvPr id="3" name="矩形 2"/>
          <p:cNvSpPr/>
          <p:nvPr/>
        </p:nvSpPr>
        <p:spPr>
          <a:xfrm>
            <a:off x="885864" y="1341562"/>
            <a:ext cx="10684331" cy="1015663"/>
          </a:xfrm>
          <a:prstGeom prst="rect">
            <a:avLst/>
          </a:prstGeom>
        </p:spPr>
        <p:txBody>
          <a:bodyPr wrap="square">
            <a:spAutoFit/>
          </a:bodyPr>
          <a:lstStyle/>
          <a:p>
            <a:r>
              <a:rPr lang="zh-CN" altLang="en-US" sz="2000" dirty="0" smtClean="0"/>
              <a:t>随着</a:t>
            </a:r>
            <a:r>
              <a:rPr lang="zh-CN" altLang="en-US" sz="2000" dirty="0"/>
              <a:t>深度学习和计算机视觉</a:t>
            </a:r>
            <a:r>
              <a:rPr lang="zh-CN" altLang="en-US" sz="2000" dirty="0" smtClean="0"/>
              <a:t>的快速发展，</a:t>
            </a:r>
            <a:r>
              <a:rPr lang="zh-CN" altLang="en-US" sz="2000" dirty="0"/>
              <a:t>相关技术已经在诸多领域广泛应用。目标检测（</a:t>
            </a:r>
            <a:r>
              <a:rPr lang="en-US" altLang="zh-CN" sz="2000" dirty="0"/>
              <a:t>Object Detection</a:t>
            </a:r>
            <a:r>
              <a:rPr lang="zh-CN" altLang="en-US" sz="2000" dirty="0"/>
              <a:t>）作为图像理解中的重要一环，其任务是找出图像中所有感兴趣的目标（物体），确定它们的位置和大小，是</a:t>
            </a:r>
            <a:r>
              <a:rPr lang="zh-CN" altLang="en-US" sz="2000" b="1" dirty="0"/>
              <a:t>机器视觉领域的核心问题</a:t>
            </a:r>
            <a:r>
              <a:rPr lang="zh-CN" altLang="en-US" sz="2000" dirty="0"/>
              <a:t>之一。</a:t>
            </a:r>
          </a:p>
        </p:txBody>
      </p:sp>
      <p:pic>
        <p:nvPicPr>
          <p:cNvPr id="4" name="图片 3"/>
          <p:cNvPicPr>
            <a:picLocks noChangeAspect="1"/>
          </p:cNvPicPr>
          <p:nvPr/>
        </p:nvPicPr>
        <p:blipFill>
          <a:blip r:embed="rId3"/>
          <a:stretch>
            <a:fillRect/>
          </a:stretch>
        </p:blipFill>
        <p:spPr>
          <a:xfrm>
            <a:off x="868754" y="2917016"/>
            <a:ext cx="10444356" cy="2208663"/>
          </a:xfrm>
          <a:prstGeom prst="rect">
            <a:avLst/>
          </a:prstGeom>
        </p:spPr>
      </p:pic>
      <p:sp>
        <p:nvSpPr>
          <p:cNvPr id="5" name="矩形 4"/>
          <p:cNvSpPr/>
          <p:nvPr/>
        </p:nvSpPr>
        <p:spPr>
          <a:xfrm>
            <a:off x="885865" y="5302002"/>
            <a:ext cx="10427246" cy="923330"/>
          </a:xfrm>
          <a:prstGeom prst="rect">
            <a:avLst/>
          </a:prstGeom>
        </p:spPr>
        <p:txBody>
          <a:bodyPr wrap="square">
            <a:spAutoFit/>
          </a:bodyPr>
          <a:lstStyle/>
          <a:p>
            <a:r>
              <a:rPr lang="zh-CN" altLang="en-US" sz="2000" dirty="0"/>
              <a:t>由于各类物体有不同的外观，形状，姿态，加上成像时光照，遮挡等因素的干扰，目标检测一直是机器视觉领域</a:t>
            </a:r>
            <a:r>
              <a:rPr lang="zh-CN" altLang="en-US" sz="2000" b="1" dirty="0"/>
              <a:t>最具有挑战性</a:t>
            </a:r>
            <a:r>
              <a:rPr lang="zh-CN" altLang="en-US" sz="2000" dirty="0"/>
              <a:t>的问题</a:t>
            </a:r>
            <a:r>
              <a:rPr lang="zh-CN" altLang="en-US" sz="2000" dirty="0" smtClean="0"/>
              <a:t>。</a:t>
            </a:r>
            <a:endParaRPr lang="en-US" altLang="zh-CN" sz="2000" dirty="0" smtClean="0"/>
          </a:p>
          <a:p>
            <a:r>
              <a:rPr lang="zh-CN" altLang="en-US" sz="1200" dirty="0" smtClean="0"/>
              <a:t>图片来源：</a:t>
            </a:r>
            <a:r>
              <a:rPr lang="en-US" altLang="zh-CN" sz="1200" dirty="0"/>
              <a:t>https://www.cnblogs.com/geo-will/p/11032342.html</a:t>
            </a:r>
            <a:endParaRPr lang="en-US" altLang="zh-CN" sz="12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目标检测社会价值、商业价值</a:t>
            </a:r>
            <a:endParaRPr lang="zh-CN" altLang="en-US" dirty="0"/>
          </a:p>
        </p:txBody>
      </p:sp>
      <p:sp>
        <p:nvSpPr>
          <p:cNvPr id="3" name="矩形 2"/>
          <p:cNvSpPr/>
          <p:nvPr/>
        </p:nvSpPr>
        <p:spPr>
          <a:xfrm>
            <a:off x="624979" y="1269554"/>
            <a:ext cx="11017224" cy="1077218"/>
          </a:xfrm>
          <a:prstGeom prst="rect">
            <a:avLst/>
          </a:prstGeom>
        </p:spPr>
        <p:txBody>
          <a:bodyPr wrap="square">
            <a:spAutoFit/>
          </a:bodyPr>
          <a:lstStyle/>
          <a:p>
            <a:r>
              <a:rPr lang="zh-CN" altLang="en-US" dirty="0"/>
              <a:t>目标检测在很多领域都有应用需求，包括人脸检测，行人检测，车辆检测以及遥感影像中的重要地物检测等</a:t>
            </a:r>
            <a:r>
              <a:rPr lang="zh-CN" altLang="en-US" dirty="0" smtClean="0"/>
              <a:t>。</a:t>
            </a:r>
            <a:r>
              <a:rPr lang="zh-CN" altLang="en-US" sz="1200" dirty="0" smtClean="0"/>
              <a:t>（图片</a:t>
            </a:r>
            <a:r>
              <a:rPr lang="zh-CN" altLang="en-US" sz="1200" dirty="0"/>
              <a:t>来源：</a:t>
            </a:r>
            <a:r>
              <a:rPr lang="en-US" altLang="zh-CN" sz="1200" dirty="0">
                <a:hlinkClick r:id="rId3"/>
              </a:rPr>
              <a:t>https://</a:t>
            </a:r>
            <a:r>
              <a:rPr lang="en-US" altLang="zh-CN" sz="1200" dirty="0" smtClean="0">
                <a:hlinkClick r:id="rId3"/>
              </a:rPr>
              <a:t>www.cnblogs.com/geo-will/p/11032342.html</a:t>
            </a:r>
            <a:r>
              <a:rPr lang="zh-CN" altLang="en-US" sz="1200" dirty="0" smtClean="0"/>
              <a:t>）</a:t>
            </a:r>
            <a:endParaRPr lang="en-US" altLang="zh-CN" sz="1200" dirty="0"/>
          </a:p>
          <a:p>
            <a:endParaRPr lang="zh-CN" altLang="en-US" sz="1600" dirty="0"/>
          </a:p>
        </p:txBody>
      </p:sp>
      <p:pic>
        <p:nvPicPr>
          <p:cNvPr id="5" name="图片 4"/>
          <p:cNvPicPr>
            <a:picLocks noChangeAspect="1"/>
          </p:cNvPicPr>
          <p:nvPr/>
        </p:nvPicPr>
        <p:blipFill>
          <a:blip r:embed="rId4"/>
          <a:stretch>
            <a:fillRect/>
          </a:stretch>
        </p:blipFill>
        <p:spPr>
          <a:xfrm>
            <a:off x="705918" y="2095186"/>
            <a:ext cx="5400675" cy="2447925"/>
          </a:xfrm>
          <a:prstGeom prst="rect">
            <a:avLst/>
          </a:prstGeom>
        </p:spPr>
      </p:pic>
      <p:pic>
        <p:nvPicPr>
          <p:cNvPr id="6" name="图片 5"/>
          <p:cNvPicPr>
            <a:picLocks noChangeAspect="1"/>
          </p:cNvPicPr>
          <p:nvPr/>
        </p:nvPicPr>
        <p:blipFill>
          <a:blip r:embed="rId5"/>
          <a:stretch>
            <a:fillRect/>
          </a:stretch>
        </p:blipFill>
        <p:spPr>
          <a:xfrm>
            <a:off x="6394625" y="2061642"/>
            <a:ext cx="5031554" cy="2848748"/>
          </a:xfrm>
          <a:prstGeom prst="rect">
            <a:avLst/>
          </a:prstGeom>
        </p:spPr>
      </p:pic>
      <p:pic>
        <p:nvPicPr>
          <p:cNvPr id="7" name="图片 6"/>
          <p:cNvPicPr>
            <a:picLocks noChangeAspect="1"/>
          </p:cNvPicPr>
          <p:nvPr/>
        </p:nvPicPr>
        <p:blipFill>
          <a:blip r:embed="rId6"/>
          <a:stretch>
            <a:fillRect/>
          </a:stretch>
        </p:blipFill>
        <p:spPr>
          <a:xfrm>
            <a:off x="710740" y="3683938"/>
            <a:ext cx="4572000" cy="2571750"/>
          </a:xfrm>
          <a:prstGeom prst="rect">
            <a:avLst/>
          </a:prstGeom>
        </p:spPr>
      </p:pic>
      <p:pic>
        <p:nvPicPr>
          <p:cNvPr id="8" name="图片 7"/>
          <p:cNvPicPr>
            <a:picLocks noChangeAspect="1"/>
          </p:cNvPicPr>
          <p:nvPr/>
        </p:nvPicPr>
        <p:blipFill>
          <a:blip r:embed="rId7"/>
          <a:stretch>
            <a:fillRect/>
          </a:stretch>
        </p:blipFill>
        <p:spPr>
          <a:xfrm>
            <a:off x="5881563" y="3486016"/>
            <a:ext cx="5547812" cy="2756569"/>
          </a:xfrm>
          <a:prstGeom prst="rect">
            <a:avLst/>
          </a:prstGeom>
        </p:spPr>
      </p:pic>
    </p:spTree>
    <p:extLst>
      <p:ext uri="{BB962C8B-B14F-4D97-AF65-F5344CB8AC3E}">
        <p14:creationId xmlns:p14="http://schemas.microsoft.com/office/powerpoint/2010/main" val="20552418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smtClean="0"/>
              <a:t>目标检测概述</a:t>
            </a:r>
            <a:endParaRPr lang="en-US" altLang="zh-CN" dirty="0" smtClean="0"/>
          </a:p>
          <a:p>
            <a:r>
              <a:rPr lang="zh-CN" altLang="en-US" b="1" dirty="0" smtClean="0"/>
              <a:t>目标检测关键技术</a:t>
            </a:r>
            <a:endParaRPr lang="en-US" altLang="zh-CN" b="1" dirty="0" smtClean="0"/>
          </a:p>
          <a:p>
            <a:r>
              <a:rPr lang="zh-CN" altLang="en-US" dirty="0" smtClean="0"/>
              <a:t>基于昇腾</a:t>
            </a:r>
            <a:r>
              <a:rPr lang="en-US" altLang="zh-CN" dirty="0" smtClean="0"/>
              <a:t>AI</a:t>
            </a:r>
            <a:r>
              <a:rPr lang="zh-CN" altLang="en-US" dirty="0" smtClean="0"/>
              <a:t>处理器的应用开发流程</a:t>
            </a:r>
            <a:endParaRPr lang="en-US" altLang="zh-CN" dirty="0" smtClean="0"/>
          </a:p>
          <a:p>
            <a:r>
              <a:rPr lang="zh-CN" altLang="en-US" dirty="0" smtClean="0"/>
              <a:t>目标检测应用开发实战</a:t>
            </a:r>
            <a:endParaRPr lang="zh-CN" altLang="en-US" dirty="0"/>
          </a:p>
        </p:txBody>
      </p:sp>
    </p:spTree>
    <p:extLst>
      <p:ext uri="{BB962C8B-B14F-4D97-AF65-F5344CB8AC3E}">
        <p14:creationId xmlns:p14="http://schemas.microsoft.com/office/powerpoint/2010/main" val="367826782"/>
      </p:ext>
    </p:extLst>
  </p:cSld>
  <p:clrMapOvr>
    <a:masterClrMapping/>
  </p:clrMapOvr>
  <mc:AlternateContent xmlns:mc="http://schemas.openxmlformats.org/markup-compatibility/2006" xmlns:p14="http://schemas.microsoft.com/office/powerpoint/2010/main">
    <mc:Choice Requires="p14">
      <p:transition spd="slow" p14:dur="2000" advTm="11430"/>
    </mc:Choice>
    <mc:Fallback xmlns="">
      <p:transition spd="slow" advTm="1143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深度学习之目标检测网络</a:t>
            </a:r>
            <a:endParaRPr lang="zh-CN" altLang="en-US" dirty="0"/>
          </a:p>
        </p:txBody>
      </p:sp>
      <p:sp>
        <p:nvSpPr>
          <p:cNvPr id="3" name="矩形 2"/>
          <p:cNvSpPr/>
          <p:nvPr/>
        </p:nvSpPr>
        <p:spPr>
          <a:xfrm>
            <a:off x="913011" y="1270378"/>
            <a:ext cx="10729192" cy="1015663"/>
          </a:xfrm>
          <a:prstGeom prst="rect">
            <a:avLst/>
          </a:prstGeom>
        </p:spPr>
        <p:txBody>
          <a:bodyPr wrap="square">
            <a:spAutoFit/>
          </a:bodyPr>
          <a:lstStyle/>
          <a:p>
            <a:r>
              <a:rPr lang="zh-CN" altLang="en-US" sz="2000" dirty="0"/>
              <a:t>深度学习用于目标检测的算法从思路上来看，可以分为两大类，一类是</a:t>
            </a:r>
            <a:r>
              <a:rPr lang="en-US" altLang="zh-CN" sz="2000" b="1" dirty="0"/>
              <a:t>two stage</a:t>
            </a:r>
            <a:r>
              <a:rPr lang="zh-CN" altLang="en-US" sz="2000" dirty="0"/>
              <a:t>的方法，也就是把</a:t>
            </a:r>
            <a:r>
              <a:rPr lang="zh-CN" altLang="en-US" sz="2000" dirty="0" smtClean="0"/>
              <a:t>整个流程分为</a:t>
            </a:r>
            <a:r>
              <a:rPr lang="zh-CN" altLang="en-US" sz="2000" dirty="0"/>
              <a:t>两部分，生成候选框和识别框内物体；另一类是</a:t>
            </a:r>
            <a:r>
              <a:rPr lang="en-US" altLang="zh-CN" sz="2000" b="1" dirty="0"/>
              <a:t>one stage</a:t>
            </a:r>
            <a:r>
              <a:rPr lang="zh-CN" altLang="en-US" sz="2000" dirty="0"/>
              <a:t>的方法，把整个流程统一在一起，直接给出检测结果，主要包含</a:t>
            </a:r>
            <a:r>
              <a:rPr lang="en-US" altLang="zh-CN" sz="2000" dirty="0"/>
              <a:t>SSD, YOLO</a:t>
            </a:r>
            <a:r>
              <a:rPr lang="zh-CN" altLang="en-US" sz="2000" dirty="0"/>
              <a:t>系列。</a:t>
            </a:r>
          </a:p>
        </p:txBody>
      </p:sp>
      <p:pic>
        <p:nvPicPr>
          <p:cNvPr id="4" name="图片 3"/>
          <p:cNvPicPr>
            <a:picLocks noChangeAspect="1"/>
          </p:cNvPicPr>
          <p:nvPr/>
        </p:nvPicPr>
        <p:blipFill>
          <a:blip r:embed="rId3"/>
          <a:stretch>
            <a:fillRect/>
          </a:stretch>
        </p:blipFill>
        <p:spPr>
          <a:xfrm>
            <a:off x="1617038" y="2533094"/>
            <a:ext cx="8477250" cy="3609975"/>
          </a:xfrm>
          <a:prstGeom prst="rect">
            <a:avLst/>
          </a:prstGeom>
        </p:spPr>
      </p:pic>
    </p:spTree>
    <p:extLst>
      <p:ext uri="{BB962C8B-B14F-4D97-AF65-F5344CB8AC3E}">
        <p14:creationId xmlns:p14="http://schemas.microsoft.com/office/powerpoint/2010/main" val="3277421182"/>
      </p:ext>
    </p:extLst>
  </p:cSld>
  <p:clrMapOvr>
    <a:masterClrMapping/>
  </p:clrMapOvr>
  <p:timing>
    <p:tnLst>
      <p:par>
        <p:cTn id="1" dur="indefinite" restart="never" fill="hold"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目标检测网络结构</a:t>
            </a:r>
            <a:r>
              <a:rPr lang="en-US" altLang="zh-CN" dirty="0" smtClean="0"/>
              <a:t>—VGG-SSD</a:t>
            </a:r>
            <a:endParaRPr lang="zh-CN" altLang="en-US" dirty="0"/>
          </a:p>
        </p:txBody>
      </p:sp>
      <p:sp>
        <p:nvSpPr>
          <p:cNvPr id="4" name="矩形 3"/>
          <p:cNvSpPr/>
          <p:nvPr/>
        </p:nvSpPr>
        <p:spPr>
          <a:xfrm>
            <a:off x="781693" y="1317774"/>
            <a:ext cx="10655371" cy="1015663"/>
          </a:xfrm>
          <a:prstGeom prst="rect">
            <a:avLst/>
          </a:prstGeom>
        </p:spPr>
        <p:txBody>
          <a:bodyPr wrap="square">
            <a:spAutoFit/>
          </a:bodyPr>
          <a:lstStyle/>
          <a:p>
            <a:r>
              <a:rPr lang="zh-CN" altLang="en-US" sz="2000" dirty="0" smtClean="0"/>
              <a:t>主流</a:t>
            </a:r>
            <a:r>
              <a:rPr lang="zh-CN" altLang="en-US" sz="2000" dirty="0"/>
              <a:t>算法中</a:t>
            </a:r>
            <a:r>
              <a:rPr lang="zh-CN" altLang="en-US" sz="2000" dirty="0" smtClean="0"/>
              <a:t>表现较好的</a:t>
            </a:r>
            <a:r>
              <a:rPr lang="zh-CN" altLang="en-US" sz="2000" dirty="0"/>
              <a:t>是</a:t>
            </a:r>
            <a:r>
              <a:rPr lang="en-US" altLang="zh-CN" sz="2000" dirty="0"/>
              <a:t>SSD</a:t>
            </a:r>
            <a:r>
              <a:rPr lang="zh-CN" altLang="en-US" sz="2000" dirty="0"/>
              <a:t>和</a:t>
            </a:r>
            <a:r>
              <a:rPr lang="en-US" altLang="zh-CN" sz="2000" dirty="0" smtClean="0"/>
              <a:t>YOLO</a:t>
            </a:r>
            <a:r>
              <a:rPr lang="zh-CN" altLang="en-US" sz="2000" dirty="0" smtClean="0"/>
              <a:t>系列，以</a:t>
            </a:r>
            <a:r>
              <a:rPr lang="en-US" altLang="zh-CN" sz="2000" dirty="0" smtClean="0"/>
              <a:t>VGG16-SSD</a:t>
            </a:r>
            <a:r>
              <a:rPr lang="zh-CN" altLang="en-US" sz="2000" dirty="0" smtClean="0"/>
              <a:t>为例，采用</a:t>
            </a:r>
            <a:r>
              <a:rPr lang="en-US" altLang="zh-CN" sz="2000" dirty="0" smtClean="0"/>
              <a:t>VGG16</a:t>
            </a:r>
            <a:r>
              <a:rPr lang="zh-CN" altLang="en-US" sz="2000" dirty="0" smtClean="0"/>
              <a:t>作为主干网络，采用卷积取代全连接层。主要思想：通过卷积</a:t>
            </a:r>
            <a:r>
              <a:rPr lang="en-US" altLang="zh-CN" sz="2000" dirty="0" smtClean="0"/>
              <a:t>+</a:t>
            </a:r>
            <a:r>
              <a:rPr lang="zh-CN" altLang="en-US" sz="2000" dirty="0" smtClean="0"/>
              <a:t>池化依次提取特征；通过特征预测先验框的位置和大小的变化以及先验框内物体的分类。</a:t>
            </a:r>
            <a:endParaRPr lang="en-US" altLang="zh-CN" sz="2000" dirty="0"/>
          </a:p>
        </p:txBody>
      </p:sp>
      <p:pic>
        <p:nvPicPr>
          <p:cNvPr id="1028" name="Picture 4" descr="https://img-blog.csdnimg.cn/20200405161544676.png?x-oss-process=image/watermark,type_ZmFuZ3poZW5naGVpdGk,shadow_10,text_aHR0cHM6Ly9ibG9nLmNzZG4ubmV0L2NwMTMxNDk3MQ==,size_16,color_FFFFFF,t_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239" y="2425168"/>
            <a:ext cx="11220450" cy="333375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552971" y="5835948"/>
            <a:ext cx="6061275" cy="461665"/>
          </a:xfrm>
          <a:prstGeom prst="rect">
            <a:avLst/>
          </a:prstGeom>
          <a:noFill/>
        </p:spPr>
        <p:txBody>
          <a:bodyPr wrap="none" rtlCol="0">
            <a:spAutoFit/>
          </a:bodyPr>
          <a:lstStyle/>
          <a:p>
            <a:r>
              <a:rPr lang="zh-CN" altLang="en-US" sz="1200" dirty="0"/>
              <a:t>（图片来源：</a:t>
            </a:r>
            <a:r>
              <a:rPr lang="en-US" altLang="zh-CN" sz="1200" dirty="0">
                <a:hlinkClick r:id="rId4"/>
              </a:rPr>
              <a:t>https://blog.csdn.net/weixin_44791964/article/details/104107271</a:t>
            </a:r>
            <a:r>
              <a:rPr lang="zh-CN" altLang="en-US" sz="1200" dirty="0" smtClean="0"/>
              <a:t>）</a:t>
            </a:r>
            <a:endParaRPr lang="en-US" altLang="zh-CN" sz="1200" dirty="0" smtClean="0"/>
          </a:p>
          <a:p>
            <a:r>
              <a:rPr lang="zh-CN" altLang="en-US" sz="1200" dirty="0" smtClean="0"/>
              <a:t>（</a:t>
            </a:r>
            <a:r>
              <a:rPr lang="en-US" altLang="zh-CN" sz="1200" dirty="0" smtClean="0"/>
              <a:t>VGG16</a:t>
            </a:r>
            <a:r>
              <a:rPr lang="zh-CN" altLang="en-US" sz="1200" dirty="0" smtClean="0"/>
              <a:t>主干网参考</a:t>
            </a:r>
            <a:r>
              <a:rPr lang="en-US" altLang="zh-CN" sz="1200" dirty="0" smtClean="0"/>
              <a:t>:</a:t>
            </a:r>
            <a:r>
              <a:rPr lang="en-US" altLang="zh-CN" sz="1200" dirty="0">
                <a:hlinkClick r:id="rId5"/>
              </a:rPr>
              <a:t> https://</a:t>
            </a:r>
            <a:r>
              <a:rPr lang="en-US" altLang="zh-CN" sz="1200" dirty="0" smtClean="0">
                <a:hlinkClick r:id="rId5"/>
              </a:rPr>
              <a:t>blog.csdn.net/weixin_44791964/article/details/102779878</a:t>
            </a:r>
            <a:r>
              <a:rPr lang="en-US" altLang="zh-CN" sz="1200" dirty="0" smtClean="0"/>
              <a:t>)</a:t>
            </a:r>
            <a:endParaRPr lang="en-US" altLang="zh-CN" sz="1200" dirty="0"/>
          </a:p>
        </p:txBody>
      </p:sp>
    </p:spTree>
    <p:extLst>
      <p:ext uri="{BB962C8B-B14F-4D97-AF65-F5344CB8AC3E}">
        <p14:creationId xmlns:p14="http://schemas.microsoft.com/office/powerpoint/2010/main" val="258623925"/>
      </p:ext>
    </p:extLst>
  </p:cSld>
  <p:clrMapOvr>
    <a:masterClrMapping/>
  </p:clrMapOvr>
  <p:timing>
    <p:tnLst>
      <p:par>
        <p:cTn id="1" dur="indefinite" restart="never" fill="hold"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目标检测网络结构</a:t>
            </a:r>
            <a:r>
              <a:rPr lang="en-US" altLang="zh-CN" dirty="0" smtClean="0"/>
              <a:t>—</a:t>
            </a:r>
            <a:r>
              <a:rPr lang="zh-CN" altLang="en-US" dirty="0" smtClean="0"/>
              <a:t>计算量和参数量</a:t>
            </a:r>
            <a:endParaRPr lang="zh-CN" altLang="en-US" dirty="0"/>
          </a:p>
        </p:txBody>
      </p:sp>
      <p:sp>
        <p:nvSpPr>
          <p:cNvPr id="4" name="矩形 3"/>
          <p:cNvSpPr/>
          <p:nvPr/>
        </p:nvSpPr>
        <p:spPr>
          <a:xfrm>
            <a:off x="626507" y="1773610"/>
            <a:ext cx="11016218" cy="4154984"/>
          </a:xfrm>
          <a:prstGeom prst="rect">
            <a:avLst/>
          </a:prstGeom>
        </p:spPr>
        <p:txBody>
          <a:bodyPr wrap="square">
            <a:spAutoFit/>
          </a:bodyPr>
          <a:lstStyle/>
          <a:p>
            <a:pPr marL="342900" indent="-342900">
              <a:buFont typeface="Wingdings" panose="05000000000000000000" pitchFamily="2" charset="2"/>
              <a:buChar char="ü"/>
            </a:pPr>
            <a:r>
              <a:rPr lang="zh-CN" altLang="en-US" b="1" dirty="0" smtClean="0">
                <a:latin typeface="+mj-ea"/>
                <a:ea typeface="+mj-ea"/>
              </a:rPr>
              <a:t>特征提取</a:t>
            </a:r>
            <a:endParaRPr lang="en-US" altLang="zh-CN" b="1" dirty="0" smtClean="0">
              <a:latin typeface="+mj-ea"/>
              <a:ea typeface="+mj-ea"/>
            </a:endParaRPr>
          </a:p>
          <a:p>
            <a:pPr lvl="1"/>
            <a:r>
              <a:rPr lang="zh-CN" altLang="en-US" dirty="0" smtClean="0">
                <a:latin typeface="+mj-ea"/>
                <a:ea typeface="+mj-ea"/>
              </a:rPr>
              <a:t>以</a:t>
            </a:r>
            <a:r>
              <a:rPr lang="en-US" altLang="zh-CN" dirty="0">
                <a:latin typeface="+mj-ea"/>
                <a:ea typeface="+mj-ea"/>
              </a:rPr>
              <a:t>Conv5_3</a:t>
            </a:r>
            <a:r>
              <a:rPr lang="zh-CN" altLang="en-US" dirty="0">
                <a:latin typeface="+mj-ea"/>
                <a:ea typeface="+mj-ea"/>
              </a:rPr>
              <a:t>到第</a:t>
            </a:r>
            <a:r>
              <a:rPr lang="en-US" altLang="zh-CN" dirty="0">
                <a:latin typeface="+mj-ea"/>
                <a:ea typeface="+mj-ea"/>
              </a:rPr>
              <a:t>6</a:t>
            </a:r>
            <a:r>
              <a:rPr lang="zh-CN" altLang="en-US" dirty="0">
                <a:latin typeface="+mj-ea"/>
                <a:ea typeface="+mj-ea"/>
              </a:rPr>
              <a:t>层的</a:t>
            </a:r>
            <a:r>
              <a:rPr lang="zh-CN" altLang="en-US" dirty="0" smtClean="0">
                <a:latin typeface="+mj-ea"/>
                <a:ea typeface="+mj-ea"/>
              </a:rPr>
              <a:t>计算量为例：</a:t>
            </a:r>
            <a:endParaRPr lang="en-US" altLang="zh-CN" dirty="0" smtClean="0">
              <a:latin typeface="+mj-ea"/>
              <a:ea typeface="+mj-ea"/>
            </a:endParaRPr>
          </a:p>
          <a:p>
            <a:pPr lvl="1"/>
            <a:r>
              <a:rPr lang="zh-CN" altLang="en-US" dirty="0" smtClean="0">
                <a:latin typeface="+mj-ea"/>
                <a:ea typeface="+mj-ea"/>
              </a:rPr>
              <a:t>计算量估计</a:t>
            </a:r>
            <a:r>
              <a:rPr lang="en-US" altLang="zh-CN" dirty="0" smtClean="0">
                <a:latin typeface="+mj-ea"/>
                <a:ea typeface="+mj-ea"/>
              </a:rPr>
              <a:t>:</a:t>
            </a:r>
            <a:r>
              <a:rPr lang="zh-CN" altLang="en-US" dirty="0" smtClean="0">
                <a:latin typeface="+mj-ea"/>
                <a:ea typeface="+mj-ea"/>
              </a:rPr>
              <a:t>（</a:t>
            </a:r>
            <a:r>
              <a:rPr lang="en-US" altLang="zh-CN" dirty="0" smtClean="0">
                <a:latin typeface="+mj-ea"/>
                <a:ea typeface="+mj-ea"/>
              </a:rPr>
              <a:t>38</a:t>
            </a:r>
            <a:r>
              <a:rPr lang="zh-CN" altLang="en-US" dirty="0">
                <a:latin typeface="+mj-ea"/>
                <a:ea typeface="+mj-ea"/>
              </a:rPr>
              <a:t>*</a:t>
            </a:r>
            <a:r>
              <a:rPr lang="en-US" altLang="zh-CN" dirty="0">
                <a:latin typeface="+mj-ea"/>
                <a:ea typeface="+mj-ea"/>
              </a:rPr>
              <a:t>38</a:t>
            </a:r>
            <a:r>
              <a:rPr lang="zh-CN" altLang="en-US" dirty="0">
                <a:latin typeface="+mj-ea"/>
                <a:ea typeface="+mj-ea"/>
              </a:rPr>
              <a:t>*</a:t>
            </a:r>
            <a:r>
              <a:rPr lang="en-US" altLang="zh-CN" dirty="0">
                <a:latin typeface="+mj-ea"/>
                <a:ea typeface="+mj-ea"/>
              </a:rPr>
              <a:t>512</a:t>
            </a:r>
            <a:r>
              <a:rPr lang="zh-CN" altLang="en-US" dirty="0">
                <a:latin typeface="+mj-ea"/>
                <a:ea typeface="+mj-ea"/>
              </a:rPr>
              <a:t>）</a:t>
            </a:r>
            <a:r>
              <a:rPr lang="en-US" altLang="zh-CN" dirty="0">
                <a:latin typeface="+mj-ea"/>
                <a:ea typeface="+mj-ea"/>
              </a:rPr>
              <a:t> </a:t>
            </a:r>
            <a:r>
              <a:rPr lang="zh-CN" altLang="en-US" dirty="0">
                <a:latin typeface="+mj-ea"/>
                <a:ea typeface="+mj-ea"/>
              </a:rPr>
              <a:t>* （</a:t>
            </a:r>
            <a:r>
              <a:rPr lang="en-US" altLang="zh-CN" dirty="0">
                <a:latin typeface="+mj-ea"/>
                <a:ea typeface="+mj-ea"/>
              </a:rPr>
              <a:t>3</a:t>
            </a:r>
            <a:r>
              <a:rPr lang="zh-CN" altLang="en-US" dirty="0">
                <a:latin typeface="+mj-ea"/>
                <a:ea typeface="+mj-ea"/>
              </a:rPr>
              <a:t>* </a:t>
            </a:r>
            <a:r>
              <a:rPr lang="en-US" altLang="zh-CN" dirty="0">
                <a:latin typeface="+mj-ea"/>
                <a:ea typeface="+mj-ea"/>
              </a:rPr>
              <a:t>3</a:t>
            </a:r>
            <a:r>
              <a:rPr lang="zh-CN" altLang="en-US" dirty="0">
                <a:latin typeface="+mj-ea"/>
                <a:ea typeface="+mj-ea"/>
              </a:rPr>
              <a:t>*</a:t>
            </a:r>
            <a:r>
              <a:rPr lang="en-US" altLang="zh-CN" dirty="0">
                <a:latin typeface="+mj-ea"/>
                <a:ea typeface="+mj-ea"/>
              </a:rPr>
              <a:t>512</a:t>
            </a:r>
            <a:r>
              <a:rPr lang="zh-CN" altLang="en-US" dirty="0">
                <a:latin typeface="+mj-ea"/>
                <a:ea typeface="+mj-ea"/>
              </a:rPr>
              <a:t>）*</a:t>
            </a:r>
            <a:r>
              <a:rPr lang="en-US" altLang="zh-CN" dirty="0">
                <a:latin typeface="+mj-ea"/>
                <a:ea typeface="+mj-ea"/>
              </a:rPr>
              <a:t>1024 = </a:t>
            </a:r>
            <a:r>
              <a:rPr lang="en-US" altLang="zh-CN" dirty="0" smtClean="0">
                <a:latin typeface="+mj-ea"/>
                <a:ea typeface="+mj-ea"/>
              </a:rPr>
              <a:t>3.5 </a:t>
            </a:r>
            <a:r>
              <a:rPr lang="zh-CN" altLang="en-US" dirty="0">
                <a:latin typeface="+mj-ea"/>
                <a:ea typeface="+mj-ea"/>
              </a:rPr>
              <a:t>* </a:t>
            </a:r>
            <a:r>
              <a:rPr lang="en-US" altLang="zh-CN" dirty="0" smtClean="0">
                <a:latin typeface="+mj-ea"/>
                <a:ea typeface="+mj-ea"/>
              </a:rPr>
              <a:t>10^12</a:t>
            </a:r>
          </a:p>
          <a:p>
            <a:pPr lvl="1"/>
            <a:r>
              <a:rPr lang="zh-CN" altLang="en-US" dirty="0" smtClean="0">
                <a:latin typeface="+mj-ea"/>
                <a:ea typeface="+mj-ea"/>
              </a:rPr>
              <a:t>参数量估计：（</a:t>
            </a:r>
            <a:r>
              <a:rPr lang="en-US" altLang="zh-CN" dirty="0" smtClean="0">
                <a:latin typeface="+mj-ea"/>
              </a:rPr>
              <a:t>3</a:t>
            </a:r>
            <a:r>
              <a:rPr lang="zh-CN" altLang="en-US" dirty="0">
                <a:latin typeface="+mj-ea"/>
              </a:rPr>
              <a:t>* </a:t>
            </a:r>
            <a:r>
              <a:rPr lang="en-US" altLang="zh-CN" dirty="0">
                <a:latin typeface="+mj-ea"/>
              </a:rPr>
              <a:t>3</a:t>
            </a:r>
            <a:r>
              <a:rPr lang="zh-CN" altLang="en-US" dirty="0">
                <a:latin typeface="+mj-ea"/>
              </a:rPr>
              <a:t>*</a:t>
            </a:r>
            <a:r>
              <a:rPr lang="en-US" altLang="zh-CN" dirty="0">
                <a:latin typeface="+mj-ea"/>
              </a:rPr>
              <a:t>512</a:t>
            </a:r>
            <a:r>
              <a:rPr lang="zh-CN" altLang="en-US" dirty="0">
                <a:latin typeface="+mj-ea"/>
              </a:rPr>
              <a:t>）*</a:t>
            </a:r>
            <a:r>
              <a:rPr lang="en-US" altLang="zh-CN" dirty="0">
                <a:latin typeface="+mj-ea"/>
              </a:rPr>
              <a:t>1024 </a:t>
            </a:r>
            <a:r>
              <a:rPr lang="en-US" altLang="zh-CN" dirty="0" smtClean="0">
                <a:latin typeface="+mj-ea"/>
              </a:rPr>
              <a:t>+ 1024 </a:t>
            </a:r>
            <a:endParaRPr lang="en-US" altLang="zh-CN" dirty="0" smtClean="0">
              <a:latin typeface="+mj-ea"/>
              <a:ea typeface="+mj-ea"/>
            </a:endParaRPr>
          </a:p>
          <a:p>
            <a:pPr lvl="1"/>
            <a:endParaRPr lang="en-US" altLang="zh-CN" dirty="0">
              <a:latin typeface="+mj-ea"/>
              <a:ea typeface="+mj-ea"/>
            </a:endParaRPr>
          </a:p>
          <a:p>
            <a:pPr marL="342900" indent="-342900">
              <a:buFont typeface="Wingdings" panose="05000000000000000000" pitchFamily="2" charset="2"/>
              <a:buChar char="ü"/>
            </a:pPr>
            <a:r>
              <a:rPr lang="zh-CN" altLang="en-US" b="1" dirty="0" smtClean="0">
                <a:latin typeface="+mj-ea"/>
                <a:ea typeface="+mj-ea"/>
              </a:rPr>
              <a:t>预测：</a:t>
            </a:r>
            <a:endParaRPr lang="en-US" altLang="zh-CN" b="1" dirty="0" smtClean="0">
              <a:latin typeface="+mj-ea"/>
              <a:ea typeface="+mj-ea"/>
            </a:endParaRPr>
          </a:p>
          <a:p>
            <a:pPr lvl="1"/>
            <a:r>
              <a:rPr lang="zh-CN" altLang="en-US" dirty="0" smtClean="0">
                <a:latin typeface="+mj-ea"/>
                <a:ea typeface="+mj-ea"/>
              </a:rPr>
              <a:t>从</a:t>
            </a:r>
            <a:r>
              <a:rPr lang="zh-CN" altLang="en-US" dirty="0">
                <a:latin typeface="+mj-ea"/>
                <a:ea typeface="+mj-ea"/>
              </a:rPr>
              <a:t>特征层到预测结果也是经过两次卷积运算，第一次卷积运算得到先验框的预测值；第二次卷积运算得到先验框内物体所属各个物体种类的置信度；</a:t>
            </a:r>
            <a:endParaRPr lang="en-US" altLang="zh-CN" dirty="0">
              <a:latin typeface="+mj-ea"/>
              <a:ea typeface="+mj-ea"/>
            </a:endParaRPr>
          </a:p>
          <a:p>
            <a:pPr lvl="1"/>
            <a:r>
              <a:rPr lang="en-US" altLang="zh-CN" dirty="0" smtClean="0">
                <a:latin typeface="+mj-ea"/>
                <a:ea typeface="+mj-ea"/>
              </a:rPr>
              <a:t>38</a:t>
            </a:r>
            <a:r>
              <a:rPr lang="zh-CN" altLang="en-US" dirty="0">
                <a:latin typeface="+mj-ea"/>
                <a:ea typeface="+mj-ea"/>
              </a:rPr>
              <a:t>*</a:t>
            </a:r>
            <a:r>
              <a:rPr lang="en-US" altLang="zh-CN" dirty="0">
                <a:latin typeface="+mj-ea"/>
                <a:ea typeface="+mj-ea"/>
              </a:rPr>
              <a:t>38</a:t>
            </a:r>
            <a:r>
              <a:rPr lang="zh-CN" altLang="en-US" dirty="0">
                <a:latin typeface="+mj-ea"/>
                <a:ea typeface="+mj-ea"/>
              </a:rPr>
              <a:t>*</a:t>
            </a:r>
            <a:r>
              <a:rPr lang="en-US" altLang="zh-CN" dirty="0">
                <a:latin typeface="+mj-ea"/>
                <a:ea typeface="+mj-ea"/>
              </a:rPr>
              <a:t>512 </a:t>
            </a:r>
            <a:r>
              <a:rPr lang="zh-CN" altLang="en-US" dirty="0">
                <a:latin typeface="+mj-ea"/>
                <a:ea typeface="+mj-ea"/>
              </a:rPr>
              <a:t>*（</a:t>
            </a:r>
            <a:r>
              <a:rPr lang="en-US" altLang="zh-CN" dirty="0">
                <a:latin typeface="+mj-ea"/>
                <a:ea typeface="+mj-ea"/>
              </a:rPr>
              <a:t>3</a:t>
            </a:r>
            <a:r>
              <a:rPr lang="zh-CN" altLang="en-US" dirty="0">
                <a:latin typeface="+mj-ea"/>
                <a:ea typeface="+mj-ea"/>
              </a:rPr>
              <a:t>*</a:t>
            </a:r>
            <a:r>
              <a:rPr lang="en-US" altLang="zh-CN" dirty="0">
                <a:latin typeface="+mj-ea"/>
                <a:ea typeface="+mj-ea"/>
              </a:rPr>
              <a:t>3</a:t>
            </a:r>
            <a:r>
              <a:rPr lang="zh-CN" altLang="en-US" dirty="0">
                <a:latin typeface="+mj-ea"/>
                <a:ea typeface="+mj-ea"/>
              </a:rPr>
              <a:t>*</a:t>
            </a:r>
            <a:r>
              <a:rPr lang="en-US" altLang="zh-CN" dirty="0">
                <a:latin typeface="+mj-ea"/>
                <a:ea typeface="+mj-ea"/>
              </a:rPr>
              <a:t>512</a:t>
            </a:r>
            <a:r>
              <a:rPr lang="zh-CN" altLang="en-US" dirty="0">
                <a:latin typeface="+mj-ea"/>
                <a:ea typeface="+mj-ea"/>
              </a:rPr>
              <a:t>）*</a:t>
            </a:r>
            <a:r>
              <a:rPr lang="en-US" altLang="zh-CN" dirty="0">
                <a:latin typeface="+mj-ea"/>
                <a:ea typeface="+mj-ea"/>
              </a:rPr>
              <a:t>4</a:t>
            </a:r>
            <a:r>
              <a:rPr lang="zh-CN" altLang="en-US" dirty="0">
                <a:latin typeface="+mj-ea"/>
                <a:ea typeface="+mj-ea"/>
              </a:rPr>
              <a:t>*</a:t>
            </a:r>
            <a:r>
              <a:rPr lang="en-US" altLang="zh-CN" dirty="0">
                <a:latin typeface="+mj-ea"/>
                <a:ea typeface="+mj-ea"/>
              </a:rPr>
              <a:t>4</a:t>
            </a:r>
          </a:p>
          <a:p>
            <a:pPr lvl="1"/>
            <a:r>
              <a:rPr lang="en-US" altLang="zh-CN" dirty="0">
                <a:latin typeface="+mj-ea"/>
                <a:ea typeface="+mj-ea"/>
              </a:rPr>
              <a:t>38</a:t>
            </a:r>
            <a:r>
              <a:rPr lang="zh-CN" altLang="en-US" dirty="0">
                <a:latin typeface="+mj-ea"/>
                <a:ea typeface="+mj-ea"/>
              </a:rPr>
              <a:t>*</a:t>
            </a:r>
            <a:r>
              <a:rPr lang="en-US" altLang="zh-CN" dirty="0">
                <a:latin typeface="+mj-ea"/>
                <a:ea typeface="+mj-ea"/>
              </a:rPr>
              <a:t>38</a:t>
            </a:r>
            <a:r>
              <a:rPr lang="zh-CN" altLang="en-US" dirty="0">
                <a:latin typeface="+mj-ea"/>
                <a:ea typeface="+mj-ea"/>
              </a:rPr>
              <a:t>*</a:t>
            </a:r>
            <a:r>
              <a:rPr lang="en-US" altLang="zh-CN" dirty="0">
                <a:latin typeface="+mj-ea"/>
                <a:ea typeface="+mj-ea"/>
              </a:rPr>
              <a:t>512 </a:t>
            </a:r>
            <a:r>
              <a:rPr lang="zh-CN" altLang="en-US" dirty="0">
                <a:latin typeface="+mj-ea"/>
                <a:ea typeface="+mj-ea"/>
              </a:rPr>
              <a:t>*（</a:t>
            </a:r>
            <a:r>
              <a:rPr lang="en-US" altLang="zh-CN" dirty="0">
                <a:latin typeface="+mj-ea"/>
                <a:ea typeface="+mj-ea"/>
              </a:rPr>
              <a:t>3</a:t>
            </a:r>
            <a:r>
              <a:rPr lang="zh-CN" altLang="en-US" dirty="0">
                <a:latin typeface="+mj-ea"/>
                <a:ea typeface="+mj-ea"/>
              </a:rPr>
              <a:t>*</a:t>
            </a:r>
            <a:r>
              <a:rPr lang="en-US" altLang="zh-CN" dirty="0">
                <a:latin typeface="+mj-ea"/>
                <a:ea typeface="+mj-ea"/>
              </a:rPr>
              <a:t>3</a:t>
            </a:r>
            <a:r>
              <a:rPr lang="zh-CN" altLang="en-US" dirty="0">
                <a:latin typeface="+mj-ea"/>
                <a:ea typeface="+mj-ea"/>
              </a:rPr>
              <a:t>*</a:t>
            </a:r>
            <a:r>
              <a:rPr lang="en-US" altLang="zh-CN" dirty="0">
                <a:latin typeface="+mj-ea"/>
                <a:ea typeface="+mj-ea"/>
              </a:rPr>
              <a:t>512</a:t>
            </a:r>
            <a:r>
              <a:rPr lang="zh-CN" altLang="en-US" dirty="0">
                <a:latin typeface="+mj-ea"/>
                <a:ea typeface="+mj-ea"/>
              </a:rPr>
              <a:t>）*</a:t>
            </a:r>
            <a:r>
              <a:rPr lang="en-US" altLang="zh-CN" dirty="0">
                <a:latin typeface="+mj-ea"/>
                <a:ea typeface="+mj-ea"/>
              </a:rPr>
              <a:t>4</a:t>
            </a:r>
            <a:r>
              <a:rPr lang="zh-CN" altLang="en-US" dirty="0">
                <a:latin typeface="+mj-ea"/>
                <a:ea typeface="+mj-ea"/>
              </a:rPr>
              <a:t>*</a:t>
            </a:r>
            <a:r>
              <a:rPr lang="en-US" altLang="zh-CN" dirty="0" smtClean="0">
                <a:latin typeface="+mj-ea"/>
                <a:ea typeface="+mj-ea"/>
              </a:rPr>
              <a:t>21</a:t>
            </a:r>
          </a:p>
          <a:p>
            <a:pPr lvl="1"/>
            <a:endParaRPr lang="en-US" altLang="zh-CN" dirty="0">
              <a:latin typeface="+mj-ea"/>
              <a:ea typeface="+mj-ea"/>
            </a:endParaRPr>
          </a:p>
        </p:txBody>
      </p:sp>
    </p:spTree>
    <p:extLst>
      <p:ext uri="{BB962C8B-B14F-4D97-AF65-F5344CB8AC3E}">
        <p14:creationId xmlns:p14="http://schemas.microsoft.com/office/powerpoint/2010/main" val="29111381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sym typeface="+mn-lt"/>
              </a:rPr>
              <a:t>构筑业界最强</a:t>
            </a:r>
            <a:r>
              <a:rPr lang="en-US" altLang="zh-CN" dirty="0" smtClean="0">
                <a:latin typeface="微软雅黑" panose="020B0503020204020204" pitchFamily="34" charset="-122"/>
                <a:ea typeface="微软雅黑" panose="020B0503020204020204" pitchFamily="34" charset="-122"/>
                <a:sym typeface="+mn-lt"/>
              </a:rPr>
              <a:t>AI</a:t>
            </a:r>
            <a:r>
              <a:rPr lang="zh-CN" altLang="en-US" dirty="0" smtClean="0">
                <a:latin typeface="微软雅黑" panose="020B0503020204020204" pitchFamily="34" charset="-122"/>
                <a:ea typeface="微软雅黑" panose="020B0503020204020204" pitchFamily="34" charset="-122"/>
                <a:sym typeface="+mn-lt"/>
              </a:rPr>
              <a:t>算力平台，</a:t>
            </a:r>
            <a:r>
              <a:rPr lang="zh-CN" altLang="en-US" dirty="0">
                <a:latin typeface="微软雅黑" panose="020B0503020204020204" pitchFamily="34" charset="-122"/>
                <a:ea typeface="微软雅黑" panose="020B0503020204020204" pitchFamily="34" charset="-122"/>
                <a:sym typeface="+mn-lt"/>
              </a:rPr>
              <a:t>使能千行百业智能化转型</a:t>
            </a:r>
          </a:p>
        </p:txBody>
      </p:sp>
      <p:sp>
        <p:nvSpPr>
          <p:cNvPr id="24" name="矩形 23"/>
          <p:cNvSpPr/>
          <p:nvPr/>
        </p:nvSpPr>
        <p:spPr>
          <a:xfrm>
            <a:off x="1065292" y="1656758"/>
            <a:ext cx="10137692" cy="808731"/>
          </a:xfrm>
          <a:prstGeom prst="rect">
            <a:avLst/>
          </a:prstGeom>
          <a:solidFill>
            <a:srgbClr val="F2F2F2">
              <a:alpha val="30196"/>
            </a:srgbClr>
          </a:solidFill>
          <a:ln w="12700" cap="flat" cmpd="sng" algn="ctr">
            <a:noFill/>
            <a:prstDash val="solid"/>
            <a:miter lim="800000"/>
          </a:ln>
          <a:effectLst/>
        </p:spPr>
        <p:txBody>
          <a:bodyPr rot="0" spcFirstLastPara="0" vertOverflow="overflow" horzOverflow="overflow" vert="horz" wrap="square" lIns="91407" tIns="45703" rIns="91407" bIns="45703" numCol="1" spcCol="0" rtlCol="0" fromWordArt="0" anchor="ctr" anchorCtr="0" forceAA="0" compatLnSpc="1">
            <a:prstTxWarp prst="textNoShape">
              <a:avLst/>
            </a:prstTxWarp>
            <a:noAutofit/>
          </a:bodyPr>
          <a:lstStyle/>
          <a:p>
            <a:pPr algn="ctr" defTabSz="1219150">
              <a:defRPr/>
            </a:pPr>
            <a:endParaRPr lang="en-US" kern="0" dirty="0">
              <a:solidFill>
                <a:prstClr val="white"/>
              </a:solidFill>
              <a:cs typeface="+mn-ea"/>
              <a:sym typeface="+mn-lt"/>
            </a:endParaRPr>
          </a:p>
        </p:txBody>
      </p:sp>
      <p:sp>
        <p:nvSpPr>
          <p:cNvPr id="25" name="CANN…"/>
          <p:cNvSpPr txBox="1"/>
          <p:nvPr/>
        </p:nvSpPr>
        <p:spPr>
          <a:xfrm>
            <a:off x="3338529" y="3142284"/>
            <a:ext cx="1437153" cy="429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p>
            <a:pPr algn="ctr" defTabSz="290314" hangingPunct="0">
              <a:defRPr sz="5000">
                <a:solidFill>
                  <a:srgbClr val="ED6D00"/>
                </a:solidFill>
                <a:latin typeface="Huawei Sans"/>
                <a:ea typeface="Huawei Sans"/>
                <a:cs typeface="Huawei Sans"/>
                <a:sym typeface="Huawei Sans"/>
              </a:defRPr>
            </a:pPr>
            <a:r>
              <a:rPr sz="1600" b="1" kern="0" dirty="0">
                <a:solidFill>
                  <a:srgbClr val="C00000"/>
                </a:solidFill>
                <a:cs typeface="+mn-ea"/>
                <a:sym typeface="+mn-lt"/>
              </a:rPr>
              <a:t>CANN</a:t>
            </a:r>
          </a:p>
        </p:txBody>
      </p:sp>
      <p:sp>
        <p:nvSpPr>
          <p:cNvPr id="26" name="MindSpore"/>
          <p:cNvSpPr txBox="1"/>
          <p:nvPr/>
        </p:nvSpPr>
        <p:spPr>
          <a:xfrm>
            <a:off x="2127647" y="2695595"/>
            <a:ext cx="3609454" cy="2776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lvl1pPr defTabSz="1218906">
              <a:defRPr sz="4500">
                <a:solidFill>
                  <a:srgbClr val="ED6D00"/>
                </a:solidFill>
                <a:latin typeface="Huawei Sans"/>
                <a:ea typeface="Huawei Sans"/>
                <a:cs typeface="Huawei Sans"/>
                <a:sym typeface="Huawei Sans"/>
              </a:defRPr>
            </a:lvl1pPr>
          </a:lstStyle>
          <a:p>
            <a:pPr algn="ctr" hangingPunct="0">
              <a:defRPr/>
            </a:pPr>
            <a:r>
              <a:rPr sz="1600" b="1" kern="0" dirty="0" err="1">
                <a:solidFill>
                  <a:srgbClr val="C00000"/>
                </a:solidFill>
                <a:latin typeface="+mn-lt"/>
                <a:ea typeface="+mn-ea"/>
                <a:cs typeface="+mn-ea"/>
                <a:sym typeface="+mn-lt"/>
              </a:rPr>
              <a:t>MindSpore</a:t>
            </a:r>
            <a:r>
              <a:rPr lang="en-US" sz="1600" b="1" kern="0" dirty="0">
                <a:solidFill>
                  <a:schemeClr val="tx1">
                    <a:lumMod val="75000"/>
                    <a:lumOff val="25000"/>
                  </a:schemeClr>
                </a:solidFill>
                <a:latin typeface="+mn-lt"/>
                <a:ea typeface="+mn-ea"/>
                <a:cs typeface="+mn-ea"/>
                <a:sym typeface="+mn-lt"/>
              </a:rPr>
              <a:t>/</a:t>
            </a:r>
            <a:r>
              <a:rPr lang="en-US" sz="1600" b="1" kern="0" dirty="0" err="1">
                <a:solidFill>
                  <a:schemeClr val="tx1">
                    <a:lumMod val="75000"/>
                    <a:lumOff val="25000"/>
                  </a:schemeClr>
                </a:solidFill>
                <a:latin typeface="+mn-lt"/>
                <a:ea typeface="+mn-ea"/>
                <a:cs typeface="+mn-ea"/>
                <a:sym typeface="+mn-lt"/>
              </a:rPr>
              <a:t>Tensorflow</a:t>
            </a:r>
            <a:r>
              <a:rPr lang="en-US" sz="1600" b="1" kern="0" dirty="0">
                <a:solidFill>
                  <a:schemeClr val="tx1">
                    <a:lumMod val="75000"/>
                    <a:lumOff val="25000"/>
                  </a:schemeClr>
                </a:solidFill>
                <a:latin typeface="+mn-lt"/>
                <a:ea typeface="+mn-ea"/>
                <a:cs typeface="+mn-ea"/>
                <a:sym typeface="+mn-lt"/>
              </a:rPr>
              <a:t>/</a:t>
            </a:r>
            <a:r>
              <a:rPr lang="en-US" sz="1600" b="1" kern="0" dirty="0" err="1">
                <a:solidFill>
                  <a:schemeClr val="tx1">
                    <a:lumMod val="75000"/>
                    <a:lumOff val="25000"/>
                  </a:schemeClr>
                </a:solidFill>
                <a:latin typeface="+mn-lt"/>
                <a:ea typeface="+mn-ea"/>
                <a:cs typeface="+mn-ea"/>
                <a:sym typeface="+mn-lt"/>
              </a:rPr>
              <a:t>Pytorch</a:t>
            </a:r>
            <a:r>
              <a:rPr lang="en-US" sz="1600" b="1" kern="0" dirty="0">
                <a:solidFill>
                  <a:schemeClr val="tx1">
                    <a:lumMod val="75000"/>
                    <a:lumOff val="25000"/>
                  </a:schemeClr>
                </a:solidFill>
                <a:latin typeface="+mn-lt"/>
                <a:ea typeface="+mn-ea"/>
                <a:cs typeface="+mn-ea"/>
                <a:sym typeface="+mn-lt"/>
              </a:rPr>
              <a:t>/…</a:t>
            </a:r>
            <a:endParaRPr sz="1600" b="1" kern="0" dirty="0">
              <a:solidFill>
                <a:schemeClr val="tx1">
                  <a:lumMod val="75000"/>
                  <a:lumOff val="25000"/>
                </a:schemeClr>
              </a:solidFill>
              <a:latin typeface="+mn-lt"/>
              <a:ea typeface="+mn-ea"/>
              <a:cs typeface="+mn-ea"/>
              <a:sym typeface="+mn-lt"/>
            </a:endParaRPr>
          </a:p>
        </p:txBody>
      </p:sp>
      <p:sp>
        <p:nvSpPr>
          <p:cNvPr id="27" name="线条"/>
          <p:cNvSpPr/>
          <p:nvPr/>
        </p:nvSpPr>
        <p:spPr>
          <a:xfrm>
            <a:off x="1065293" y="2571863"/>
            <a:ext cx="10137691" cy="0"/>
          </a:xfrm>
          <a:prstGeom prst="line">
            <a:avLst/>
          </a:prstGeom>
          <a:ln w="25400">
            <a:solidFill>
              <a:srgbClr val="C00000"/>
            </a:solidFill>
            <a:miter lim="400000"/>
            <a:headEnd type="oval"/>
            <a:tailEnd type="oval"/>
          </a:ln>
        </p:spPr>
        <p:txBody>
          <a:bodyPr lIns="12098" tIns="12098" rIns="12098" bIns="12098" anchor="ctr"/>
          <a:lstStyle/>
          <a:p>
            <a:pPr algn="ctr" defTabSz="196614" hangingPunct="0">
              <a:defRPr sz="3200" b="0">
                <a:latin typeface="+mn-lt"/>
                <a:ea typeface="+mn-ea"/>
                <a:cs typeface="+mn-cs"/>
                <a:sym typeface="Helvetica Neue Medium"/>
              </a:defRPr>
            </a:pPr>
            <a:endParaRPr sz="762" kern="0">
              <a:solidFill>
                <a:srgbClr val="1D1D1A"/>
              </a:solidFill>
              <a:cs typeface="+mn-ea"/>
              <a:sym typeface="+mn-lt"/>
            </a:endParaRPr>
          </a:p>
        </p:txBody>
      </p:sp>
      <p:sp>
        <p:nvSpPr>
          <p:cNvPr id="28" name="线条"/>
          <p:cNvSpPr/>
          <p:nvPr/>
        </p:nvSpPr>
        <p:spPr>
          <a:xfrm>
            <a:off x="1065292" y="3109029"/>
            <a:ext cx="4809588" cy="0"/>
          </a:xfrm>
          <a:prstGeom prst="line">
            <a:avLst/>
          </a:prstGeom>
          <a:ln w="25400">
            <a:solidFill>
              <a:schemeClr val="bg1">
                <a:lumMod val="60000"/>
                <a:lumOff val="40000"/>
              </a:schemeClr>
            </a:solidFill>
            <a:miter lim="400000"/>
            <a:headEnd type="oval"/>
            <a:tailEnd type="oval"/>
          </a:ln>
        </p:spPr>
        <p:txBody>
          <a:bodyPr lIns="12098" tIns="12098" rIns="12098" bIns="12098" anchor="ctr"/>
          <a:lstStyle/>
          <a:p>
            <a:pPr algn="ctr" defTabSz="196614" hangingPunct="0">
              <a:defRPr sz="3200" b="0">
                <a:latin typeface="+mn-lt"/>
                <a:ea typeface="+mn-ea"/>
                <a:cs typeface="+mn-cs"/>
                <a:sym typeface="Helvetica Neue Medium"/>
              </a:defRPr>
            </a:pPr>
            <a:endParaRPr sz="762" kern="0">
              <a:solidFill>
                <a:srgbClr val="FFFFFF"/>
              </a:solidFill>
              <a:cs typeface="+mn-ea"/>
              <a:sym typeface="+mn-lt"/>
            </a:endParaRPr>
          </a:p>
        </p:txBody>
      </p:sp>
      <p:sp>
        <p:nvSpPr>
          <p:cNvPr id="29" name="线条"/>
          <p:cNvSpPr/>
          <p:nvPr/>
        </p:nvSpPr>
        <p:spPr>
          <a:xfrm>
            <a:off x="1065292" y="3594287"/>
            <a:ext cx="4809588" cy="0"/>
          </a:xfrm>
          <a:prstGeom prst="line">
            <a:avLst/>
          </a:prstGeom>
          <a:ln w="25400">
            <a:solidFill>
              <a:schemeClr val="accent1"/>
            </a:solidFill>
            <a:miter lim="400000"/>
            <a:headEnd type="oval"/>
            <a:tailEnd type="oval"/>
          </a:ln>
        </p:spPr>
        <p:txBody>
          <a:bodyPr lIns="12098" tIns="12098" rIns="12098" bIns="12098" anchor="ctr"/>
          <a:lstStyle/>
          <a:p>
            <a:pPr algn="ctr" defTabSz="196614" hangingPunct="0">
              <a:defRPr sz="3200" b="0">
                <a:latin typeface="+mn-lt"/>
                <a:ea typeface="+mn-ea"/>
                <a:cs typeface="+mn-cs"/>
                <a:sym typeface="Helvetica Neue Medium"/>
              </a:defRPr>
            </a:pPr>
            <a:endParaRPr sz="762" kern="0" dirty="0">
              <a:solidFill>
                <a:srgbClr val="FFFFFF"/>
              </a:solidFill>
              <a:cs typeface="+mn-ea"/>
              <a:sym typeface="+mn-lt"/>
            </a:endParaRPr>
          </a:p>
        </p:txBody>
      </p:sp>
      <p:sp>
        <p:nvSpPr>
          <p:cNvPr id="30" name="线条"/>
          <p:cNvSpPr/>
          <p:nvPr/>
        </p:nvSpPr>
        <p:spPr>
          <a:xfrm>
            <a:off x="6125146" y="3594287"/>
            <a:ext cx="5077838" cy="0"/>
          </a:xfrm>
          <a:prstGeom prst="line">
            <a:avLst/>
          </a:prstGeom>
          <a:ln w="25400">
            <a:solidFill>
              <a:schemeClr val="accent1"/>
            </a:solidFill>
            <a:miter lim="400000"/>
            <a:headEnd type="oval"/>
            <a:tailEnd type="oval"/>
          </a:ln>
        </p:spPr>
        <p:txBody>
          <a:bodyPr lIns="12098" tIns="12098" rIns="12098" bIns="12098" anchor="ctr"/>
          <a:lstStyle/>
          <a:p>
            <a:pPr algn="ctr" defTabSz="196614" hangingPunct="0">
              <a:defRPr sz="3200" b="0">
                <a:latin typeface="+mn-lt"/>
                <a:ea typeface="+mn-ea"/>
                <a:cs typeface="+mn-cs"/>
                <a:sym typeface="Helvetica Neue Medium"/>
              </a:defRPr>
            </a:pPr>
            <a:endParaRPr sz="762" kern="0" dirty="0">
              <a:solidFill>
                <a:srgbClr val="FFFFFF"/>
              </a:solidFill>
              <a:cs typeface="+mn-ea"/>
              <a:sym typeface="+mn-lt"/>
            </a:endParaRPr>
          </a:p>
        </p:txBody>
      </p:sp>
      <p:sp>
        <p:nvSpPr>
          <p:cNvPr id="31" name="CANN…"/>
          <p:cNvSpPr txBox="1"/>
          <p:nvPr/>
        </p:nvSpPr>
        <p:spPr>
          <a:xfrm>
            <a:off x="7463867" y="2681604"/>
            <a:ext cx="2022702" cy="429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defPPr>
              <a:defRPr lang="en-US"/>
            </a:defPPr>
            <a:lvl1pPr algn="ctr" defTabSz="290343" hangingPunct="0">
              <a:defRPr sz="1600" b="1" kern="0">
                <a:solidFill>
                  <a:schemeClr val="bg1">
                    <a:lumMod val="75000"/>
                  </a:schemeClr>
                </a:solidFill>
                <a:latin typeface="Huawei Sans"/>
                <a:ea typeface="Huawei Sans"/>
                <a:cs typeface="+mn-ea"/>
              </a:defRPr>
            </a:lvl1pPr>
          </a:lstStyle>
          <a:p>
            <a:r>
              <a:rPr lang="zh-CN" altLang="en-US" dirty="0">
                <a:latin typeface="+mn-lt"/>
                <a:ea typeface="+mn-ea"/>
                <a:sym typeface="+mn-lt"/>
              </a:rPr>
              <a:t>公共组件</a:t>
            </a:r>
            <a:endParaRPr dirty="0">
              <a:latin typeface="+mn-lt"/>
              <a:ea typeface="+mn-ea"/>
              <a:sym typeface="+mn-lt"/>
            </a:endParaRPr>
          </a:p>
        </p:txBody>
      </p:sp>
      <p:sp>
        <p:nvSpPr>
          <p:cNvPr id="32" name="MindSpore"/>
          <p:cNvSpPr txBox="1"/>
          <p:nvPr/>
        </p:nvSpPr>
        <p:spPr>
          <a:xfrm>
            <a:off x="6591740" y="3073694"/>
            <a:ext cx="3990235" cy="2776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defPPr>
              <a:defRPr lang="en-US"/>
            </a:defPPr>
            <a:lvl1pPr algn="ctr" defTabSz="290343" hangingPunct="0">
              <a:defRPr sz="1600" b="1" kern="0">
                <a:solidFill>
                  <a:srgbClr val="C00000"/>
                </a:solidFill>
                <a:latin typeface="Huawei Sans"/>
                <a:ea typeface="Huawei Sans"/>
                <a:cs typeface="+mn-ea"/>
              </a:defRPr>
            </a:lvl1pPr>
          </a:lstStyle>
          <a:p>
            <a:r>
              <a:rPr lang="en-US" dirty="0">
                <a:latin typeface="+mn-lt"/>
                <a:ea typeface="+mn-ea"/>
                <a:sym typeface="+mn-lt"/>
              </a:rPr>
              <a:t>AXE</a:t>
            </a:r>
            <a:r>
              <a:rPr lang="zh-CN" altLang="en-US" dirty="0">
                <a:latin typeface="+mn-lt"/>
                <a:ea typeface="+mn-ea"/>
                <a:sym typeface="+mn-lt"/>
              </a:rPr>
              <a:t>工具链</a:t>
            </a:r>
            <a:r>
              <a:rPr lang="en-US" dirty="0">
                <a:latin typeface="+mn-lt"/>
                <a:ea typeface="+mn-ea"/>
                <a:sym typeface="+mn-lt"/>
              </a:rPr>
              <a:t>/</a:t>
            </a:r>
            <a:r>
              <a:rPr lang="zh-CN" altLang="en-US" dirty="0">
                <a:latin typeface="+mn-lt"/>
                <a:ea typeface="+mn-ea"/>
                <a:sym typeface="+mn-lt"/>
              </a:rPr>
              <a:t>安全子系统</a:t>
            </a:r>
            <a:r>
              <a:rPr lang="en-US" dirty="0">
                <a:latin typeface="+mn-lt"/>
                <a:ea typeface="+mn-ea"/>
                <a:sym typeface="+mn-lt"/>
              </a:rPr>
              <a:t>/</a:t>
            </a:r>
            <a:r>
              <a:rPr lang="zh-CN" altLang="en-US" dirty="0">
                <a:latin typeface="+mn-lt"/>
                <a:ea typeface="+mn-ea"/>
                <a:sym typeface="+mn-lt"/>
              </a:rPr>
              <a:t>统一运维</a:t>
            </a:r>
            <a:r>
              <a:rPr lang="en-US" altLang="zh-CN" dirty="0">
                <a:latin typeface="+mn-lt"/>
                <a:ea typeface="+mn-ea"/>
                <a:sym typeface="+mn-lt"/>
              </a:rPr>
              <a:t>&amp;</a:t>
            </a:r>
            <a:r>
              <a:rPr lang="zh-CN" altLang="en-US" dirty="0">
                <a:latin typeface="+mn-lt"/>
                <a:ea typeface="+mn-ea"/>
                <a:sym typeface="+mn-lt"/>
              </a:rPr>
              <a:t>管理系统</a:t>
            </a:r>
            <a:endParaRPr dirty="0">
              <a:latin typeface="+mn-lt"/>
              <a:ea typeface="+mn-ea"/>
              <a:sym typeface="+mn-lt"/>
            </a:endParaRPr>
          </a:p>
        </p:txBody>
      </p:sp>
      <p:sp>
        <p:nvSpPr>
          <p:cNvPr id="33" name="CANN…"/>
          <p:cNvSpPr txBox="1"/>
          <p:nvPr/>
        </p:nvSpPr>
        <p:spPr>
          <a:xfrm>
            <a:off x="2513667" y="3142284"/>
            <a:ext cx="1088687" cy="429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p>
            <a:pPr algn="ctr" defTabSz="290314" hangingPunct="0">
              <a:defRPr sz="5000">
                <a:solidFill>
                  <a:srgbClr val="ED6D00"/>
                </a:solidFill>
                <a:latin typeface="Huawei Sans"/>
                <a:ea typeface="Huawei Sans"/>
                <a:cs typeface="Huawei Sans"/>
                <a:sym typeface="Huawei Sans"/>
              </a:defRPr>
            </a:pPr>
            <a:r>
              <a:rPr lang="zh-CN" altLang="en-US" sz="1600" b="1" kern="0" dirty="0">
                <a:solidFill>
                  <a:schemeClr val="bg1">
                    <a:lumMod val="75000"/>
                  </a:schemeClr>
                </a:solidFill>
                <a:cs typeface="+mn-ea"/>
                <a:sym typeface="+mn-lt"/>
              </a:rPr>
              <a:t>芯片使能</a:t>
            </a:r>
            <a:endParaRPr sz="1600" b="1" kern="0" dirty="0">
              <a:solidFill>
                <a:schemeClr val="bg1">
                  <a:lumMod val="75000"/>
                </a:schemeClr>
              </a:solidFill>
              <a:cs typeface="+mn-ea"/>
              <a:sym typeface="+mn-lt"/>
            </a:endParaRPr>
          </a:p>
        </p:txBody>
      </p:sp>
      <p:sp>
        <p:nvSpPr>
          <p:cNvPr id="34" name="CANN…"/>
          <p:cNvSpPr txBox="1"/>
          <p:nvPr/>
        </p:nvSpPr>
        <p:spPr>
          <a:xfrm>
            <a:off x="1528163" y="2617578"/>
            <a:ext cx="667735" cy="429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p>
            <a:pPr algn="ctr" defTabSz="290314" hangingPunct="0">
              <a:defRPr sz="5000">
                <a:solidFill>
                  <a:srgbClr val="ED6D00"/>
                </a:solidFill>
                <a:latin typeface="Huawei Sans"/>
                <a:ea typeface="Huawei Sans"/>
                <a:cs typeface="Huawei Sans"/>
                <a:sym typeface="Huawei Sans"/>
              </a:defRPr>
            </a:pPr>
            <a:r>
              <a:rPr lang="zh-CN" altLang="en-US" sz="1600" b="1" kern="0" dirty="0">
                <a:solidFill>
                  <a:schemeClr val="bg1">
                    <a:lumMod val="75000"/>
                  </a:schemeClr>
                </a:solidFill>
                <a:cs typeface="+mn-ea"/>
                <a:sym typeface="+mn-lt"/>
              </a:rPr>
              <a:t>框架</a:t>
            </a:r>
            <a:endParaRPr sz="1600" b="1" kern="0" dirty="0">
              <a:solidFill>
                <a:schemeClr val="bg1">
                  <a:lumMod val="75000"/>
                </a:schemeClr>
              </a:solidFill>
              <a:cs typeface="+mn-ea"/>
              <a:sym typeface="+mn-lt"/>
            </a:endParaRPr>
          </a:p>
        </p:txBody>
      </p:sp>
      <p:sp>
        <p:nvSpPr>
          <p:cNvPr id="35" name="CANN…"/>
          <p:cNvSpPr txBox="1"/>
          <p:nvPr/>
        </p:nvSpPr>
        <p:spPr>
          <a:xfrm>
            <a:off x="3594541" y="1758891"/>
            <a:ext cx="1873149" cy="429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p>
            <a:pPr algn="ctr" defTabSz="290314" hangingPunct="0">
              <a:defRPr sz="5000">
                <a:solidFill>
                  <a:srgbClr val="ED6D00"/>
                </a:solidFill>
                <a:latin typeface="Huawei Sans"/>
                <a:ea typeface="Huawei Sans"/>
                <a:cs typeface="Huawei Sans"/>
                <a:sym typeface="Huawei Sans"/>
              </a:defRPr>
            </a:pPr>
            <a:r>
              <a:rPr lang="en-US" altLang="zh-CN" sz="1400" b="1" kern="0" dirty="0">
                <a:solidFill>
                  <a:schemeClr val="bg1">
                    <a:lumMod val="75000"/>
                  </a:schemeClr>
                </a:solidFill>
                <a:cs typeface="+mn-ea"/>
                <a:sym typeface="+mn-lt"/>
              </a:rPr>
              <a:t>Atlas</a:t>
            </a:r>
            <a:r>
              <a:rPr lang="zh-CN" altLang="en-US" sz="1400" b="1" kern="0" dirty="0">
                <a:solidFill>
                  <a:schemeClr val="bg1">
                    <a:lumMod val="75000"/>
                  </a:schemeClr>
                </a:solidFill>
                <a:cs typeface="+mn-ea"/>
                <a:sym typeface="+mn-lt"/>
              </a:rPr>
              <a:t>智能边缘平台</a:t>
            </a:r>
            <a:endParaRPr sz="1400" b="1" kern="0" dirty="0">
              <a:solidFill>
                <a:schemeClr val="bg1">
                  <a:lumMod val="75000"/>
                </a:schemeClr>
              </a:solidFill>
              <a:cs typeface="+mn-ea"/>
              <a:sym typeface="+mn-lt"/>
            </a:endParaRPr>
          </a:p>
        </p:txBody>
      </p:sp>
      <p:sp>
        <p:nvSpPr>
          <p:cNvPr id="36" name="Rectangle 38"/>
          <p:cNvSpPr>
            <a:spLocks noChangeArrowheads="1"/>
          </p:cNvSpPr>
          <p:nvPr/>
        </p:nvSpPr>
        <p:spPr bwMode="auto">
          <a:xfrm>
            <a:off x="3470484" y="2173085"/>
            <a:ext cx="2094851" cy="20310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10000"/>
              </a:lnSpc>
            </a:pPr>
            <a:r>
              <a:rPr lang="zh-CN" altLang="en-US" sz="1200" dirty="0">
                <a:solidFill>
                  <a:schemeClr val="tx1">
                    <a:lumMod val="75000"/>
                    <a:lumOff val="25000"/>
                  </a:schemeClr>
                </a:solidFill>
                <a:cs typeface="+mn-ea"/>
                <a:sym typeface="+mn-lt"/>
              </a:rPr>
              <a:t>行业</a:t>
            </a:r>
            <a:r>
              <a:rPr lang="en-US" altLang="zh-CN" sz="1200" dirty="0">
                <a:solidFill>
                  <a:schemeClr val="tx1">
                    <a:lumMod val="75000"/>
                    <a:lumOff val="25000"/>
                  </a:schemeClr>
                </a:solidFill>
                <a:cs typeface="+mn-ea"/>
                <a:sym typeface="+mn-lt"/>
              </a:rPr>
              <a:t>SDK/</a:t>
            </a:r>
            <a:r>
              <a:rPr lang="zh-CN" altLang="en-US" sz="1200" dirty="0">
                <a:solidFill>
                  <a:schemeClr val="tx1">
                    <a:lumMod val="75000"/>
                    <a:lumOff val="25000"/>
                  </a:schemeClr>
                </a:solidFill>
                <a:cs typeface="+mn-ea"/>
                <a:sym typeface="+mn-lt"/>
              </a:rPr>
              <a:t>容器引擎</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基础服务仓</a:t>
            </a:r>
          </a:p>
        </p:txBody>
      </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63125" y="1785980"/>
            <a:ext cx="567625" cy="567625"/>
          </a:xfrm>
          <a:prstGeom prst="rect">
            <a:avLst/>
          </a:prstGeom>
        </p:spPr>
      </p:pic>
      <p:pic>
        <p:nvPicPr>
          <p:cNvPr id="38" name="图片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4682" y="1814734"/>
            <a:ext cx="537607" cy="500100"/>
          </a:xfrm>
          <a:prstGeom prst="rect">
            <a:avLst/>
          </a:prstGeom>
        </p:spPr>
      </p:pic>
      <p:sp>
        <p:nvSpPr>
          <p:cNvPr id="39" name="Rectangle 38"/>
          <p:cNvSpPr>
            <a:spLocks noChangeArrowheads="1"/>
          </p:cNvSpPr>
          <p:nvPr/>
        </p:nvSpPr>
        <p:spPr bwMode="auto">
          <a:xfrm>
            <a:off x="8042335" y="2180285"/>
            <a:ext cx="2715574" cy="20310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a:lnSpc>
                <a:spcPct val="110000"/>
              </a:lnSpc>
            </a:pPr>
            <a:r>
              <a:rPr lang="zh-CN" altLang="en-US" sz="1200" dirty="0">
                <a:solidFill>
                  <a:schemeClr val="tx1">
                    <a:lumMod val="75000"/>
                    <a:lumOff val="25000"/>
                  </a:schemeClr>
                </a:solidFill>
                <a:cs typeface="+mn-ea"/>
                <a:sym typeface="+mn-lt"/>
              </a:rPr>
              <a:t>集群管理</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模型管理</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数据预处理</a:t>
            </a:r>
          </a:p>
        </p:txBody>
      </p:sp>
      <p:sp>
        <p:nvSpPr>
          <p:cNvPr id="40" name="CANN…"/>
          <p:cNvSpPr txBox="1"/>
          <p:nvPr/>
        </p:nvSpPr>
        <p:spPr>
          <a:xfrm>
            <a:off x="8434615" y="1766092"/>
            <a:ext cx="1873149" cy="429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p>
            <a:pPr algn="ctr" defTabSz="290314" hangingPunct="0">
              <a:defRPr sz="5000">
                <a:solidFill>
                  <a:srgbClr val="ED6D00"/>
                </a:solidFill>
                <a:latin typeface="Huawei Sans"/>
                <a:ea typeface="Huawei Sans"/>
                <a:cs typeface="Huawei Sans"/>
                <a:sym typeface="Huawei Sans"/>
              </a:defRPr>
            </a:pPr>
            <a:r>
              <a:rPr lang="en-US" altLang="zh-CN" sz="1400" b="1" kern="0" dirty="0">
                <a:solidFill>
                  <a:schemeClr val="bg1">
                    <a:lumMod val="75000"/>
                  </a:schemeClr>
                </a:solidFill>
                <a:cs typeface="+mn-ea"/>
                <a:sym typeface="+mn-lt"/>
              </a:rPr>
              <a:t>Atlas</a:t>
            </a:r>
            <a:r>
              <a:rPr lang="zh-CN" altLang="en-US" sz="1400" b="1" kern="0" dirty="0">
                <a:solidFill>
                  <a:schemeClr val="bg1">
                    <a:lumMod val="75000"/>
                  </a:schemeClr>
                </a:solidFill>
                <a:cs typeface="+mn-ea"/>
                <a:sym typeface="+mn-lt"/>
              </a:rPr>
              <a:t>分布式训练平台</a:t>
            </a:r>
            <a:endParaRPr sz="1400" b="1" kern="0" dirty="0">
              <a:solidFill>
                <a:schemeClr val="bg1">
                  <a:lumMod val="75000"/>
                </a:schemeClr>
              </a:solidFill>
              <a:cs typeface="+mn-ea"/>
              <a:sym typeface="+mn-lt"/>
            </a:endParaRPr>
          </a:p>
        </p:txBody>
      </p:sp>
      <p:sp>
        <p:nvSpPr>
          <p:cNvPr id="41" name="CANN…"/>
          <p:cNvSpPr txBox="1"/>
          <p:nvPr/>
        </p:nvSpPr>
        <p:spPr>
          <a:xfrm>
            <a:off x="2448591" y="1100137"/>
            <a:ext cx="2928839" cy="429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defPPr>
              <a:defRPr lang="en-US"/>
            </a:defPPr>
            <a:lvl1pPr algn="ctr" defTabSz="290343" hangingPunct="0">
              <a:defRPr sz="2000" b="1" kern="0">
                <a:solidFill>
                  <a:schemeClr val="bg1">
                    <a:lumMod val="75000"/>
                  </a:schemeClr>
                </a:solidFill>
                <a:latin typeface="Huawei Sans"/>
                <a:ea typeface="Huawei Sans"/>
                <a:cs typeface="+mn-ea"/>
              </a:defRPr>
            </a:lvl1pPr>
          </a:lstStyle>
          <a:p>
            <a:r>
              <a:rPr lang="zh-CN" altLang="en-US" sz="1800" dirty="0">
                <a:latin typeface="+mn-lt"/>
                <a:ea typeface="+mn-ea"/>
                <a:sym typeface="+mn-lt"/>
              </a:rPr>
              <a:t>智能边缘解决方案</a:t>
            </a:r>
            <a:endParaRPr sz="1800" dirty="0">
              <a:latin typeface="+mn-lt"/>
              <a:ea typeface="+mn-ea"/>
              <a:sym typeface="+mn-lt"/>
            </a:endParaRPr>
          </a:p>
        </p:txBody>
      </p:sp>
      <p:sp>
        <p:nvSpPr>
          <p:cNvPr id="46" name="线条"/>
          <p:cNvSpPr/>
          <p:nvPr/>
        </p:nvSpPr>
        <p:spPr>
          <a:xfrm>
            <a:off x="1070234" y="1553822"/>
            <a:ext cx="5844930" cy="0"/>
          </a:xfrm>
          <a:prstGeom prst="line">
            <a:avLst/>
          </a:prstGeom>
          <a:ln w="25400">
            <a:solidFill>
              <a:schemeClr val="accent1"/>
            </a:solidFill>
            <a:miter lim="400000"/>
            <a:headEnd type="oval"/>
            <a:tailEnd type="oval"/>
          </a:ln>
        </p:spPr>
        <p:txBody>
          <a:bodyPr lIns="12098" tIns="12098" rIns="12098" bIns="12098" anchor="ctr"/>
          <a:lstStyle/>
          <a:p>
            <a:pPr algn="ctr" defTabSz="196614" hangingPunct="0">
              <a:defRPr sz="3200" b="0">
                <a:latin typeface="+mn-lt"/>
                <a:ea typeface="+mn-ea"/>
                <a:cs typeface="+mn-cs"/>
                <a:sym typeface="Helvetica Neue Medium"/>
              </a:defRPr>
            </a:pPr>
            <a:endParaRPr sz="762" kern="0" dirty="0">
              <a:solidFill>
                <a:srgbClr val="FFFFFF"/>
              </a:solidFill>
              <a:cs typeface="+mn-ea"/>
              <a:sym typeface="+mn-lt"/>
            </a:endParaRPr>
          </a:p>
        </p:txBody>
      </p:sp>
      <p:sp>
        <p:nvSpPr>
          <p:cNvPr id="47" name="CANN…"/>
          <p:cNvSpPr txBox="1"/>
          <p:nvPr/>
        </p:nvSpPr>
        <p:spPr>
          <a:xfrm>
            <a:off x="7756701" y="1148792"/>
            <a:ext cx="2928839" cy="429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defPPr>
              <a:defRPr lang="en-US"/>
            </a:defPPr>
            <a:lvl1pPr algn="ctr" defTabSz="290343" hangingPunct="0">
              <a:defRPr sz="2000" b="1" kern="0">
                <a:solidFill>
                  <a:schemeClr val="bg1">
                    <a:lumMod val="75000"/>
                  </a:schemeClr>
                </a:solidFill>
                <a:latin typeface="Huawei Sans"/>
                <a:ea typeface="Huawei Sans"/>
                <a:cs typeface="+mn-ea"/>
              </a:defRPr>
            </a:lvl1pPr>
          </a:lstStyle>
          <a:p>
            <a:r>
              <a:rPr lang="zh-CN" altLang="en-US" sz="1800" dirty="0">
                <a:latin typeface="+mn-lt"/>
                <a:ea typeface="+mn-ea"/>
                <a:sym typeface="+mn-lt"/>
              </a:rPr>
              <a:t>数据中心解决方案</a:t>
            </a:r>
            <a:endParaRPr sz="1800" dirty="0">
              <a:latin typeface="+mn-lt"/>
              <a:ea typeface="+mn-ea"/>
              <a:sym typeface="+mn-lt"/>
            </a:endParaRPr>
          </a:p>
        </p:txBody>
      </p:sp>
      <p:sp>
        <p:nvSpPr>
          <p:cNvPr id="48" name="线条"/>
          <p:cNvSpPr/>
          <p:nvPr/>
        </p:nvSpPr>
        <p:spPr>
          <a:xfrm>
            <a:off x="7187829" y="1553822"/>
            <a:ext cx="4020095" cy="0"/>
          </a:xfrm>
          <a:prstGeom prst="line">
            <a:avLst/>
          </a:prstGeom>
          <a:ln w="25400">
            <a:solidFill>
              <a:schemeClr val="accent1"/>
            </a:solidFill>
            <a:miter lim="400000"/>
            <a:headEnd type="oval"/>
            <a:tailEnd type="oval"/>
          </a:ln>
        </p:spPr>
        <p:txBody>
          <a:bodyPr lIns="12098" tIns="12098" rIns="12098" bIns="12098" anchor="ctr"/>
          <a:lstStyle/>
          <a:p>
            <a:pPr algn="ctr" defTabSz="196614" hangingPunct="0">
              <a:defRPr sz="3200" b="0">
                <a:latin typeface="+mn-lt"/>
                <a:ea typeface="+mn-ea"/>
                <a:cs typeface="+mn-cs"/>
                <a:sym typeface="Helvetica Neue Medium"/>
              </a:defRPr>
            </a:pPr>
            <a:endParaRPr sz="762" kern="0" dirty="0">
              <a:solidFill>
                <a:srgbClr val="FFFFFF"/>
              </a:solidFill>
              <a:cs typeface="+mn-ea"/>
              <a:sym typeface="+mn-lt"/>
            </a:endParaRPr>
          </a:p>
        </p:txBody>
      </p:sp>
      <p:cxnSp>
        <p:nvCxnSpPr>
          <p:cNvPr id="49" name="直接连接符 26"/>
          <p:cNvCxnSpPr/>
          <p:nvPr/>
        </p:nvCxnSpPr>
        <p:spPr>
          <a:xfrm>
            <a:off x="7061967" y="1687383"/>
            <a:ext cx="0" cy="682865"/>
          </a:xfrm>
          <a:prstGeom prst="line">
            <a:avLst/>
          </a:prstGeom>
          <a:noFill/>
          <a:ln w="3175" cap="flat" cmpd="sng" algn="ctr">
            <a:solidFill>
              <a:srgbClr val="1D1D1A">
                <a:lumMod val="60000"/>
                <a:lumOff val="40000"/>
              </a:srgbClr>
            </a:solidFill>
            <a:prstDash val="dash"/>
          </a:ln>
          <a:effectLst/>
        </p:spPr>
      </p:cxnSp>
      <p:grpSp>
        <p:nvGrpSpPr>
          <p:cNvPr id="50" name="组合 49"/>
          <p:cNvGrpSpPr/>
          <p:nvPr/>
        </p:nvGrpSpPr>
        <p:grpSpPr>
          <a:xfrm>
            <a:off x="949335" y="3654176"/>
            <a:ext cx="10253649" cy="2650394"/>
            <a:chOff x="949459" y="3619751"/>
            <a:chExt cx="10254984" cy="2650739"/>
          </a:xfrm>
        </p:grpSpPr>
        <p:sp>
          <p:nvSpPr>
            <p:cNvPr id="51" name="矩形 50"/>
            <p:cNvSpPr/>
            <p:nvPr/>
          </p:nvSpPr>
          <p:spPr>
            <a:xfrm>
              <a:off x="1065431" y="3693263"/>
              <a:ext cx="10139012" cy="1731805"/>
            </a:xfrm>
            <a:prstGeom prst="rect">
              <a:avLst/>
            </a:prstGeom>
            <a:solidFill>
              <a:srgbClr val="F2F2F2">
                <a:alpha val="30196"/>
              </a:srgbClr>
            </a:solidFill>
            <a:ln w="12700" cap="flat" cmpd="sng" algn="ctr">
              <a:noFill/>
              <a:prstDash val="solid"/>
              <a:miter lim="800000"/>
            </a:ln>
            <a:effectLst/>
          </p:spPr>
          <p:txBody>
            <a:bodyPr rot="0" spcFirstLastPara="0" vertOverflow="overflow" horzOverflow="overflow" vert="horz" wrap="square" lIns="91407" tIns="45703" rIns="91407" bIns="45703" numCol="1" spcCol="0" rtlCol="0" fromWordArt="0" anchor="ctr" anchorCtr="0" forceAA="0" compatLnSpc="1">
              <a:prstTxWarp prst="textNoShape">
                <a:avLst/>
              </a:prstTxWarp>
              <a:noAutofit/>
            </a:bodyPr>
            <a:lstStyle/>
            <a:p>
              <a:pPr algn="ctr" defTabSz="1219150">
                <a:defRPr/>
              </a:pPr>
              <a:endParaRPr lang="en-US" kern="0" dirty="0">
                <a:solidFill>
                  <a:prstClr val="white"/>
                </a:solidFill>
                <a:cs typeface="+mn-ea"/>
                <a:sym typeface="+mn-lt"/>
              </a:endParaRPr>
            </a:p>
          </p:txBody>
        </p:sp>
        <p:sp>
          <p:nvSpPr>
            <p:cNvPr id="52" name="圆角矩形 51"/>
            <p:cNvSpPr/>
            <p:nvPr/>
          </p:nvSpPr>
          <p:spPr>
            <a:xfrm rot="10800000">
              <a:off x="1065429" y="5481163"/>
              <a:ext cx="10139012" cy="789327"/>
            </a:xfrm>
            <a:prstGeom prst="roundRect">
              <a:avLst>
                <a:gd name="adj" fmla="val 8746"/>
              </a:avLst>
            </a:prstGeom>
            <a:solidFill>
              <a:schemeClr val="bg1">
                <a:lumMod val="20000"/>
                <a:lumOff val="80000"/>
                <a:alpha val="69804"/>
              </a:schemeClr>
            </a:solidFill>
            <a:ln w="9525">
              <a:noFill/>
              <a:round/>
              <a:headEnd/>
              <a:tailEnd/>
            </a:ln>
            <a:effectLst>
              <a:outerShdw blurRad="139700" dist="38100" dir="5400000" algn="t" rotWithShape="0">
                <a:prstClr val="black">
                  <a:alpha val="11000"/>
                </a:prstClr>
              </a:outerShdw>
            </a:effectLst>
          </p:spPr>
          <p:txBody>
            <a:bodyPr vert="horz" wrap="square" lIns="91428" tIns="45714" rIns="91428" bIns="45714" numCol="1" anchor="ctr" anchorCtr="0" compatLnSpc="1">
              <a:prstTxWarp prst="textNoShape">
                <a:avLst/>
              </a:prstTxWarp>
            </a:bodyPr>
            <a:lstStyle/>
            <a:p>
              <a:pPr algn="ctr">
                <a:lnSpc>
                  <a:spcPct val="130000"/>
                </a:lnSpc>
              </a:pPr>
              <a:endParaRPr lang="zh-CN" altLang="en-US" sz="1200" b="1">
                <a:solidFill>
                  <a:srgbClr val="231815"/>
                </a:solidFill>
                <a:cs typeface="+mn-ea"/>
                <a:sym typeface="+mn-lt"/>
              </a:endParaRPr>
            </a:p>
          </p:txBody>
        </p:sp>
        <p:grpSp>
          <p:nvGrpSpPr>
            <p:cNvPr id="53" name="组合 52"/>
            <p:cNvGrpSpPr/>
            <p:nvPr/>
          </p:nvGrpSpPr>
          <p:grpSpPr>
            <a:xfrm>
              <a:off x="5153906" y="5681584"/>
              <a:ext cx="1403989" cy="495426"/>
              <a:chOff x="5316511" y="5537172"/>
              <a:chExt cx="1403989" cy="495426"/>
            </a:xfrm>
          </p:grpSpPr>
          <p:pic>
            <p:nvPicPr>
              <p:cNvPr id="98" name="图片 9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16511" y="5537172"/>
                <a:ext cx="495426" cy="495426"/>
              </a:xfrm>
              <a:prstGeom prst="rect">
                <a:avLst/>
              </a:prstGeom>
            </p:spPr>
          </p:pic>
          <p:sp>
            <p:nvSpPr>
              <p:cNvPr id="99" name="IP和芯片"/>
              <p:cNvSpPr txBox="1"/>
              <p:nvPr/>
            </p:nvSpPr>
            <p:spPr>
              <a:xfrm>
                <a:off x="5822818" y="5690677"/>
                <a:ext cx="897682" cy="215444"/>
              </a:xfrm>
              <a:prstGeom prst="rect">
                <a:avLst/>
              </a:prstGeom>
              <a:ln w="3175">
                <a:miter lim="400000"/>
              </a:ln>
              <a:extLst>
                <a:ext uri="{C572A759-6A51-4108-AA02-DFA0A04FC94B}">
                  <ma14:wrappingTextBoxFlag xmlns:ma14="http://schemas.microsoft.com/office/mac/drawingml/2011/main" xmlns="" val="1"/>
                </a:ext>
              </a:extLst>
            </p:spPr>
            <p:txBody>
              <a:bodyPr wrap="none" lIns="0" tIns="0" rIns="0" bIns="0">
                <a:spAutoFit/>
              </a:bodyPr>
              <a:lstStyle>
                <a:defPPr>
                  <a:defRPr lang="zh-CN"/>
                </a:defPPr>
                <a:lvl1pPr algn="ctr" defTabSz="903164" hangingPunct="0">
                  <a:defRPr sz="700" b="0" kern="0">
                    <a:solidFill>
                      <a:schemeClr val="bg1"/>
                    </a:solidFill>
                    <a:latin typeface="+mn-ea"/>
                    <a:cs typeface="FZLanTingHei-M-GBK"/>
                  </a:defRPr>
                </a:lvl1pPr>
              </a:lstStyle>
              <a:p>
                <a:pPr defTabSz="914205">
                  <a:defRPr/>
                </a:pPr>
                <a:r>
                  <a:rPr lang="zh-CN" altLang="en-US" sz="1400" b="1" dirty="0">
                    <a:solidFill>
                      <a:schemeClr val="tx1">
                        <a:lumMod val="75000"/>
                        <a:lumOff val="25000"/>
                      </a:schemeClr>
                    </a:solidFill>
                    <a:latin typeface="+mn-lt"/>
                    <a:cs typeface="+mn-ea"/>
                    <a:sym typeface="+mn-lt"/>
                  </a:rPr>
                  <a:t>达芬奇架构</a:t>
                </a:r>
                <a:endParaRPr lang="en-US" altLang="zh-CN" sz="1400" b="1" dirty="0">
                  <a:solidFill>
                    <a:schemeClr val="tx1">
                      <a:lumMod val="75000"/>
                      <a:lumOff val="25000"/>
                    </a:schemeClr>
                  </a:solidFill>
                  <a:latin typeface="+mn-lt"/>
                  <a:cs typeface="+mn-ea"/>
                  <a:sym typeface="+mn-lt"/>
                </a:endParaRPr>
              </a:p>
            </p:txBody>
          </p:sp>
        </p:grpSp>
        <p:sp>
          <p:nvSpPr>
            <p:cNvPr id="54" name="IP和芯片"/>
            <p:cNvSpPr txBox="1"/>
            <p:nvPr/>
          </p:nvSpPr>
          <p:spPr>
            <a:xfrm>
              <a:off x="3884142" y="5825648"/>
              <a:ext cx="671659" cy="215444"/>
            </a:xfrm>
            <a:prstGeom prst="rect">
              <a:avLst/>
            </a:prstGeom>
            <a:ln w="3175">
              <a:miter lim="400000"/>
            </a:ln>
            <a:extLst>
              <a:ext uri="{C572A759-6A51-4108-AA02-DFA0A04FC94B}">
                <ma14:wrappingTextBoxFlag xmlns:ma14="http://schemas.microsoft.com/office/mac/drawingml/2011/main" xmlns="" val="1"/>
              </a:ext>
            </a:extLst>
          </p:spPr>
          <p:txBody>
            <a:bodyPr wrap="none" lIns="0" tIns="0" rIns="0" bIns="0">
              <a:spAutoFit/>
            </a:bodyPr>
            <a:lstStyle>
              <a:defPPr>
                <a:defRPr lang="zh-CN"/>
              </a:defPPr>
              <a:lvl1pPr algn="ctr" defTabSz="903164" hangingPunct="0">
                <a:defRPr sz="700" b="0" kern="0">
                  <a:solidFill>
                    <a:schemeClr val="bg1"/>
                  </a:solidFill>
                  <a:latin typeface="+mn-ea"/>
                  <a:cs typeface="FZLanTingHei-M-GBK"/>
                </a:defRPr>
              </a:lvl1pPr>
            </a:lstStyle>
            <a:p>
              <a:pPr defTabSz="914205">
                <a:defRPr/>
              </a:pPr>
              <a:r>
                <a:rPr lang="zh-CN" altLang="en-US" sz="1400" dirty="0">
                  <a:solidFill>
                    <a:prstClr val="black"/>
                  </a:solidFill>
                  <a:latin typeface="+mn-lt"/>
                  <a:cs typeface="+mn-ea"/>
                  <a:sym typeface="+mn-lt"/>
                </a:rPr>
                <a:t>昇腾</a:t>
              </a:r>
              <a:r>
                <a:rPr lang="en-US" altLang="zh-CN" sz="1400" dirty="0">
                  <a:solidFill>
                    <a:prstClr val="black"/>
                  </a:solidFill>
                  <a:latin typeface="+mn-lt"/>
                  <a:cs typeface="+mn-ea"/>
                  <a:sym typeface="+mn-lt"/>
                </a:rPr>
                <a:t>310</a:t>
              </a:r>
            </a:p>
          </p:txBody>
        </p:sp>
        <p:pic>
          <p:nvPicPr>
            <p:cNvPr id="55" name="图片 5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70162" y="5518552"/>
              <a:ext cx="1257462" cy="707322"/>
            </a:xfrm>
            <a:prstGeom prst="rect">
              <a:avLst/>
            </a:prstGeom>
          </p:spPr>
        </p:pic>
        <p:pic>
          <p:nvPicPr>
            <p:cNvPr id="56" name="图片 55"/>
            <p:cNvPicPr>
              <a:picLocks noChangeAspect="1"/>
            </p:cNvPicPr>
            <p:nvPr/>
          </p:nvPicPr>
          <p:blipFill>
            <a:blip r:embed="rId7"/>
            <a:stretch>
              <a:fillRect/>
            </a:stretch>
          </p:blipFill>
          <p:spPr>
            <a:xfrm>
              <a:off x="8026042" y="5520491"/>
              <a:ext cx="770554" cy="702564"/>
            </a:xfrm>
            <a:prstGeom prst="rect">
              <a:avLst/>
            </a:prstGeom>
          </p:spPr>
        </p:pic>
        <p:sp>
          <p:nvSpPr>
            <p:cNvPr id="57" name="IP和芯片"/>
            <p:cNvSpPr txBox="1"/>
            <p:nvPr/>
          </p:nvSpPr>
          <p:spPr>
            <a:xfrm>
              <a:off x="7188765" y="5825648"/>
              <a:ext cx="671659" cy="215444"/>
            </a:xfrm>
            <a:prstGeom prst="rect">
              <a:avLst/>
            </a:prstGeom>
            <a:ln w="3175">
              <a:miter lim="400000"/>
            </a:ln>
            <a:extLst>
              <a:ext uri="{C572A759-6A51-4108-AA02-DFA0A04FC94B}">
                <ma14:wrappingTextBoxFlag xmlns:ma14="http://schemas.microsoft.com/office/mac/drawingml/2011/main" xmlns="" val="1"/>
              </a:ext>
            </a:extLst>
          </p:spPr>
          <p:txBody>
            <a:bodyPr wrap="none" lIns="0" tIns="0" rIns="0" bIns="0">
              <a:spAutoFit/>
            </a:bodyPr>
            <a:lstStyle>
              <a:defPPr>
                <a:defRPr lang="zh-CN"/>
              </a:defPPr>
              <a:lvl1pPr algn="ctr" defTabSz="903164" hangingPunct="0">
                <a:defRPr sz="700" b="0" kern="0">
                  <a:solidFill>
                    <a:schemeClr val="bg1"/>
                  </a:solidFill>
                  <a:latin typeface="+mn-ea"/>
                  <a:cs typeface="FZLanTingHei-M-GBK"/>
                </a:defRPr>
              </a:lvl1pPr>
            </a:lstStyle>
            <a:p>
              <a:pPr defTabSz="914205">
                <a:defRPr/>
              </a:pPr>
              <a:r>
                <a:rPr lang="zh-CN" altLang="en-US" sz="1400" dirty="0">
                  <a:solidFill>
                    <a:prstClr val="black"/>
                  </a:solidFill>
                  <a:latin typeface="+mn-lt"/>
                  <a:cs typeface="+mn-ea"/>
                  <a:sym typeface="+mn-lt"/>
                </a:rPr>
                <a:t>昇腾</a:t>
              </a:r>
              <a:r>
                <a:rPr lang="en-US" altLang="zh-CN" sz="1400" dirty="0">
                  <a:solidFill>
                    <a:prstClr val="black"/>
                  </a:solidFill>
                  <a:latin typeface="+mn-lt"/>
                  <a:cs typeface="+mn-ea"/>
                  <a:sym typeface="+mn-lt"/>
                </a:rPr>
                <a:t>910</a:t>
              </a:r>
            </a:p>
          </p:txBody>
        </p:sp>
        <p:sp>
          <p:nvSpPr>
            <p:cNvPr id="58" name="Rectangle 38"/>
            <p:cNvSpPr>
              <a:spLocks noChangeArrowheads="1"/>
            </p:cNvSpPr>
            <p:nvPr/>
          </p:nvSpPr>
          <p:spPr bwMode="auto">
            <a:xfrm>
              <a:off x="1344953" y="4601292"/>
              <a:ext cx="1431931" cy="4616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25000"/>
                </a:lnSpc>
              </a:pPr>
              <a:r>
                <a:rPr lang="zh-CN" altLang="en-US" sz="1200" b="1" dirty="0">
                  <a:solidFill>
                    <a:srgbClr val="C8102E"/>
                  </a:solidFill>
                  <a:cs typeface="+mn-ea"/>
                  <a:sym typeface="+mn-lt"/>
                </a:rPr>
                <a:t>智能手机</a:t>
              </a:r>
              <a:endParaRPr lang="en-US" altLang="zh-CN" sz="1200" b="1" dirty="0">
                <a:solidFill>
                  <a:srgbClr val="C8102E"/>
                </a:solidFill>
                <a:cs typeface="+mn-ea"/>
                <a:sym typeface="+mn-lt"/>
              </a:endParaRPr>
            </a:p>
            <a:p>
              <a:pPr algn="ctr">
                <a:lnSpc>
                  <a:spcPct val="125000"/>
                </a:lnSpc>
              </a:pPr>
              <a:r>
                <a:rPr lang="zh-CN" altLang="en-US" sz="1200" dirty="0">
                  <a:solidFill>
                    <a:schemeClr val="tx1">
                      <a:lumMod val="75000"/>
                      <a:lumOff val="25000"/>
                    </a:schemeClr>
                  </a:solidFill>
                  <a:cs typeface="+mn-ea"/>
                  <a:sym typeface="+mn-lt"/>
                </a:rPr>
                <a:t>算力 </a:t>
              </a:r>
              <a:r>
                <a:rPr lang="en-US" altLang="zh-CN" sz="1200" dirty="0">
                  <a:solidFill>
                    <a:schemeClr val="tx1">
                      <a:lumMod val="75000"/>
                      <a:lumOff val="25000"/>
                    </a:schemeClr>
                  </a:solidFill>
                  <a:cs typeface="+mn-ea"/>
                  <a:sym typeface="+mn-lt"/>
                </a:rPr>
                <a:t>&lt;2TOPS@INT8</a:t>
              </a:r>
              <a:endParaRPr lang="zh-CN" altLang="en-US" sz="1200" dirty="0">
                <a:solidFill>
                  <a:schemeClr val="tx1">
                    <a:lumMod val="75000"/>
                    <a:lumOff val="25000"/>
                  </a:schemeClr>
                </a:solidFill>
                <a:cs typeface="+mn-ea"/>
                <a:sym typeface="+mn-lt"/>
              </a:endParaRPr>
            </a:p>
          </p:txBody>
        </p:sp>
        <p:pic>
          <p:nvPicPr>
            <p:cNvPr id="59" name="Picture 2" descr="Image result for mate 30 pro"/>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53064" y="4565985"/>
              <a:ext cx="399730" cy="532399"/>
            </a:xfrm>
            <a:prstGeom prst="rect">
              <a:avLst/>
            </a:prstGeom>
            <a:noFill/>
            <a:extLst>
              <a:ext uri="{909E8E84-426E-40DD-AFC4-6F175D3DCCD1}">
                <a14:hiddenFill xmlns:a14="http://schemas.microsoft.com/office/drawing/2010/main">
                  <a:solidFill>
                    <a:srgbClr val="FFFFFF"/>
                  </a:solidFill>
                </a14:hiddenFill>
              </a:ext>
            </a:extLst>
          </p:spPr>
        </p:pic>
        <p:grpSp>
          <p:nvGrpSpPr>
            <p:cNvPr id="60" name="组合 59"/>
            <p:cNvGrpSpPr/>
            <p:nvPr/>
          </p:nvGrpSpPr>
          <p:grpSpPr>
            <a:xfrm>
              <a:off x="2797141" y="4045211"/>
              <a:ext cx="738716" cy="376745"/>
              <a:chOff x="5142648" y="3224563"/>
              <a:chExt cx="1548629" cy="789801"/>
            </a:xfrm>
          </p:grpSpPr>
          <p:pic>
            <p:nvPicPr>
              <p:cNvPr id="81" name="图片 8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142648" y="3224563"/>
                <a:ext cx="1548629" cy="789801"/>
              </a:xfrm>
              <a:prstGeom prst="rect">
                <a:avLst/>
              </a:prstGeom>
            </p:spPr>
          </p:pic>
          <p:sp>
            <p:nvSpPr>
              <p:cNvPr id="84" name="矩形 5"/>
              <p:cNvSpPr/>
              <p:nvPr/>
            </p:nvSpPr>
            <p:spPr>
              <a:xfrm>
                <a:off x="5893083" y="3353748"/>
                <a:ext cx="484433" cy="538831"/>
              </a:xfrm>
              <a:custGeom>
                <a:avLst/>
                <a:gdLst>
                  <a:gd name="connsiteX0" fmla="*/ 0 w 2052438"/>
                  <a:gd name="connsiteY0" fmla="*/ 0 h 1954131"/>
                  <a:gd name="connsiteX1" fmla="*/ 2052438 w 2052438"/>
                  <a:gd name="connsiteY1" fmla="*/ 0 h 1954131"/>
                  <a:gd name="connsiteX2" fmla="*/ 2052438 w 2052438"/>
                  <a:gd name="connsiteY2" fmla="*/ 1954131 h 1954131"/>
                  <a:gd name="connsiteX3" fmla="*/ 0 w 2052438"/>
                  <a:gd name="connsiteY3" fmla="*/ 1954131 h 1954131"/>
                  <a:gd name="connsiteX4" fmla="*/ 0 w 2052438"/>
                  <a:gd name="connsiteY4" fmla="*/ 0 h 1954131"/>
                  <a:gd name="connsiteX0" fmla="*/ 0 w 2052438"/>
                  <a:gd name="connsiteY0" fmla="*/ 0 h 2236764"/>
                  <a:gd name="connsiteX1" fmla="*/ 2052438 w 2052438"/>
                  <a:gd name="connsiteY1" fmla="*/ 0 h 2236764"/>
                  <a:gd name="connsiteX2" fmla="*/ 2002562 w 2052438"/>
                  <a:gd name="connsiteY2" fmla="*/ 2236764 h 2236764"/>
                  <a:gd name="connsiteX3" fmla="*/ 0 w 2052438"/>
                  <a:gd name="connsiteY3" fmla="*/ 1954131 h 2236764"/>
                  <a:gd name="connsiteX4" fmla="*/ 0 w 2052438"/>
                  <a:gd name="connsiteY4" fmla="*/ 0 h 2236764"/>
                  <a:gd name="connsiteX0" fmla="*/ 16625 w 2069063"/>
                  <a:gd name="connsiteY0" fmla="*/ 0 h 2236764"/>
                  <a:gd name="connsiteX1" fmla="*/ 2069063 w 2069063"/>
                  <a:gd name="connsiteY1" fmla="*/ 0 h 2236764"/>
                  <a:gd name="connsiteX2" fmla="*/ 2019187 w 2069063"/>
                  <a:gd name="connsiteY2" fmla="*/ 2236764 h 2236764"/>
                  <a:gd name="connsiteX3" fmla="*/ 0 w 2069063"/>
                  <a:gd name="connsiteY3" fmla="*/ 2103760 h 2236764"/>
                  <a:gd name="connsiteX4" fmla="*/ 16625 w 2069063"/>
                  <a:gd name="connsiteY4" fmla="*/ 0 h 2236764"/>
                  <a:gd name="connsiteX0" fmla="*/ 16625 w 2035813"/>
                  <a:gd name="connsiteY0" fmla="*/ 83128 h 2319892"/>
                  <a:gd name="connsiteX1" fmla="*/ 2035813 w 2035813"/>
                  <a:gd name="connsiteY1" fmla="*/ 0 h 2319892"/>
                  <a:gd name="connsiteX2" fmla="*/ 2019187 w 2035813"/>
                  <a:gd name="connsiteY2" fmla="*/ 2319892 h 2319892"/>
                  <a:gd name="connsiteX3" fmla="*/ 0 w 2035813"/>
                  <a:gd name="connsiteY3" fmla="*/ 2186888 h 2319892"/>
                  <a:gd name="connsiteX4" fmla="*/ 16625 w 2035813"/>
                  <a:gd name="connsiteY4" fmla="*/ 83128 h 2319892"/>
                  <a:gd name="connsiteX0" fmla="*/ 0 w 2085690"/>
                  <a:gd name="connsiteY0" fmla="*/ 83128 h 2319892"/>
                  <a:gd name="connsiteX1" fmla="*/ 2085690 w 2085690"/>
                  <a:gd name="connsiteY1" fmla="*/ 0 h 2319892"/>
                  <a:gd name="connsiteX2" fmla="*/ 2069064 w 2085690"/>
                  <a:gd name="connsiteY2" fmla="*/ 2319892 h 2319892"/>
                  <a:gd name="connsiteX3" fmla="*/ 49877 w 2085690"/>
                  <a:gd name="connsiteY3" fmla="*/ 2186888 h 2319892"/>
                  <a:gd name="connsiteX4" fmla="*/ 0 w 2085690"/>
                  <a:gd name="connsiteY4" fmla="*/ 83128 h 2319892"/>
                  <a:gd name="connsiteX0" fmla="*/ 0 w 2085690"/>
                  <a:gd name="connsiteY0" fmla="*/ 83128 h 2319892"/>
                  <a:gd name="connsiteX1" fmla="*/ 2085690 w 2085690"/>
                  <a:gd name="connsiteY1" fmla="*/ 0 h 2319892"/>
                  <a:gd name="connsiteX2" fmla="*/ 2069064 w 2085690"/>
                  <a:gd name="connsiteY2" fmla="*/ 2319892 h 2319892"/>
                  <a:gd name="connsiteX3" fmla="*/ 1 w 2085690"/>
                  <a:gd name="connsiteY3" fmla="*/ 2170262 h 2319892"/>
                  <a:gd name="connsiteX4" fmla="*/ 0 w 2085690"/>
                  <a:gd name="connsiteY4" fmla="*/ 83128 h 2319892"/>
                  <a:gd name="connsiteX0" fmla="*/ 16624 w 2085689"/>
                  <a:gd name="connsiteY0" fmla="*/ 66502 h 2319892"/>
                  <a:gd name="connsiteX1" fmla="*/ 2085689 w 2085689"/>
                  <a:gd name="connsiteY1" fmla="*/ 0 h 2319892"/>
                  <a:gd name="connsiteX2" fmla="*/ 2069063 w 2085689"/>
                  <a:gd name="connsiteY2" fmla="*/ 2319892 h 2319892"/>
                  <a:gd name="connsiteX3" fmla="*/ 0 w 2085689"/>
                  <a:gd name="connsiteY3" fmla="*/ 2170262 h 2319892"/>
                  <a:gd name="connsiteX4" fmla="*/ 16624 w 2085689"/>
                  <a:gd name="connsiteY4" fmla="*/ 66502 h 2319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5689" h="2319892">
                    <a:moveTo>
                      <a:pt x="16624" y="66502"/>
                    </a:moveTo>
                    <a:lnTo>
                      <a:pt x="2085689" y="0"/>
                    </a:lnTo>
                    <a:lnTo>
                      <a:pt x="2069063" y="2319892"/>
                    </a:lnTo>
                    <a:lnTo>
                      <a:pt x="0" y="2170262"/>
                    </a:lnTo>
                    <a:cubicBezTo>
                      <a:pt x="0" y="1474551"/>
                      <a:pt x="16624" y="762213"/>
                      <a:pt x="16624" y="66502"/>
                    </a:cubicBezTo>
                    <a:close/>
                  </a:path>
                </a:pathLst>
              </a:custGeom>
              <a:gradFill>
                <a:gsLst>
                  <a:gs pos="58200">
                    <a:srgbClr val="3E3E3E"/>
                  </a:gs>
                  <a:gs pos="0">
                    <a:srgbClr val="181818"/>
                  </a:gs>
                  <a:gs pos="100000">
                    <a:srgbClr val="6F6F6F"/>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8">
                  <a:cs typeface="+mn-ea"/>
                  <a:sym typeface="+mn-lt"/>
                </a:endParaRPr>
              </a:p>
            </p:txBody>
          </p:sp>
          <p:grpSp>
            <p:nvGrpSpPr>
              <p:cNvPr id="85" name="组合 84"/>
              <p:cNvGrpSpPr/>
              <p:nvPr/>
            </p:nvGrpSpPr>
            <p:grpSpPr>
              <a:xfrm>
                <a:off x="5900462" y="3463192"/>
                <a:ext cx="450339" cy="263838"/>
                <a:chOff x="-773207" y="3040400"/>
                <a:chExt cx="882030" cy="516750"/>
              </a:xfrm>
            </p:grpSpPr>
            <p:sp>
              <p:nvSpPr>
                <p:cNvPr id="86" name="Freeform 5"/>
                <p:cNvSpPr>
                  <a:spLocks/>
                </p:cNvSpPr>
                <p:nvPr/>
              </p:nvSpPr>
              <p:spPr bwMode="auto">
                <a:xfrm>
                  <a:off x="-773207" y="3470080"/>
                  <a:ext cx="126740" cy="87070"/>
                </a:xfrm>
                <a:custGeom>
                  <a:avLst/>
                  <a:gdLst>
                    <a:gd name="T0" fmla="*/ 0 w 104"/>
                    <a:gd name="T1" fmla="*/ 69 h 71"/>
                    <a:gd name="T2" fmla="*/ 12 w 104"/>
                    <a:gd name="T3" fmla="*/ 34 h 71"/>
                    <a:gd name="T4" fmla="*/ 23 w 104"/>
                    <a:gd name="T5" fmla="*/ 1 h 71"/>
                    <a:gd name="T6" fmla="*/ 40 w 104"/>
                    <a:gd name="T7" fmla="*/ 1 h 71"/>
                    <a:gd name="T8" fmla="*/ 56 w 104"/>
                    <a:gd name="T9" fmla="*/ 2 h 71"/>
                    <a:gd name="T10" fmla="*/ 52 w 104"/>
                    <a:gd name="T11" fmla="*/ 16 h 71"/>
                    <a:gd name="T12" fmla="*/ 47 w 104"/>
                    <a:gd name="T13" fmla="*/ 29 h 71"/>
                    <a:gd name="T14" fmla="*/ 62 w 104"/>
                    <a:gd name="T15" fmla="*/ 30 h 71"/>
                    <a:gd name="T16" fmla="*/ 77 w 104"/>
                    <a:gd name="T17" fmla="*/ 30 h 71"/>
                    <a:gd name="T18" fmla="*/ 82 w 104"/>
                    <a:gd name="T19" fmla="*/ 15 h 71"/>
                    <a:gd name="T20" fmla="*/ 86 w 104"/>
                    <a:gd name="T21" fmla="*/ 0 h 71"/>
                    <a:gd name="T22" fmla="*/ 95 w 104"/>
                    <a:gd name="T23" fmla="*/ 0 h 71"/>
                    <a:gd name="T24" fmla="*/ 104 w 104"/>
                    <a:gd name="T25" fmla="*/ 0 h 71"/>
                    <a:gd name="T26" fmla="*/ 93 w 104"/>
                    <a:gd name="T27" fmla="*/ 35 h 71"/>
                    <a:gd name="T28" fmla="*/ 81 w 104"/>
                    <a:gd name="T29" fmla="*/ 71 h 71"/>
                    <a:gd name="T30" fmla="*/ 72 w 104"/>
                    <a:gd name="T31" fmla="*/ 71 h 71"/>
                    <a:gd name="T32" fmla="*/ 63 w 104"/>
                    <a:gd name="T33" fmla="*/ 71 h 71"/>
                    <a:gd name="T34" fmla="*/ 66 w 104"/>
                    <a:gd name="T35" fmla="*/ 60 h 71"/>
                    <a:gd name="T36" fmla="*/ 58 w 104"/>
                    <a:gd name="T37" fmla="*/ 41 h 71"/>
                    <a:gd name="T38" fmla="*/ 44 w 104"/>
                    <a:gd name="T39" fmla="*/ 41 h 71"/>
                    <a:gd name="T40" fmla="*/ 38 w 104"/>
                    <a:gd name="T41" fmla="*/ 55 h 71"/>
                    <a:gd name="T42" fmla="*/ 33 w 104"/>
                    <a:gd name="T43" fmla="*/ 70 h 71"/>
                    <a:gd name="T44" fmla="*/ 17 w 104"/>
                    <a:gd name="T45" fmla="*/ 70 h 71"/>
                    <a:gd name="T46" fmla="*/ 0 w 104"/>
                    <a:gd name="T47" fmla="*/ 6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 h="71">
                      <a:moveTo>
                        <a:pt x="0" y="69"/>
                      </a:moveTo>
                      <a:cubicBezTo>
                        <a:pt x="0" y="68"/>
                        <a:pt x="6" y="52"/>
                        <a:pt x="12" y="34"/>
                      </a:cubicBezTo>
                      <a:cubicBezTo>
                        <a:pt x="23" y="1"/>
                        <a:pt x="23" y="1"/>
                        <a:pt x="23" y="1"/>
                      </a:cubicBezTo>
                      <a:cubicBezTo>
                        <a:pt x="40" y="1"/>
                        <a:pt x="40" y="1"/>
                        <a:pt x="40" y="1"/>
                      </a:cubicBezTo>
                      <a:cubicBezTo>
                        <a:pt x="49" y="0"/>
                        <a:pt x="56" y="1"/>
                        <a:pt x="56" y="2"/>
                      </a:cubicBezTo>
                      <a:cubicBezTo>
                        <a:pt x="56" y="3"/>
                        <a:pt x="54" y="9"/>
                        <a:pt x="52" y="16"/>
                      </a:cubicBezTo>
                      <a:cubicBezTo>
                        <a:pt x="49" y="23"/>
                        <a:pt x="47" y="29"/>
                        <a:pt x="47" y="29"/>
                      </a:cubicBezTo>
                      <a:cubicBezTo>
                        <a:pt x="47" y="30"/>
                        <a:pt x="54" y="30"/>
                        <a:pt x="62" y="30"/>
                      </a:cubicBezTo>
                      <a:cubicBezTo>
                        <a:pt x="77" y="30"/>
                        <a:pt x="77" y="30"/>
                        <a:pt x="77" y="30"/>
                      </a:cubicBezTo>
                      <a:cubicBezTo>
                        <a:pt x="82" y="15"/>
                        <a:pt x="82" y="15"/>
                        <a:pt x="82" y="15"/>
                      </a:cubicBezTo>
                      <a:cubicBezTo>
                        <a:pt x="86" y="0"/>
                        <a:pt x="86" y="0"/>
                        <a:pt x="86" y="0"/>
                      </a:cubicBezTo>
                      <a:cubicBezTo>
                        <a:pt x="95" y="0"/>
                        <a:pt x="95" y="0"/>
                        <a:pt x="95" y="0"/>
                      </a:cubicBezTo>
                      <a:cubicBezTo>
                        <a:pt x="104" y="0"/>
                        <a:pt x="104" y="0"/>
                        <a:pt x="104" y="0"/>
                      </a:cubicBezTo>
                      <a:cubicBezTo>
                        <a:pt x="93" y="35"/>
                        <a:pt x="93" y="35"/>
                        <a:pt x="93" y="35"/>
                      </a:cubicBezTo>
                      <a:cubicBezTo>
                        <a:pt x="81" y="71"/>
                        <a:pt x="81" y="71"/>
                        <a:pt x="81" y="71"/>
                      </a:cubicBezTo>
                      <a:cubicBezTo>
                        <a:pt x="72" y="71"/>
                        <a:pt x="72" y="71"/>
                        <a:pt x="72" y="71"/>
                      </a:cubicBezTo>
                      <a:cubicBezTo>
                        <a:pt x="63" y="71"/>
                        <a:pt x="63" y="71"/>
                        <a:pt x="63" y="71"/>
                      </a:cubicBezTo>
                      <a:cubicBezTo>
                        <a:pt x="66" y="60"/>
                        <a:pt x="66" y="60"/>
                        <a:pt x="66" y="60"/>
                      </a:cubicBezTo>
                      <a:cubicBezTo>
                        <a:pt x="74" y="39"/>
                        <a:pt x="75" y="41"/>
                        <a:pt x="58" y="41"/>
                      </a:cubicBezTo>
                      <a:cubicBezTo>
                        <a:pt x="44" y="41"/>
                        <a:pt x="44" y="41"/>
                        <a:pt x="44" y="41"/>
                      </a:cubicBezTo>
                      <a:cubicBezTo>
                        <a:pt x="38" y="55"/>
                        <a:pt x="38" y="55"/>
                        <a:pt x="38" y="55"/>
                      </a:cubicBezTo>
                      <a:cubicBezTo>
                        <a:pt x="33" y="70"/>
                        <a:pt x="33" y="70"/>
                        <a:pt x="33" y="70"/>
                      </a:cubicBezTo>
                      <a:cubicBezTo>
                        <a:pt x="17" y="70"/>
                        <a:pt x="17" y="70"/>
                        <a:pt x="17" y="70"/>
                      </a:cubicBezTo>
                      <a:cubicBezTo>
                        <a:pt x="8" y="70"/>
                        <a:pt x="0" y="70"/>
                        <a:pt x="0" y="69"/>
                      </a:cubicBez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87" name="Freeform 6"/>
                <p:cNvSpPr>
                  <a:spLocks/>
                </p:cNvSpPr>
                <p:nvPr/>
              </p:nvSpPr>
              <p:spPr bwMode="auto">
                <a:xfrm>
                  <a:off x="-656255" y="3470080"/>
                  <a:ext cx="68522" cy="86039"/>
                </a:xfrm>
                <a:custGeom>
                  <a:avLst/>
                  <a:gdLst>
                    <a:gd name="T0" fmla="*/ 0 w 56"/>
                    <a:gd name="T1" fmla="*/ 69 h 70"/>
                    <a:gd name="T2" fmla="*/ 11 w 56"/>
                    <a:gd name="T3" fmla="*/ 34 h 70"/>
                    <a:gd name="T4" fmla="*/ 23 w 56"/>
                    <a:gd name="T5" fmla="*/ 0 h 70"/>
                    <a:gd name="T6" fmla="*/ 39 w 56"/>
                    <a:gd name="T7" fmla="*/ 0 h 70"/>
                    <a:gd name="T8" fmla="*/ 55 w 56"/>
                    <a:gd name="T9" fmla="*/ 4 h 70"/>
                    <a:gd name="T10" fmla="*/ 43 w 56"/>
                    <a:gd name="T11" fmla="*/ 39 h 70"/>
                    <a:gd name="T12" fmla="*/ 33 w 56"/>
                    <a:gd name="T13" fmla="*/ 70 h 70"/>
                    <a:gd name="T14" fmla="*/ 17 w 56"/>
                    <a:gd name="T15" fmla="*/ 70 h 70"/>
                    <a:gd name="T16" fmla="*/ 0 w 56"/>
                    <a:gd name="T17"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0">
                      <a:moveTo>
                        <a:pt x="0" y="69"/>
                      </a:moveTo>
                      <a:cubicBezTo>
                        <a:pt x="0" y="68"/>
                        <a:pt x="5" y="52"/>
                        <a:pt x="11" y="34"/>
                      </a:cubicBezTo>
                      <a:cubicBezTo>
                        <a:pt x="23" y="0"/>
                        <a:pt x="23" y="0"/>
                        <a:pt x="23" y="0"/>
                      </a:cubicBezTo>
                      <a:cubicBezTo>
                        <a:pt x="39" y="0"/>
                        <a:pt x="39" y="0"/>
                        <a:pt x="39" y="0"/>
                      </a:cubicBezTo>
                      <a:cubicBezTo>
                        <a:pt x="54" y="0"/>
                        <a:pt x="56" y="1"/>
                        <a:pt x="55" y="4"/>
                      </a:cubicBezTo>
                      <a:cubicBezTo>
                        <a:pt x="54" y="6"/>
                        <a:pt x="49" y="22"/>
                        <a:pt x="43" y="39"/>
                      </a:cubicBezTo>
                      <a:cubicBezTo>
                        <a:pt x="33" y="70"/>
                        <a:pt x="33" y="70"/>
                        <a:pt x="33" y="70"/>
                      </a:cubicBezTo>
                      <a:cubicBezTo>
                        <a:pt x="17" y="70"/>
                        <a:pt x="17" y="70"/>
                        <a:pt x="17" y="70"/>
                      </a:cubicBezTo>
                      <a:cubicBezTo>
                        <a:pt x="8" y="70"/>
                        <a:pt x="0" y="70"/>
                        <a:pt x="0" y="69"/>
                      </a:cubicBez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88" name="Freeform 7"/>
                <p:cNvSpPr>
                  <a:spLocks/>
                </p:cNvSpPr>
                <p:nvPr/>
              </p:nvSpPr>
              <p:spPr bwMode="auto">
                <a:xfrm>
                  <a:off x="-598553" y="3470080"/>
                  <a:ext cx="126740" cy="87070"/>
                </a:xfrm>
                <a:custGeom>
                  <a:avLst/>
                  <a:gdLst>
                    <a:gd name="T0" fmla="*/ 0 w 104"/>
                    <a:gd name="T1" fmla="*/ 68 h 71"/>
                    <a:gd name="T2" fmla="*/ 2 w 104"/>
                    <a:gd name="T3" fmla="*/ 62 h 71"/>
                    <a:gd name="T4" fmla="*/ 33 w 104"/>
                    <a:gd name="T5" fmla="*/ 58 h 71"/>
                    <a:gd name="T6" fmla="*/ 66 w 104"/>
                    <a:gd name="T7" fmla="*/ 52 h 71"/>
                    <a:gd name="T8" fmla="*/ 43 w 104"/>
                    <a:gd name="T9" fmla="*/ 41 h 71"/>
                    <a:gd name="T10" fmla="*/ 14 w 104"/>
                    <a:gd name="T11" fmla="*/ 38 h 71"/>
                    <a:gd name="T12" fmla="*/ 32 w 104"/>
                    <a:gd name="T13" fmla="*/ 5 h 71"/>
                    <a:gd name="T14" fmla="*/ 72 w 104"/>
                    <a:gd name="T15" fmla="*/ 0 h 71"/>
                    <a:gd name="T16" fmla="*/ 104 w 104"/>
                    <a:gd name="T17" fmla="*/ 1 h 71"/>
                    <a:gd name="T18" fmla="*/ 102 w 104"/>
                    <a:gd name="T19" fmla="*/ 8 h 71"/>
                    <a:gd name="T20" fmla="*/ 81 w 104"/>
                    <a:gd name="T21" fmla="*/ 13 h 71"/>
                    <a:gd name="T22" fmla="*/ 49 w 104"/>
                    <a:gd name="T23" fmla="*/ 22 h 71"/>
                    <a:gd name="T24" fmla="*/ 70 w 104"/>
                    <a:gd name="T25" fmla="*/ 30 h 71"/>
                    <a:gd name="T26" fmla="*/ 90 w 104"/>
                    <a:gd name="T27" fmla="*/ 30 h 71"/>
                    <a:gd name="T28" fmla="*/ 90 w 104"/>
                    <a:gd name="T29" fmla="*/ 37 h 71"/>
                    <a:gd name="T30" fmla="*/ 77 w 104"/>
                    <a:gd name="T31" fmla="*/ 63 h 71"/>
                    <a:gd name="T32" fmla="*/ 70 w 104"/>
                    <a:gd name="T33" fmla="*/ 70 h 71"/>
                    <a:gd name="T34" fmla="*/ 35 w 104"/>
                    <a:gd name="T35" fmla="*/ 70 h 71"/>
                    <a:gd name="T36" fmla="*/ 0 w 104"/>
                    <a:gd name="T37" fmla="*/ 6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4" h="71">
                      <a:moveTo>
                        <a:pt x="0" y="68"/>
                      </a:moveTo>
                      <a:cubicBezTo>
                        <a:pt x="0" y="67"/>
                        <a:pt x="1" y="64"/>
                        <a:pt x="2" y="62"/>
                      </a:cubicBezTo>
                      <a:cubicBezTo>
                        <a:pt x="4" y="58"/>
                        <a:pt x="7" y="58"/>
                        <a:pt x="33" y="58"/>
                      </a:cubicBezTo>
                      <a:cubicBezTo>
                        <a:pt x="61" y="58"/>
                        <a:pt x="62" y="58"/>
                        <a:pt x="66" y="52"/>
                      </a:cubicBezTo>
                      <a:cubicBezTo>
                        <a:pt x="74" y="41"/>
                        <a:pt x="73" y="41"/>
                        <a:pt x="43" y="41"/>
                      </a:cubicBezTo>
                      <a:cubicBezTo>
                        <a:pt x="20" y="41"/>
                        <a:pt x="15" y="40"/>
                        <a:pt x="14" y="38"/>
                      </a:cubicBezTo>
                      <a:cubicBezTo>
                        <a:pt x="11" y="30"/>
                        <a:pt x="20" y="13"/>
                        <a:pt x="32" y="5"/>
                      </a:cubicBezTo>
                      <a:cubicBezTo>
                        <a:pt x="39" y="1"/>
                        <a:pt x="41" y="0"/>
                        <a:pt x="72" y="0"/>
                      </a:cubicBezTo>
                      <a:cubicBezTo>
                        <a:pt x="90" y="0"/>
                        <a:pt x="104" y="1"/>
                        <a:pt x="104" y="1"/>
                      </a:cubicBezTo>
                      <a:cubicBezTo>
                        <a:pt x="104" y="2"/>
                        <a:pt x="104" y="5"/>
                        <a:pt x="102" y="8"/>
                      </a:cubicBezTo>
                      <a:cubicBezTo>
                        <a:pt x="100" y="13"/>
                        <a:pt x="100" y="13"/>
                        <a:pt x="81" y="13"/>
                      </a:cubicBezTo>
                      <a:cubicBezTo>
                        <a:pt x="62" y="13"/>
                        <a:pt x="51" y="16"/>
                        <a:pt x="49" y="22"/>
                      </a:cubicBezTo>
                      <a:cubicBezTo>
                        <a:pt x="46" y="29"/>
                        <a:pt x="50" y="30"/>
                        <a:pt x="70" y="30"/>
                      </a:cubicBezTo>
                      <a:cubicBezTo>
                        <a:pt x="90" y="30"/>
                        <a:pt x="90" y="30"/>
                        <a:pt x="90" y="30"/>
                      </a:cubicBezTo>
                      <a:cubicBezTo>
                        <a:pt x="90" y="37"/>
                        <a:pt x="90" y="37"/>
                        <a:pt x="90" y="37"/>
                      </a:cubicBezTo>
                      <a:cubicBezTo>
                        <a:pt x="90" y="46"/>
                        <a:pt x="85" y="56"/>
                        <a:pt x="77" y="63"/>
                      </a:cubicBezTo>
                      <a:cubicBezTo>
                        <a:pt x="70" y="70"/>
                        <a:pt x="70" y="70"/>
                        <a:pt x="70" y="70"/>
                      </a:cubicBezTo>
                      <a:cubicBezTo>
                        <a:pt x="35" y="70"/>
                        <a:pt x="35" y="70"/>
                        <a:pt x="35" y="70"/>
                      </a:cubicBezTo>
                      <a:cubicBezTo>
                        <a:pt x="10" y="71"/>
                        <a:pt x="0" y="70"/>
                        <a:pt x="0" y="68"/>
                      </a:cubicBez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89" name="Freeform 8"/>
                <p:cNvSpPr>
                  <a:spLocks/>
                </p:cNvSpPr>
                <p:nvPr/>
              </p:nvSpPr>
              <p:spPr bwMode="auto">
                <a:xfrm>
                  <a:off x="-481601" y="3470080"/>
                  <a:ext cx="67492" cy="86039"/>
                </a:xfrm>
                <a:custGeom>
                  <a:avLst/>
                  <a:gdLst>
                    <a:gd name="T0" fmla="*/ 0 w 55"/>
                    <a:gd name="T1" fmla="*/ 69 h 70"/>
                    <a:gd name="T2" fmla="*/ 11 w 55"/>
                    <a:gd name="T3" fmla="*/ 34 h 70"/>
                    <a:gd name="T4" fmla="*/ 22 w 55"/>
                    <a:gd name="T5" fmla="*/ 0 h 70"/>
                    <a:gd name="T6" fmla="*/ 39 w 55"/>
                    <a:gd name="T7" fmla="*/ 0 h 70"/>
                    <a:gd name="T8" fmla="*/ 54 w 55"/>
                    <a:gd name="T9" fmla="*/ 4 h 70"/>
                    <a:gd name="T10" fmla="*/ 43 w 55"/>
                    <a:gd name="T11" fmla="*/ 39 h 70"/>
                    <a:gd name="T12" fmla="*/ 33 w 55"/>
                    <a:gd name="T13" fmla="*/ 70 h 70"/>
                    <a:gd name="T14" fmla="*/ 16 w 55"/>
                    <a:gd name="T15" fmla="*/ 70 h 70"/>
                    <a:gd name="T16" fmla="*/ 0 w 55"/>
                    <a:gd name="T17"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70">
                      <a:moveTo>
                        <a:pt x="0" y="69"/>
                      </a:moveTo>
                      <a:cubicBezTo>
                        <a:pt x="0" y="68"/>
                        <a:pt x="5" y="52"/>
                        <a:pt x="11" y="34"/>
                      </a:cubicBezTo>
                      <a:cubicBezTo>
                        <a:pt x="22" y="0"/>
                        <a:pt x="22" y="0"/>
                        <a:pt x="22" y="0"/>
                      </a:cubicBezTo>
                      <a:cubicBezTo>
                        <a:pt x="39" y="0"/>
                        <a:pt x="39" y="0"/>
                        <a:pt x="39" y="0"/>
                      </a:cubicBezTo>
                      <a:cubicBezTo>
                        <a:pt x="54" y="0"/>
                        <a:pt x="55" y="1"/>
                        <a:pt x="54" y="4"/>
                      </a:cubicBezTo>
                      <a:cubicBezTo>
                        <a:pt x="54" y="6"/>
                        <a:pt x="49" y="22"/>
                        <a:pt x="43" y="39"/>
                      </a:cubicBezTo>
                      <a:cubicBezTo>
                        <a:pt x="33" y="70"/>
                        <a:pt x="33" y="70"/>
                        <a:pt x="33" y="70"/>
                      </a:cubicBezTo>
                      <a:cubicBezTo>
                        <a:pt x="16" y="70"/>
                        <a:pt x="16" y="70"/>
                        <a:pt x="16" y="70"/>
                      </a:cubicBezTo>
                      <a:cubicBezTo>
                        <a:pt x="7" y="70"/>
                        <a:pt x="0" y="70"/>
                        <a:pt x="0" y="69"/>
                      </a:cubicBez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90" name="Freeform 9"/>
                <p:cNvSpPr>
                  <a:spLocks/>
                </p:cNvSpPr>
                <p:nvPr/>
              </p:nvSpPr>
              <p:spPr bwMode="auto">
                <a:xfrm>
                  <a:off x="-417716" y="3470080"/>
                  <a:ext cx="95313" cy="87070"/>
                </a:xfrm>
                <a:custGeom>
                  <a:avLst/>
                  <a:gdLst>
                    <a:gd name="T0" fmla="*/ 3 w 78"/>
                    <a:gd name="T1" fmla="*/ 66 h 71"/>
                    <a:gd name="T2" fmla="*/ 9 w 78"/>
                    <a:gd name="T3" fmla="*/ 25 h 71"/>
                    <a:gd name="T4" fmla="*/ 16 w 78"/>
                    <a:gd name="T5" fmla="*/ 0 h 71"/>
                    <a:gd name="T6" fmla="*/ 33 w 78"/>
                    <a:gd name="T7" fmla="*/ 0 h 71"/>
                    <a:gd name="T8" fmla="*/ 50 w 78"/>
                    <a:gd name="T9" fmla="*/ 0 h 71"/>
                    <a:gd name="T10" fmla="*/ 41 w 78"/>
                    <a:gd name="T11" fmla="*/ 26 h 71"/>
                    <a:gd name="T12" fmla="*/ 34 w 78"/>
                    <a:gd name="T13" fmla="*/ 55 h 71"/>
                    <a:gd name="T14" fmla="*/ 56 w 78"/>
                    <a:gd name="T15" fmla="*/ 58 h 71"/>
                    <a:gd name="T16" fmla="*/ 78 w 78"/>
                    <a:gd name="T17" fmla="*/ 59 h 71"/>
                    <a:gd name="T18" fmla="*/ 77 w 78"/>
                    <a:gd name="T19" fmla="*/ 66 h 71"/>
                    <a:gd name="T20" fmla="*/ 40 w 78"/>
                    <a:gd name="T21" fmla="*/ 71 h 71"/>
                    <a:gd name="T22" fmla="*/ 3 w 78"/>
                    <a:gd name="T23" fmla="*/ 6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71">
                      <a:moveTo>
                        <a:pt x="3" y="66"/>
                      </a:moveTo>
                      <a:cubicBezTo>
                        <a:pt x="0" y="59"/>
                        <a:pt x="1" y="50"/>
                        <a:pt x="9" y="25"/>
                      </a:cubicBezTo>
                      <a:cubicBezTo>
                        <a:pt x="16" y="0"/>
                        <a:pt x="16" y="0"/>
                        <a:pt x="16" y="0"/>
                      </a:cubicBezTo>
                      <a:cubicBezTo>
                        <a:pt x="33" y="0"/>
                        <a:pt x="33" y="0"/>
                        <a:pt x="33" y="0"/>
                      </a:cubicBezTo>
                      <a:cubicBezTo>
                        <a:pt x="50" y="0"/>
                        <a:pt x="50" y="0"/>
                        <a:pt x="50" y="0"/>
                      </a:cubicBezTo>
                      <a:cubicBezTo>
                        <a:pt x="41" y="26"/>
                        <a:pt x="41" y="26"/>
                        <a:pt x="41" y="26"/>
                      </a:cubicBezTo>
                      <a:cubicBezTo>
                        <a:pt x="37" y="40"/>
                        <a:pt x="33" y="53"/>
                        <a:pt x="34" y="55"/>
                      </a:cubicBezTo>
                      <a:cubicBezTo>
                        <a:pt x="35" y="57"/>
                        <a:pt x="40" y="58"/>
                        <a:pt x="56" y="58"/>
                      </a:cubicBezTo>
                      <a:cubicBezTo>
                        <a:pt x="68" y="58"/>
                        <a:pt x="78" y="59"/>
                        <a:pt x="78" y="59"/>
                      </a:cubicBezTo>
                      <a:cubicBezTo>
                        <a:pt x="78" y="60"/>
                        <a:pt x="77" y="63"/>
                        <a:pt x="77" y="66"/>
                      </a:cubicBezTo>
                      <a:cubicBezTo>
                        <a:pt x="75" y="71"/>
                        <a:pt x="75" y="71"/>
                        <a:pt x="40" y="71"/>
                      </a:cubicBezTo>
                      <a:cubicBezTo>
                        <a:pt x="8" y="71"/>
                        <a:pt x="5" y="70"/>
                        <a:pt x="3" y="66"/>
                      </a:cubicBez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91" name="Freeform 10"/>
                <p:cNvSpPr>
                  <a:spLocks/>
                </p:cNvSpPr>
                <p:nvPr/>
              </p:nvSpPr>
              <p:spPr bwMode="auto">
                <a:xfrm>
                  <a:off x="-310038" y="3470080"/>
                  <a:ext cx="70583" cy="87070"/>
                </a:xfrm>
                <a:custGeom>
                  <a:avLst/>
                  <a:gdLst>
                    <a:gd name="T0" fmla="*/ 1 w 58"/>
                    <a:gd name="T1" fmla="*/ 68 h 71"/>
                    <a:gd name="T2" fmla="*/ 13 w 58"/>
                    <a:gd name="T3" fmla="*/ 33 h 71"/>
                    <a:gd name="T4" fmla="*/ 24 w 58"/>
                    <a:gd name="T5" fmla="*/ 0 h 71"/>
                    <a:gd name="T6" fmla="*/ 41 w 58"/>
                    <a:gd name="T7" fmla="*/ 0 h 71"/>
                    <a:gd name="T8" fmla="*/ 58 w 58"/>
                    <a:gd name="T9" fmla="*/ 0 h 71"/>
                    <a:gd name="T10" fmla="*/ 46 w 58"/>
                    <a:gd name="T11" fmla="*/ 35 h 71"/>
                    <a:gd name="T12" fmla="*/ 34 w 58"/>
                    <a:gd name="T13" fmla="*/ 71 h 71"/>
                    <a:gd name="T14" fmla="*/ 17 w 58"/>
                    <a:gd name="T15" fmla="*/ 71 h 71"/>
                    <a:gd name="T16" fmla="*/ 1 w 58"/>
                    <a:gd name="T17" fmla="*/ 6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71">
                      <a:moveTo>
                        <a:pt x="1" y="68"/>
                      </a:moveTo>
                      <a:cubicBezTo>
                        <a:pt x="1" y="66"/>
                        <a:pt x="7" y="51"/>
                        <a:pt x="13" y="33"/>
                      </a:cubicBezTo>
                      <a:cubicBezTo>
                        <a:pt x="24" y="0"/>
                        <a:pt x="24" y="0"/>
                        <a:pt x="24" y="0"/>
                      </a:cubicBezTo>
                      <a:cubicBezTo>
                        <a:pt x="41" y="0"/>
                        <a:pt x="41" y="0"/>
                        <a:pt x="41" y="0"/>
                      </a:cubicBezTo>
                      <a:cubicBezTo>
                        <a:pt x="58" y="0"/>
                        <a:pt x="58" y="0"/>
                        <a:pt x="58" y="0"/>
                      </a:cubicBezTo>
                      <a:cubicBezTo>
                        <a:pt x="46" y="35"/>
                        <a:pt x="46" y="35"/>
                        <a:pt x="46" y="35"/>
                      </a:cubicBezTo>
                      <a:cubicBezTo>
                        <a:pt x="34" y="71"/>
                        <a:pt x="34" y="71"/>
                        <a:pt x="34" y="71"/>
                      </a:cubicBezTo>
                      <a:cubicBezTo>
                        <a:pt x="17" y="71"/>
                        <a:pt x="17" y="71"/>
                        <a:pt x="17" y="71"/>
                      </a:cubicBezTo>
                      <a:cubicBezTo>
                        <a:pt x="4" y="71"/>
                        <a:pt x="0" y="70"/>
                        <a:pt x="1" y="68"/>
                      </a:cubicBez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92" name="Freeform 11"/>
                <p:cNvSpPr>
                  <a:spLocks/>
                </p:cNvSpPr>
                <p:nvPr/>
              </p:nvSpPr>
              <p:spPr bwMode="auto">
                <a:xfrm>
                  <a:off x="-242031" y="3470080"/>
                  <a:ext cx="117467" cy="87070"/>
                </a:xfrm>
                <a:custGeom>
                  <a:avLst/>
                  <a:gdLst>
                    <a:gd name="T0" fmla="*/ 2 w 96"/>
                    <a:gd name="T1" fmla="*/ 68 h 71"/>
                    <a:gd name="T2" fmla="*/ 0 w 96"/>
                    <a:gd name="T3" fmla="*/ 55 h 71"/>
                    <a:gd name="T4" fmla="*/ 26 w 96"/>
                    <a:gd name="T5" fmla="*/ 6 h 71"/>
                    <a:gd name="T6" fmla="*/ 66 w 96"/>
                    <a:gd name="T7" fmla="*/ 0 h 71"/>
                    <a:gd name="T8" fmla="*/ 96 w 96"/>
                    <a:gd name="T9" fmla="*/ 0 h 71"/>
                    <a:gd name="T10" fmla="*/ 95 w 96"/>
                    <a:gd name="T11" fmla="*/ 5 h 71"/>
                    <a:gd name="T12" fmla="*/ 94 w 96"/>
                    <a:gd name="T13" fmla="*/ 12 h 71"/>
                    <a:gd name="T14" fmla="*/ 73 w 96"/>
                    <a:gd name="T15" fmla="*/ 13 h 71"/>
                    <a:gd name="T16" fmla="*/ 36 w 96"/>
                    <a:gd name="T17" fmla="*/ 36 h 71"/>
                    <a:gd name="T18" fmla="*/ 55 w 96"/>
                    <a:gd name="T19" fmla="*/ 58 h 71"/>
                    <a:gd name="T20" fmla="*/ 77 w 96"/>
                    <a:gd name="T21" fmla="*/ 59 h 71"/>
                    <a:gd name="T22" fmla="*/ 74 w 96"/>
                    <a:gd name="T23" fmla="*/ 65 h 71"/>
                    <a:gd name="T24" fmla="*/ 72 w 96"/>
                    <a:gd name="T25" fmla="*/ 71 h 71"/>
                    <a:gd name="T26" fmla="*/ 39 w 96"/>
                    <a:gd name="T27" fmla="*/ 71 h 71"/>
                    <a:gd name="T28" fmla="*/ 2 w 96"/>
                    <a:gd name="T29" fmla="*/ 6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71">
                      <a:moveTo>
                        <a:pt x="2" y="68"/>
                      </a:moveTo>
                      <a:cubicBezTo>
                        <a:pt x="1" y="67"/>
                        <a:pt x="0" y="61"/>
                        <a:pt x="0" y="55"/>
                      </a:cubicBezTo>
                      <a:cubicBezTo>
                        <a:pt x="0" y="37"/>
                        <a:pt x="12" y="14"/>
                        <a:pt x="26" y="6"/>
                      </a:cubicBezTo>
                      <a:cubicBezTo>
                        <a:pt x="35" y="1"/>
                        <a:pt x="37" y="0"/>
                        <a:pt x="66" y="0"/>
                      </a:cubicBezTo>
                      <a:cubicBezTo>
                        <a:pt x="96" y="0"/>
                        <a:pt x="96" y="0"/>
                        <a:pt x="96" y="0"/>
                      </a:cubicBezTo>
                      <a:cubicBezTo>
                        <a:pt x="95" y="5"/>
                        <a:pt x="95" y="5"/>
                        <a:pt x="95" y="5"/>
                      </a:cubicBezTo>
                      <a:cubicBezTo>
                        <a:pt x="94" y="8"/>
                        <a:pt x="94" y="11"/>
                        <a:pt x="94" y="12"/>
                      </a:cubicBezTo>
                      <a:cubicBezTo>
                        <a:pt x="94" y="12"/>
                        <a:pt x="84" y="13"/>
                        <a:pt x="73" y="13"/>
                      </a:cubicBezTo>
                      <a:cubicBezTo>
                        <a:pt x="46" y="13"/>
                        <a:pt x="43" y="15"/>
                        <a:pt x="36" y="36"/>
                      </a:cubicBezTo>
                      <a:cubicBezTo>
                        <a:pt x="29" y="57"/>
                        <a:pt x="30" y="58"/>
                        <a:pt x="55" y="58"/>
                      </a:cubicBezTo>
                      <a:cubicBezTo>
                        <a:pt x="67" y="58"/>
                        <a:pt x="77" y="58"/>
                        <a:pt x="77" y="59"/>
                      </a:cubicBezTo>
                      <a:cubicBezTo>
                        <a:pt x="77" y="59"/>
                        <a:pt x="76" y="62"/>
                        <a:pt x="74" y="65"/>
                      </a:cubicBezTo>
                      <a:cubicBezTo>
                        <a:pt x="72" y="71"/>
                        <a:pt x="72" y="71"/>
                        <a:pt x="72" y="71"/>
                      </a:cubicBezTo>
                      <a:cubicBezTo>
                        <a:pt x="39" y="71"/>
                        <a:pt x="39" y="71"/>
                        <a:pt x="39" y="71"/>
                      </a:cubicBezTo>
                      <a:cubicBezTo>
                        <a:pt x="15" y="71"/>
                        <a:pt x="4" y="70"/>
                        <a:pt x="2" y="68"/>
                      </a:cubicBez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93" name="Freeform 12"/>
                <p:cNvSpPr>
                  <a:spLocks noEditPoints="1"/>
                </p:cNvSpPr>
                <p:nvPr/>
              </p:nvSpPr>
              <p:spPr bwMode="auto">
                <a:xfrm>
                  <a:off x="-134354" y="3470080"/>
                  <a:ext cx="117467" cy="87070"/>
                </a:xfrm>
                <a:custGeom>
                  <a:avLst/>
                  <a:gdLst>
                    <a:gd name="T0" fmla="*/ 63 w 96"/>
                    <a:gd name="T1" fmla="*/ 0 h 71"/>
                    <a:gd name="T2" fmla="*/ 33 w 96"/>
                    <a:gd name="T3" fmla="*/ 5 h 71"/>
                    <a:gd name="T4" fmla="*/ 10 w 96"/>
                    <a:gd name="T5" fmla="*/ 68 h 71"/>
                    <a:gd name="T6" fmla="*/ 37 w 96"/>
                    <a:gd name="T7" fmla="*/ 71 h 71"/>
                    <a:gd name="T8" fmla="*/ 91 w 96"/>
                    <a:gd name="T9" fmla="*/ 39 h 71"/>
                    <a:gd name="T10" fmla="*/ 90 w 96"/>
                    <a:gd name="T11" fmla="*/ 5 h 71"/>
                    <a:gd name="T12" fmla="*/ 63 w 96"/>
                    <a:gd name="T13" fmla="*/ 0 h 71"/>
                    <a:gd name="T14" fmla="*/ 66 w 96"/>
                    <a:gd name="T15" fmla="*/ 13 h 71"/>
                    <a:gd name="T16" fmla="*/ 73 w 96"/>
                    <a:gd name="T17" fmla="*/ 35 h 71"/>
                    <a:gd name="T18" fmla="*/ 61 w 96"/>
                    <a:gd name="T19" fmla="*/ 55 h 71"/>
                    <a:gd name="T20" fmla="*/ 43 w 96"/>
                    <a:gd name="T21" fmla="*/ 58 h 71"/>
                    <a:gd name="T22" fmla="*/ 44 w 96"/>
                    <a:gd name="T23" fmla="*/ 35 h 71"/>
                    <a:gd name="T24" fmla="*/ 66 w 96"/>
                    <a:gd name="T25" fmla="*/ 1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71">
                      <a:moveTo>
                        <a:pt x="63" y="0"/>
                      </a:moveTo>
                      <a:cubicBezTo>
                        <a:pt x="43" y="0"/>
                        <a:pt x="39" y="1"/>
                        <a:pt x="33" y="5"/>
                      </a:cubicBezTo>
                      <a:cubicBezTo>
                        <a:pt x="13" y="18"/>
                        <a:pt x="0" y="56"/>
                        <a:pt x="10" y="68"/>
                      </a:cubicBezTo>
                      <a:cubicBezTo>
                        <a:pt x="12" y="70"/>
                        <a:pt x="20" y="71"/>
                        <a:pt x="37" y="71"/>
                      </a:cubicBezTo>
                      <a:cubicBezTo>
                        <a:pt x="75" y="70"/>
                        <a:pt x="82" y="66"/>
                        <a:pt x="91" y="39"/>
                      </a:cubicBezTo>
                      <a:cubicBezTo>
                        <a:pt x="96" y="21"/>
                        <a:pt x="96" y="11"/>
                        <a:pt x="90" y="5"/>
                      </a:cubicBezTo>
                      <a:cubicBezTo>
                        <a:pt x="86" y="1"/>
                        <a:pt x="84" y="0"/>
                        <a:pt x="63" y="0"/>
                      </a:cubicBezTo>
                      <a:close/>
                      <a:moveTo>
                        <a:pt x="66" y="13"/>
                      </a:moveTo>
                      <a:cubicBezTo>
                        <a:pt x="78" y="13"/>
                        <a:pt x="80" y="18"/>
                        <a:pt x="73" y="35"/>
                      </a:cubicBezTo>
                      <a:cubicBezTo>
                        <a:pt x="69" y="47"/>
                        <a:pt x="66" y="51"/>
                        <a:pt x="61" y="55"/>
                      </a:cubicBezTo>
                      <a:cubicBezTo>
                        <a:pt x="53" y="60"/>
                        <a:pt x="49" y="61"/>
                        <a:pt x="43" y="58"/>
                      </a:cubicBezTo>
                      <a:cubicBezTo>
                        <a:pt x="39" y="55"/>
                        <a:pt x="39" y="51"/>
                        <a:pt x="44" y="35"/>
                      </a:cubicBezTo>
                      <a:cubicBezTo>
                        <a:pt x="49" y="20"/>
                        <a:pt x="56" y="13"/>
                        <a:pt x="66" y="13"/>
                      </a:cubicBez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94" name="Freeform 13"/>
                <p:cNvSpPr>
                  <a:spLocks/>
                </p:cNvSpPr>
                <p:nvPr/>
              </p:nvSpPr>
              <p:spPr bwMode="auto">
                <a:xfrm>
                  <a:off x="-20493" y="3470080"/>
                  <a:ext cx="129316" cy="87070"/>
                </a:xfrm>
                <a:custGeom>
                  <a:avLst/>
                  <a:gdLst>
                    <a:gd name="T0" fmla="*/ 13 w 106"/>
                    <a:gd name="T1" fmla="*/ 36 h 71"/>
                    <a:gd name="T2" fmla="*/ 25 w 106"/>
                    <a:gd name="T3" fmla="*/ 1 h 71"/>
                    <a:gd name="T4" fmla="*/ 40 w 106"/>
                    <a:gd name="T5" fmla="*/ 1 h 71"/>
                    <a:gd name="T6" fmla="*/ 66 w 106"/>
                    <a:gd name="T7" fmla="*/ 23 h 71"/>
                    <a:gd name="T8" fmla="*/ 72 w 106"/>
                    <a:gd name="T9" fmla="*/ 39 h 71"/>
                    <a:gd name="T10" fmla="*/ 87 w 106"/>
                    <a:gd name="T11" fmla="*/ 2 h 71"/>
                    <a:gd name="T12" fmla="*/ 97 w 106"/>
                    <a:gd name="T13" fmla="*/ 0 h 71"/>
                    <a:gd name="T14" fmla="*/ 106 w 106"/>
                    <a:gd name="T15" fmla="*/ 1 h 71"/>
                    <a:gd name="T16" fmla="*/ 84 w 106"/>
                    <a:gd name="T17" fmla="*/ 67 h 71"/>
                    <a:gd name="T18" fmla="*/ 67 w 106"/>
                    <a:gd name="T19" fmla="*/ 71 h 71"/>
                    <a:gd name="T20" fmla="*/ 40 w 106"/>
                    <a:gd name="T21" fmla="*/ 47 h 71"/>
                    <a:gd name="T22" fmla="*/ 34 w 106"/>
                    <a:gd name="T23" fmla="*/ 32 h 71"/>
                    <a:gd name="T24" fmla="*/ 26 w 106"/>
                    <a:gd name="T25" fmla="*/ 51 h 71"/>
                    <a:gd name="T26" fmla="*/ 20 w 106"/>
                    <a:gd name="T27" fmla="*/ 70 h 71"/>
                    <a:gd name="T28" fmla="*/ 10 w 106"/>
                    <a:gd name="T29" fmla="*/ 70 h 71"/>
                    <a:gd name="T30" fmla="*/ 0 w 106"/>
                    <a:gd name="T31" fmla="*/ 71 h 71"/>
                    <a:gd name="T32" fmla="*/ 13 w 106"/>
                    <a:gd name="T33" fmla="*/ 3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71">
                      <a:moveTo>
                        <a:pt x="13" y="36"/>
                      </a:moveTo>
                      <a:cubicBezTo>
                        <a:pt x="25" y="1"/>
                        <a:pt x="25" y="1"/>
                        <a:pt x="25" y="1"/>
                      </a:cubicBezTo>
                      <a:cubicBezTo>
                        <a:pt x="40" y="1"/>
                        <a:pt x="40" y="1"/>
                        <a:pt x="40" y="1"/>
                      </a:cubicBezTo>
                      <a:cubicBezTo>
                        <a:pt x="57" y="0"/>
                        <a:pt x="59" y="1"/>
                        <a:pt x="66" y="23"/>
                      </a:cubicBezTo>
                      <a:cubicBezTo>
                        <a:pt x="68" y="31"/>
                        <a:pt x="71" y="38"/>
                        <a:pt x="72" y="39"/>
                      </a:cubicBezTo>
                      <a:cubicBezTo>
                        <a:pt x="74" y="41"/>
                        <a:pt x="87" y="7"/>
                        <a:pt x="87" y="2"/>
                      </a:cubicBezTo>
                      <a:cubicBezTo>
                        <a:pt x="87" y="1"/>
                        <a:pt x="91" y="0"/>
                        <a:pt x="97" y="0"/>
                      </a:cubicBezTo>
                      <a:cubicBezTo>
                        <a:pt x="102" y="0"/>
                        <a:pt x="106" y="1"/>
                        <a:pt x="106" y="1"/>
                      </a:cubicBezTo>
                      <a:cubicBezTo>
                        <a:pt x="106" y="2"/>
                        <a:pt x="86" y="61"/>
                        <a:pt x="84" y="67"/>
                      </a:cubicBezTo>
                      <a:cubicBezTo>
                        <a:pt x="83" y="70"/>
                        <a:pt x="80" y="71"/>
                        <a:pt x="67" y="71"/>
                      </a:cubicBezTo>
                      <a:cubicBezTo>
                        <a:pt x="49" y="71"/>
                        <a:pt x="48" y="70"/>
                        <a:pt x="40" y="47"/>
                      </a:cubicBezTo>
                      <a:cubicBezTo>
                        <a:pt x="38" y="39"/>
                        <a:pt x="35" y="32"/>
                        <a:pt x="34" y="32"/>
                      </a:cubicBezTo>
                      <a:cubicBezTo>
                        <a:pt x="33" y="32"/>
                        <a:pt x="30" y="41"/>
                        <a:pt x="26" y="51"/>
                      </a:cubicBezTo>
                      <a:cubicBezTo>
                        <a:pt x="20" y="70"/>
                        <a:pt x="20" y="70"/>
                        <a:pt x="20" y="70"/>
                      </a:cubicBezTo>
                      <a:cubicBezTo>
                        <a:pt x="10" y="70"/>
                        <a:pt x="10" y="70"/>
                        <a:pt x="10" y="70"/>
                      </a:cubicBezTo>
                      <a:cubicBezTo>
                        <a:pt x="0" y="71"/>
                        <a:pt x="0" y="71"/>
                        <a:pt x="0" y="71"/>
                      </a:cubicBezTo>
                      <a:lnTo>
                        <a:pt x="13" y="36"/>
                      </a:lnTo>
                      <a:close/>
                    </a:path>
                  </a:pathLst>
                </a:custGeom>
                <a:solidFill>
                  <a:schemeClr val="tx2"/>
                </a:solidFill>
                <a:ln>
                  <a:noFill/>
                </a:ln>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95" name="Freeform 14"/>
                <p:cNvSpPr>
                  <a:spLocks/>
                </p:cNvSpPr>
                <p:nvPr/>
              </p:nvSpPr>
              <p:spPr bwMode="auto">
                <a:xfrm>
                  <a:off x="-525394" y="3175899"/>
                  <a:ext cx="305516" cy="232872"/>
                </a:xfrm>
                <a:custGeom>
                  <a:avLst/>
                  <a:gdLst>
                    <a:gd name="T0" fmla="*/ 121 w 250"/>
                    <a:gd name="T1" fmla="*/ 187 h 190"/>
                    <a:gd name="T2" fmla="*/ 30 w 250"/>
                    <a:gd name="T3" fmla="*/ 131 h 190"/>
                    <a:gd name="T4" fmla="*/ 1 w 250"/>
                    <a:gd name="T5" fmla="*/ 65 h 190"/>
                    <a:gd name="T6" fmla="*/ 0 w 250"/>
                    <a:gd name="T7" fmla="*/ 59 h 190"/>
                    <a:gd name="T8" fmla="*/ 27 w 250"/>
                    <a:gd name="T9" fmla="*/ 60 h 190"/>
                    <a:gd name="T10" fmla="*/ 54 w 250"/>
                    <a:gd name="T11" fmla="*/ 60 h 190"/>
                    <a:gd name="T12" fmla="*/ 65 w 250"/>
                    <a:gd name="T13" fmla="*/ 30 h 190"/>
                    <a:gd name="T14" fmla="*/ 75 w 250"/>
                    <a:gd name="T15" fmla="*/ 0 h 190"/>
                    <a:gd name="T16" fmla="*/ 86 w 250"/>
                    <a:gd name="T17" fmla="*/ 0 h 190"/>
                    <a:gd name="T18" fmla="*/ 98 w 250"/>
                    <a:gd name="T19" fmla="*/ 0 h 190"/>
                    <a:gd name="T20" fmla="*/ 76 w 250"/>
                    <a:gd name="T21" fmla="*/ 65 h 190"/>
                    <a:gd name="T22" fmla="*/ 55 w 250"/>
                    <a:gd name="T23" fmla="*/ 133 h 190"/>
                    <a:gd name="T24" fmla="*/ 60 w 250"/>
                    <a:gd name="T25" fmla="*/ 144 h 190"/>
                    <a:gd name="T26" fmla="*/ 66 w 250"/>
                    <a:gd name="T27" fmla="*/ 149 h 190"/>
                    <a:gd name="T28" fmla="*/ 158 w 250"/>
                    <a:gd name="T29" fmla="*/ 149 h 190"/>
                    <a:gd name="T30" fmla="*/ 250 w 250"/>
                    <a:gd name="T31" fmla="*/ 149 h 190"/>
                    <a:gd name="T32" fmla="*/ 241 w 250"/>
                    <a:gd name="T33" fmla="*/ 156 h 190"/>
                    <a:gd name="T34" fmla="*/ 183 w 250"/>
                    <a:gd name="T35" fmla="*/ 185 h 190"/>
                    <a:gd name="T36" fmla="*/ 121 w 250"/>
                    <a:gd name="T37" fmla="*/ 187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0" h="190">
                      <a:moveTo>
                        <a:pt x="121" y="187"/>
                      </a:moveTo>
                      <a:cubicBezTo>
                        <a:pt x="85" y="180"/>
                        <a:pt x="52" y="160"/>
                        <a:pt x="30" y="131"/>
                      </a:cubicBezTo>
                      <a:cubicBezTo>
                        <a:pt x="15" y="110"/>
                        <a:pt x="7" y="93"/>
                        <a:pt x="1" y="65"/>
                      </a:cubicBezTo>
                      <a:cubicBezTo>
                        <a:pt x="0" y="59"/>
                        <a:pt x="0" y="59"/>
                        <a:pt x="0" y="59"/>
                      </a:cubicBezTo>
                      <a:cubicBezTo>
                        <a:pt x="27" y="60"/>
                        <a:pt x="27" y="60"/>
                        <a:pt x="27" y="60"/>
                      </a:cubicBezTo>
                      <a:cubicBezTo>
                        <a:pt x="54" y="60"/>
                        <a:pt x="54" y="60"/>
                        <a:pt x="54" y="60"/>
                      </a:cubicBezTo>
                      <a:cubicBezTo>
                        <a:pt x="65" y="30"/>
                        <a:pt x="65" y="30"/>
                        <a:pt x="65" y="30"/>
                      </a:cubicBezTo>
                      <a:cubicBezTo>
                        <a:pt x="75" y="0"/>
                        <a:pt x="75" y="0"/>
                        <a:pt x="75" y="0"/>
                      </a:cubicBezTo>
                      <a:cubicBezTo>
                        <a:pt x="86" y="0"/>
                        <a:pt x="86" y="0"/>
                        <a:pt x="86" y="0"/>
                      </a:cubicBezTo>
                      <a:cubicBezTo>
                        <a:pt x="93" y="0"/>
                        <a:pt x="98" y="0"/>
                        <a:pt x="98" y="0"/>
                      </a:cubicBezTo>
                      <a:cubicBezTo>
                        <a:pt x="98" y="1"/>
                        <a:pt x="88" y="30"/>
                        <a:pt x="76" y="65"/>
                      </a:cubicBezTo>
                      <a:cubicBezTo>
                        <a:pt x="65" y="100"/>
                        <a:pt x="55" y="131"/>
                        <a:pt x="55" y="133"/>
                      </a:cubicBezTo>
                      <a:cubicBezTo>
                        <a:pt x="55" y="136"/>
                        <a:pt x="57" y="141"/>
                        <a:pt x="60" y="144"/>
                      </a:cubicBezTo>
                      <a:cubicBezTo>
                        <a:pt x="66" y="149"/>
                        <a:pt x="66" y="149"/>
                        <a:pt x="66" y="149"/>
                      </a:cubicBezTo>
                      <a:cubicBezTo>
                        <a:pt x="158" y="149"/>
                        <a:pt x="158" y="149"/>
                        <a:pt x="158" y="149"/>
                      </a:cubicBezTo>
                      <a:cubicBezTo>
                        <a:pt x="250" y="149"/>
                        <a:pt x="250" y="149"/>
                        <a:pt x="250" y="149"/>
                      </a:cubicBezTo>
                      <a:cubicBezTo>
                        <a:pt x="241" y="156"/>
                        <a:pt x="241" y="156"/>
                        <a:pt x="241" y="156"/>
                      </a:cubicBezTo>
                      <a:cubicBezTo>
                        <a:pt x="228" y="168"/>
                        <a:pt x="202" y="180"/>
                        <a:pt x="183" y="185"/>
                      </a:cubicBezTo>
                      <a:cubicBezTo>
                        <a:pt x="164" y="189"/>
                        <a:pt x="138" y="190"/>
                        <a:pt x="121" y="187"/>
                      </a:cubicBezTo>
                      <a:close/>
                    </a:path>
                  </a:pathLst>
                </a:custGeom>
                <a:solidFill>
                  <a:srgbClr val="E700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96" name="Freeform 15"/>
                <p:cNvSpPr>
                  <a:spLocks noEditPoints="1"/>
                </p:cNvSpPr>
                <p:nvPr/>
              </p:nvSpPr>
              <p:spPr bwMode="auto">
                <a:xfrm>
                  <a:off x="-423899" y="3040400"/>
                  <a:ext cx="267391" cy="241116"/>
                </a:xfrm>
                <a:custGeom>
                  <a:avLst/>
                  <a:gdLst>
                    <a:gd name="T0" fmla="*/ 60 w 219"/>
                    <a:gd name="T1" fmla="*/ 0 h 197"/>
                    <a:gd name="T2" fmla="*/ 38 w 219"/>
                    <a:gd name="T3" fmla="*/ 2 h 197"/>
                    <a:gd name="T4" fmla="*/ 26 w 219"/>
                    <a:gd name="T5" fmla="*/ 4 h 197"/>
                    <a:gd name="T6" fmla="*/ 14 w 219"/>
                    <a:gd name="T7" fmla="*/ 43 h 197"/>
                    <a:gd name="T8" fmla="*/ 0 w 219"/>
                    <a:gd name="T9" fmla="*/ 85 h 197"/>
                    <a:gd name="T10" fmla="*/ 12 w 219"/>
                    <a:gd name="T11" fmla="*/ 87 h 197"/>
                    <a:gd name="T12" fmla="*/ 24 w 219"/>
                    <a:gd name="T13" fmla="*/ 86 h 197"/>
                    <a:gd name="T14" fmla="*/ 31 w 219"/>
                    <a:gd name="T15" fmla="*/ 64 h 197"/>
                    <a:gd name="T16" fmla="*/ 38 w 219"/>
                    <a:gd name="T17" fmla="*/ 43 h 197"/>
                    <a:gd name="T18" fmla="*/ 66 w 219"/>
                    <a:gd name="T19" fmla="*/ 43 h 197"/>
                    <a:gd name="T20" fmla="*/ 93 w 219"/>
                    <a:gd name="T21" fmla="*/ 44 h 197"/>
                    <a:gd name="T22" fmla="*/ 72 w 219"/>
                    <a:gd name="T23" fmla="*/ 111 h 197"/>
                    <a:gd name="T24" fmla="*/ 51 w 219"/>
                    <a:gd name="T25" fmla="*/ 183 h 197"/>
                    <a:gd name="T26" fmla="*/ 97 w 219"/>
                    <a:gd name="T27" fmla="*/ 196 h 197"/>
                    <a:gd name="T28" fmla="*/ 172 w 219"/>
                    <a:gd name="T29" fmla="*/ 197 h 197"/>
                    <a:gd name="T30" fmla="*/ 207 w 219"/>
                    <a:gd name="T31" fmla="*/ 197 h 197"/>
                    <a:gd name="T32" fmla="*/ 210 w 219"/>
                    <a:gd name="T33" fmla="*/ 187 h 197"/>
                    <a:gd name="T34" fmla="*/ 214 w 219"/>
                    <a:gd name="T35" fmla="*/ 160 h 197"/>
                    <a:gd name="T36" fmla="*/ 112 w 219"/>
                    <a:gd name="T37" fmla="*/ 7 h 197"/>
                    <a:gd name="T38" fmla="*/ 60 w 219"/>
                    <a:gd name="T39" fmla="*/ 0 h 197"/>
                    <a:gd name="T40" fmla="*/ 115 w 219"/>
                    <a:gd name="T41" fmla="*/ 43 h 197"/>
                    <a:gd name="T42" fmla="*/ 143 w 219"/>
                    <a:gd name="T43" fmla="*/ 43 h 197"/>
                    <a:gd name="T44" fmla="*/ 170 w 219"/>
                    <a:gd name="T45" fmla="*/ 44 h 197"/>
                    <a:gd name="T46" fmla="*/ 167 w 219"/>
                    <a:gd name="T47" fmla="*/ 55 h 197"/>
                    <a:gd name="T48" fmla="*/ 164 w 219"/>
                    <a:gd name="T49" fmla="*/ 65 h 197"/>
                    <a:gd name="T50" fmla="*/ 136 w 219"/>
                    <a:gd name="T51" fmla="*/ 66 h 197"/>
                    <a:gd name="T52" fmla="*/ 108 w 219"/>
                    <a:gd name="T53" fmla="*/ 64 h 197"/>
                    <a:gd name="T54" fmla="*/ 112 w 219"/>
                    <a:gd name="T55" fmla="*/ 53 h 197"/>
                    <a:gd name="T56" fmla="*/ 115 w 219"/>
                    <a:gd name="T57" fmla="*/ 43 h 197"/>
                    <a:gd name="T58" fmla="*/ 101 w 219"/>
                    <a:gd name="T59" fmla="*/ 87 h 197"/>
                    <a:gd name="T60" fmla="*/ 128 w 219"/>
                    <a:gd name="T61" fmla="*/ 87 h 197"/>
                    <a:gd name="T62" fmla="*/ 155 w 219"/>
                    <a:gd name="T63" fmla="*/ 90 h 197"/>
                    <a:gd name="T64" fmla="*/ 141 w 219"/>
                    <a:gd name="T65" fmla="*/ 135 h 197"/>
                    <a:gd name="T66" fmla="*/ 127 w 219"/>
                    <a:gd name="T67" fmla="*/ 178 h 197"/>
                    <a:gd name="T68" fmla="*/ 99 w 219"/>
                    <a:gd name="T69" fmla="*/ 178 h 197"/>
                    <a:gd name="T70" fmla="*/ 72 w 219"/>
                    <a:gd name="T71" fmla="*/ 176 h 197"/>
                    <a:gd name="T72" fmla="*/ 87 w 219"/>
                    <a:gd name="T73" fmla="*/ 130 h 197"/>
                    <a:gd name="T74" fmla="*/ 101 w 219"/>
                    <a:gd name="T75" fmla="*/ 8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9" h="197">
                      <a:moveTo>
                        <a:pt x="60" y="0"/>
                      </a:moveTo>
                      <a:cubicBezTo>
                        <a:pt x="52" y="0"/>
                        <a:pt x="44" y="1"/>
                        <a:pt x="38" y="2"/>
                      </a:cubicBezTo>
                      <a:cubicBezTo>
                        <a:pt x="26" y="4"/>
                        <a:pt x="26" y="4"/>
                        <a:pt x="26" y="4"/>
                      </a:cubicBezTo>
                      <a:cubicBezTo>
                        <a:pt x="14" y="43"/>
                        <a:pt x="14" y="43"/>
                        <a:pt x="14" y="43"/>
                      </a:cubicBezTo>
                      <a:cubicBezTo>
                        <a:pt x="7" y="65"/>
                        <a:pt x="1" y="83"/>
                        <a:pt x="0" y="85"/>
                      </a:cubicBezTo>
                      <a:cubicBezTo>
                        <a:pt x="0" y="87"/>
                        <a:pt x="2" y="87"/>
                        <a:pt x="12" y="87"/>
                      </a:cubicBezTo>
                      <a:cubicBezTo>
                        <a:pt x="24" y="86"/>
                        <a:pt x="24" y="86"/>
                        <a:pt x="24" y="86"/>
                      </a:cubicBezTo>
                      <a:cubicBezTo>
                        <a:pt x="31" y="64"/>
                        <a:pt x="31" y="64"/>
                        <a:pt x="31" y="64"/>
                      </a:cubicBezTo>
                      <a:cubicBezTo>
                        <a:pt x="38" y="43"/>
                        <a:pt x="38" y="43"/>
                        <a:pt x="38" y="43"/>
                      </a:cubicBezTo>
                      <a:cubicBezTo>
                        <a:pt x="66" y="43"/>
                        <a:pt x="66" y="43"/>
                        <a:pt x="66" y="43"/>
                      </a:cubicBezTo>
                      <a:cubicBezTo>
                        <a:pt x="81" y="43"/>
                        <a:pt x="93" y="43"/>
                        <a:pt x="93" y="44"/>
                      </a:cubicBezTo>
                      <a:cubicBezTo>
                        <a:pt x="93" y="45"/>
                        <a:pt x="84" y="75"/>
                        <a:pt x="72" y="111"/>
                      </a:cubicBezTo>
                      <a:cubicBezTo>
                        <a:pt x="60" y="147"/>
                        <a:pt x="51" y="179"/>
                        <a:pt x="51" y="183"/>
                      </a:cubicBezTo>
                      <a:cubicBezTo>
                        <a:pt x="51" y="195"/>
                        <a:pt x="52" y="196"/>
                        <a:pt x="97" y="196"/>
                      </a:cubicBezTo>
                      <a:cubicBezTo>
                        <a:pt x="119" y="197"/>
                        <a:pt x="153" y="197"/>
                        <a:pt x="172" y="197"/>
                      </a:cubicBezTo>
                      <a:cubicBezTo>
                        <a:pt x="207" y="197"/>
                        <a:pt x="207" y="197"/>
                        <a:pt x="207" y="197"/>
                      </a:cubicBezTo>
                      <a:cubicBezTo>
                        <a:pt x="210" y="187"/>
                        <a:pt x="210" y="187"/>
                        <a:pt x="210" y="187"/>
                      </a:cubicBezTo>
                      <a:cubicBezTo>
                        <a:pt x="212" y="182"/>
                        <a:pt x="213" y="170"/>
                        <a:pt x="214" y="160"/>
                      </a:cubicBezTo>
                      <a:cubicBezTo>
                        <a:pt x="219" y="93"/>
                        <a:pt x="177" y="30"/>
                        <a:pt x="112" y="7"/>
                      </a:cubicBezTo>
                      <a:cubicBezTo>
                        <a:pt x="99" y="3"/>
                        <a:pt x="78" y="0"/>
                        <a:pt x="60" y="0"/>
                      </a:cubicBezTo>
                      <a:close/>
                      <a:moveTo>
                        <a:pt x="115" y="43"/>
                      </a:moveTo>
                      <a:cubicBezTo>
                        <a:pt x="143" y="43"/>
                        <a:pt x="143" y="43"/>
                        <a:pt x="143" y="43"/>
                      </a:cubicBezTo>
                      <a:cubicBezTo>
                        <a:pt x="158" y="43"/>
                        <a:pt x="170" y="43"/>
                        <a:pt x="170" y="44"/>
                      </a:cubicBezTo>
                      <a:cubicBezTo>
                        <a:pt x="170" y="45"/>
                        <a:pt x="169" y="50"/>
                        <a:pt x="167" y="55"/>
                      </a:cubicBezTo>
                      <a:cubicBezTo>
                        <a:pt x="164" y="65"/>
                        <a:pt x="164" y="65"/>
                        <a:pt x="164" y="65"/>
                      </a:cubicBezTo>
                      <a:cubicBezTo>
                        <a:pt x="136" y="66"/>
                        <a:pt x="136" y="66"/>
                        <a:pt x="136" y="66"/>
                      </a:cubicBezTo>
                      <a:cubicBezTo>
                        <a:pt x="121" y="66"/>
                        <a:pt x="108" y="65"/>
                        <a:pt x="108" y="64"/>
                      </a:cubicBezTo>
                      <a:cubicBezTo>
                        <a:pt x="108" y="63"/>
                        <a:pt x="110" y="58"/>
                        <a:pt x="112" y="53"/>
                      </a:cubicBezTo>
                      <a:lnTo>
                        <a:pt x="115" y="43"/>
                      </a:lnTo>
                      <a:close/>
                      <a:moveTo>
                        <a:pt x="101" y="87"/>
                      </a:moveTo>
                      <a:cubicBezTo>
                        <a:pt x="128" y="87"/>
                        <a:pt x="128" y="87"/>
                        <a:pt x="128" y="87"/>
                      </a:cubicBezTo>
                      <a:cubicBezTo>
                        <a:pt x="148" y="87"/>
                        <a:pt x="155" y="88"/>
                        <a:pt x="155" y="90"/>
                      </a:cubicBezTo>
                      <a:cubicBezTo>
                        <a:pt x="155" y="91"/>
                        <a:pt x="149" y="112"/>
                        <a:pt x="141" y="135"/>
                      </a:cubicBezTo>
                      <a:cubicBezTo>
                        <a:pt x="127" y="178"/>
                        <a:pt x="127" y="178"/>
                        <a:pt x="127" y="178"/>
                      </a:cubicBezTo>
                      <a:cubicBezTo>
                        <a:pt x="99" y="178"/>
                        <a:pt x="99" y="178"/>
                        <a:pt x="99" y="178"/>
                      </a:cubicBezTo>
                      <a:cubicBezTo>
                        <a:pt x="79" y="179"/>
                        <a:pt x="72" y="178"/>
                        <a:pt x="72" y="176"/>
                      </a:cubicBezTo>
                      <a:cubicBezTo>
                        <a:pt x="72" y="175"/>
                        <a:pt x="79" y="154"/>
                        <a:pt x="87" y="130"/>
                      </a:cubicBezTo>
                      <a:lnTo>
                        <a:pt x="101" y="87"/>
                      </a:lnTo>
                      <a:close/>
                    </a:path>
                  </a:pathLst>
                </a:custGeom>
                <a:solidFill>
                  <a:srgbClr val="E700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sp>
              <p:nvSpPr>
                <p:cNvPr id="97" name="Freeform 16"/>
                <p:cNvSpPr>
                  <a:spLocks/>
                </p:cNvSpPr>
                <p:nvPr/>
              </p:nvSpPr>
              <p:spPr bwMode="auto">
                <a:xfrm>
                  <a:off x="-525394" y="3102740"/>
                  <a:ext cx="41732" cy="137044"/>
                </a:xfrm>
                <a:custGeom>
                  <a:avLst/>
                  <a:gdLst>
                    <a:gd name="T0" fmla="*/ 0 w 34"/>
                    <a:gd name="T1" fmla="*/ 95 h 112"/>
                    <a:gd name="T2" fmla="*/ 15 w 34"/>
                    <a:gd name="T3" fmla="*/ 31 h 112"/>
                    <a:gd name="T4" fmla="*/ 34 w 34"/>
                    <a:gd name="T5" fmla="*/ 3 h 112"/>
                    <a:gd name="T6" fmla="*/ 17 w 34"/>
                    <a:gd name="T7" fmla="*/ 59 h 112"/>
                    <a:gd name="T8" fmla="*/ 0 w 34"/>
                    <a:gd name="T9" fmla="*/ 112 h 112"/>
                    <a:gd name="T10" fmla="*/ 0 w 34"/>
                    <a:gd name="T11" fmla="*/ 95 h 112"/>
                  </a:gdLst>
                  <a:ahLst/>
                  <a:cxnLst>
                    <a:cxn ang="0">
                      <a:pos x="T0" y="T1"/>
                    </a:cxn>
                    <a:cxn ang="0">
                      <a:pos x="T2" y="T3"/>
                    </a:cxn>
                    <a:cxn ang="0">
                      <a:pos x="T4" y="T5"/>
                    </a:cxn>
                    <a:cxn ang="0">
                      <a:pos x="T6" y="T7"/>
                    </a:cxn>
                    <a:cxn ang="0">
                      <a:pos x="T8" y="T9"/>
                    </a:cxn>
                    <a:cxn ang="0">
                      <a:pos x="T10" y="T11"/>
                    </a:cxn>
                  </a:cxnLst>
                  <a:rect l="0" t="0" r="r" b="b"/>
                  <a:pathLst>
                    <a:path w="34" h="112">
                      <a:moveTo>
                        <a:pt x="0" y="95"/>
                      </a:moveTo>
                      <a:cubicBezTo>
                        <a:pt x="0" y="73"/>
                        <a:pt x="5" y="51"/>
                        <a:pt x="15" y="31"/>
                      </a:cubicBezTo>
                      <a:cubicBezTo>
                        <a:pt x="23" y="16"/>
                        <a:pt x="34" y="0"/>
                        <a:pt x="34" y="3"/>
                      </a:cubicBezTo>
                      <a:cubicBezTo>
                        <a:pt x="34" y="5"/>
                        <a:pt x="26" y="29"/>
                        <a:pt x="17" y="59"/>
                      </a:cubicBezTo>
                      <a:cubicBezTo>
                        <a:pt x="0" y="112"/>
                        <a:pt x="0" y="112"/>
                        <a:pt x="0" y="112"/>
                      </a:cubicBezTo>
                      <a:lnTo>
                        <a:pt x="0" y="95"/>
                      </a:lnTo>
                      <a:close/>
                    </a:path>
                  </a:pathLst>
                </a:custGeom>
                <a:solidFill>
                  <a:srgbClr val="E700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5" tIns="45697" rIns="91395" bIns="45697" numCol="1" anchor="t" anchorCtr="0" compatLnSpc="1">
                  <a:prstTxWarp prst="textNoShape">
                    <a:avLst/>
                  </a:prstTxWarp>
                </a:bodyPr>
                <a:lstStyle/>
                <a:p>
                  <a:endParaRPr lang="zh-CN" altLang="en-US" sz="1898">
                    <a:cs typeface="+mn-ea"/>
                    <a:sym typeface="+mn-lt"/>
                  </a:endParaRPr>
                </a:p>
              </p:txBody>
            </p:sp>
          </p:grpSp>
        </p:grpSp>
        <p:sp>
          <p:nvSpPr>
            <p:cNvPr id="61" name="Rectangle 38"/>
            <p:cNvSpPr>
              <a:spLocks noChangeArrowheads="1"/>
            </p:cNvSpPr>
            <p:nvPr/>
          </p:nvSpPr>
          <p:spPr bwMode="auto">
            <a:xfrm>
              <a:off x="1302473" y="4007818"/>
              <a:ext cx="1516890" cy="4616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25000"/>
                </a:lnSpc>
              </a:pPr>
              <a:r>
                <a:rPr lang="zh-CN" altLang="en-US" sz="1200" b="1" dirty="0">
                  <a:solidFill>
                    <a:srgbClr val="C8102E"/>
                  </a:solidFill>
                  <a:cs typeface="+mn-ea"/>
                  <a:sym typeface="+mn-lt"/>
                </a:rPr>
                <a:t>智能终端芯片</a:t>
              </a:r>
              <a:endParaRPr lang="en-US" altLang="zh-CN" sz="1200" b="1" dirty="0">
                <a:solidFill>
                  <a:srgbClr val="C8102E"/>
                </a:solidFill>
                <a:cs typeface="+mn-ea"/>
                <a:sym typeface="+mn-lt"/>
              </a:endParaRPr>
            </a:p>
            <a:p>
              <a:pPr algn="ctr">
                <a:lnSpc>
                  <a:spcPct val="125000"/>
                </a:lnSpc>
              </a:pPr>
              <a:r>
                <a:rPr lang="zh-CN" altLang="en-US" sz="1200" dirty="0">
                  <a:solidFill>
                    <a:schemeClr val="tx1">
                      <a:lumMod val="75000"/>
                      <a:lumOff val="25000"/>
                    </a:schemeClr>
                  </a:solidFill>
                  <a:cs typeface="+mn-ea"/>
                  <a:sym typeface="+mn-lt"/>
                </a:rPr>
                <a:t>算力</a:t>
              </a:r>
              <a:r>
                <a:rPr lang="en-US" altLang="zh-CN" sz="1200" dirty="0">
                  <a:solidFill>
                    <a:schemeClr val="tx1">
                      <a:lumMod val="75000"/>
                      <a:lumOff val="25000"/>
                    </a:schemeClr>
                  </a:solidFill>
                  <a:cs typeface="+mn-ea"/>
                  <a:sym typeface="+mn-lt"/>
                </a:rPr>
                <a:t> 2~4TOPS@INT8</a:t>
              </a:r>
              <a:endParaRPr lang="zh-CN" altLang="en-US" sz="1200" dirty="0">
                <a:solidFill>
                  <a:schemeClr val="tx1">
                    <a:lumMod val="75000"/>
                    <a:lumOff val="25000"/>
                  </a:schemeClr>
                </a:solidFill>
                <a:cs typeface="+mn-ea"/>
                <a:sym typeface="+mn-lt"/>
              </a:endParaRPr>
            </a:p>
          </p:txBody>
        </p:sp>
        <p:pic>
          <p:nvPicPr>
            <p:cNvPr id="62" name="图片 6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93182" y="3852725"/>
              <a:ext cx="855407" cy="481166"/>
            </a:xfrm>
            <a:prstGeom prst="rect">
              <a:avLst/>
            </a:prstGeom>
          </p:spPr>
        </p:pic>
        <p:sp>
          <p:nvSpPr>
            <p:cNvPr id="63" name="Rectangle 38"/>
            <p:cNvSpPr>
              <a:spLocks noChangeArrowheads="1"/>
            </p:cNvSpPr>
            <p:nvPr/>
          </p:nvSpPr>
          <p:spPr bwMode="auto">
            <a:xfrm>
              <a:off x="3680373" y="4336438"/>
              <a:ext cx="1692093" cy="40631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10000"/>
                </a:lnSpc>
              </a:pPr>
              <a:r>
                <a:rPr lang="en-US" altLang="zh-CN" sz="1200" b="1" dirty="0">
                  <a:solidFill>
                    <a:srgbClr val="C8102E"/>
                  </a:solidFill>
                  <a:cs typeface="+mn-ea"/>
                  <a:sym typeface="+mn-lt"/>
                </a:rPr>
                <a:t>Atlas </a:t>
              </a:r>
              <a:r>
                <a:rPr lang="en-US" altLang="zh-CN" sz="1200" b="1" dirty="0" smtClean="0">
                  <a:solidFill>
                    <a:srgbClr val="C8102E"/>
                  </a:solidFill>
                  <a:cs typeface="+mn-ea"/>
                  <a:sym typeface="+mn-lt"/>
                </a:rPr>
                <a:t>200/ Atlas 200 DK</a:t>
              </a:r>
              <a:endParaRPr lang="en-US" altLang="zh-CN" sz="1200" b="1" dirty="0">
                <a:solidFill>
                  <a:srgbClr val="C8102E"/>
                </a:solidFill>
                <a:cs typeface="+mn-ea"/>
                <a:sym typeface="+mn-lt"/>
              </a:endParaRPr>
            </a:p>
            <a:p>
              <a:pPr algn="ctr">
                <a:lnSpc>
                  <a:spcPct val="110000"/>
                </a:lnSpc>
              </a:pPr>
              <a:r>
                <a:rPr lang="zh-CN" altLang="en-US" sz="1200" dirty="0">
                  <a:solidFill>
                    <a:schemeClr val="tx1">
                      <a:lumMod val="75000"/>
                      <a:lumOff val="25000"/>
                    </a:schemeClr>
                  </a:solidFill>
                  <a:cs typeface="+mn-ea"/>
                  <a:sym typeface="+mn-lt"/>
                </a:rPr>
                <a:t>算力</a:t>
              </a:r>
              <a:r>
                <a:rPr lang="en-US" altLang="zh-CN" sz="1200" dirty="0">
                  <a:solidFill>
                    <a:schemeClr val="tx1">
                      <a:lumMod val="75000"/>
                      <a:lumOff val="25000"/>
                    </a:schemeClr>
                  </a:solidFill>
                  <a:cs typeface="+mn-ea"/>
                  <a:sym typeface="+mn-lt"/>
                </a:rPr>
                <a:t> 16TOPS@INT8</a:t>
              </a:r>
              <a:endParaRPr lang="zh-CN" altLang="en-US" sz="1200" dirty="0">
                <a:solidFill>
                  <a:schemeClr val="tx1">
                    <a:lumMod val="75000"/>
                    <a:lumOff val="25000"/>
                  </a:schemeClr>
                </a:solidFill>
                <a:cs typeface="+mn-ea"/>
                <a:sym typeface="+mn-lt"/>
              </a:endParaRPr>
            </a:p>
          </p:txBody>
        </p:sp>
        <p:pic>
          <p:nvPicPr>
            <p:cNvPr id="64" name="图片 6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201765" y="4785220"/>
              <a:ext cx="867092" cy="487739"/>
            </a:xfrm>
            <a:prstGeom prst="rect">
              <a:avLst/>
            </a:prstGeom>
          </p:spPr>
        </p:pic>
        <p:sp>
          <p:nvSpPr>
            <p:cNvPr id="65" name="Rectangle 38"/>
            <p:cNvSpPr>
              <a:spLocks noChangeArrowheads="1"/>
            </p:cNvSpPr>
            <p:nvPr/>
          </p:nvSpPr>
          <p:spPr bwMode="auto">
            <a:xfrm>
              <a:off x="5024158" y="4825956"/>
              <a:ext cx="1427122" cy="4062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10000"/>
                </a:lnSpc>
              </a:pPr>
              <a:r>
                <a:rPr lang="en-US" altLang="zh-CN" sz="1200" b="1" dirty="0">
                  <a:solidFill>
                    <a:srgbClr val="C8102E"/>
                  </a:solidFill>
                  <a:cs typeface="+mn-ea"/>
                  <a:sym typeface="+mn-lt"/>
                </a:rPr>
                <a:t>Atlas 500</a:t>
              </a:r>
            </a:p>
            <a:p>
              <a:pPr algn="ctr">
                <a:lnSpc>
                  <a:spcPct val="110000"/>
                </a:lnSpc>
              </a:pPr>
              <a:r>
                <a:rPr lang="zh-CN" altLang="en-US" sz="1200" dirty="0">
                  <a:solidFill>
                    <a:schemeClr val="tx1">
                      <a:lumMod val="75000"/>
                      <a:lumOff val="25000"/>
                    </a:schemeClr>
                  </a:solidFill>
                  <a:cs typeface="+mn-ea"/>
                  <a:sym typeface="+mn-lt"/>
                </a:rPr>
                <a:t>算力</a:t>
              </a:r>
              <a:r>
                <a:rPr lang="en-US" altLang="zh-CN" sz="1200" dirty="0">
                  <a:solidFill>
                    <a:schemeClr val="tx1">
                      <a:lumMod val="75000"/>
                      <a:lumOff val="25000"/>
                    </a:schemeClr>
                  </a:solidFill>
                  <a:cs typeface="+mn-ea"/>
                  <a:sym typeface="+mn-lt"/>
                </a:rPr>
                <a:t> 16TOPS@INT8</a:t>
              </a:r>
              <a:endParaRPr lang="zh-CN" altLang="en-US" sz="1200" dirty="0">
                <a:solidFill>
                  <a:schemeClr val="tx1">
                    <a:lumMod val="75000"/>
                    <a:lumOff val="25000"/>
                  </a:schemeClr>
                </a:solidFill>
                <a:cs typeface="+mn-ea"/>
                <a:sym typeface="+mn-lt"/>
              </a:endParaRPr>
            </a:p>
          </p:txBody>
        </p:sp>
        <p:pic>
          <p:nvPicPr>
            <p:cNvPr id="66" name="图片 6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743068" y="3862242"/>
              <a:ext cx="814893" cy="458377"/>
            </a:xfrm>
            <a:prstGeom prst="rect">
              <a:avLst/>
            </a:prstGeom>
          </p:spPr>
        </p:pic>
        <p:sp>
          <p:nvSpPr>
            <p:cNvPr id="67" name="Rectangle 38"/>
            <p:cNvSpPr>
              <a:spLocks noChangeArrowheads="1"/>
            </p:cNvSpPr>
            <p:nvPr/>
          </p:nvSpPr>
          <p:spPr bwMode="auto">
            <a:xfrm>
              <a:off x="5410511" y="4336438"/>
              <a:ext cx="1427122" cy="4062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10000"/>
                </a:lnSpc>
              </a:pPr>
              <a:r>
                <a:rPr lang="en-US" altLang="zh-CN" sz="1200" b="1" dirty="0">
                  <a:solidFill>
                    <a:srgbClr val="C8102E"/>
                  </a:solidFill>
                  <a:cs typeface="+mn-ea"/>
                  <a:sym typeface="+mn-lt"/>
                </a:rPr>
                <a:t>Atlas 300</a:t>
              </a:r>
              <a:r>
                <a:rPr lang="zh-CN" altLang="en-US" sz="1200" b="1" dirty="0">
                  <a:solidFill>
                    <a:srgbClr val="C8102E"/>
                  </a:solidFill>
                  <a:cs typeface="+mn-ea"/>
                  <a:sym typeface="+mn-lt"/>
                </a:rPr>
                <a:t>推理卡</a:t>
              </a:r>
              <a:endParaRPr lang="en-US" altLang="zh-CN" sz="1200" b="1" dirty="0">
                <a:solidFill>
                  <a:srgbClr val="C8102E"/>
                </a:solidFill>
                <a:cs typeface="+mn-ea"/>
                <a:sym typeface="+mn-lt"/>
              </a:endParaRPr>
            </a:p>
            <a:p>
              <a:pPr algn="ctr">
                <a:lnSpc>
                  <a:spcPct val="110000"/>
                </a:lnSpc>
              </a:pPr>
              <a:r>
                <a:rPr lang="zh-CN" altLang="en-US" sz="1200" dirty="0">
                  <a:solidFill>
                    <a:schemeClr val="tx1">
                      <a:lumMod val="75000"/>
                      <a:lumOff val="25000"/>
                    </a:schemeClr>
                  </a:solidFill>
                  <a:cs typeface="+mn-ea"/>
                  <a:sym typeface="+mn-lt"/>
                </a:rPr>
                <a:t>算力</a:t>
              </a:r>
              <a:r>
                <a:rPr lang="en-US" altLang="zh-CN" sz="1200" dirty="0">
                  <a:solidFill>
                    <a:schemeClr val="tx1">
                      <a:lumMod val="75000"/>
                      <a:lumOff val="25000"/>
                    </a:schemeClr>
                  </a:solidFill>
                  <a:cs typeface="+mn-ea"/>
                  <a:sym typeface="+mn-lt"/>
                </a:rPr>
                <a:t> 64TOPS@INT8</a:t>
              </a:r>
              <a:endParaRPr lang="zh-CN" altLang="en-US" sz="1200" dirty="0">
                <a:solidFill>
                  <a:schemeClr val="tx1">
                    <a:lumMod val="75000"/>
                    <a:lumOff val="25000"/>
                  </a:schemeClr>
                </a:solidFill>
                <a:cs typeface="+mn-ea"/>
                <a:sym typeface="+mn-lt"/>
              </a:endParaRPr>
            </a:p>
          </p:txBody>
        </p:sp>
        <p:sp>
          <p:nvSpPr>
            <p:cNvPr id="68" name="Rectangle 38"/>
            <p:cNvSpPr>
              <a:spLocks noChangeArrowheads="1"/>
            </p:cNvSpPr>
            <p:nvPr/>
          </p:nvSpPr>
          <p:spPr bwMode="auto">
            <a:xfrm>
              <a:off x="7327875" y="4945705"/>
              <a:ext cx="1566134" cy="4616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25000"/>
                </a:lnSpc>
              </a:pPr>
              <a:r>
                <a:rPr lang="en-US" altLang="zh-CN" sz="1200" b="1" dirty="0">
                  <a:solidFill>
                    <a:srgbClr val="C8102E"/>
                  </a:solidFill>
                  <a:cs typeface="+mn-ea"/>
                  <a:sym typeface="+mn-lt"/>
                </a:rPr>
                <a:t>Atlas 800</a:t>
              </a:r>
              <a:r>
                <a:rPr lang="zh-CN" altLang="en-US" sz="1200" b="1" dirty="0">
                  <a:solidFill>
                    <a:srgbClr val="C8102E"/>
                  </a:solidFill>
                  <a:cs typeface="+mn-ea"/>
                  <a:sym typeface="+mn-lt"/>
                </a:rPr>
                <a:t>训练服务器</a:t>
              </a:r>
              <a:endParaRPr lang="en-US" altLang="zh-CN" sz="1200" b="1" dirty="0">
                <a:solidFill>
                  <a:srgbClr val="C8102E"/>
                </a:solidFill>
                <a:cs typeface="+mn-ea"/>
                <a:sym typeface="+mn-lt"/>
              </a:endParaRPr>
            </a:p>
            <a:p>
              <a:pPr algn="ctr">
                <a:lnSpc>
                  <a:spcPct val="125000"/>
                </a:lnSpc>
              </a:pPr>
              <a:r>
                <a:rPr lang="zh-CN" altLang="en-US" sz="1200" dirty="0">
                  <a:solidFill>
                    <a:schemeClr val="tx1">
                      <a:lumMod val="75000"/>
                      <a:lumOff val="25000"/>
                    </a:schemeClr>
                  </a:solidFill>
                  <a:cs typeface="+mn-ea"/>
                  <a:sym typeface="+mn-lt"/>
                </a:rPr>
                <a:t>算力</a:t>
              </a:r>
              <a:r>
                <a:rPr lang="en-US" altLang="zh-CN" sz="1200" dirty="0">
                  <a:solidFill>
                    <a:schemeClr val="tx1">
                      <a:lumMod val="75000"/>
                      <a:lumOff val="25000"/>
                    </a:schemeClr>
                  </a:solidFill>
                  <a:cs typeface="+mn-ea"/>
                  <a:sym typeface="+mn-lt"/>
                </a:rPr>
                <a:t> 2PFLOPS@FP16</a:t>
              </a:r>
              <a:endParaRPr lang="zh-CN" altLang="en-US" sz="1200" dirty="0">
                <a:solidFill>
                  <a:schemeClr val="tx1">
                    <a:lumMod val="75000"/>
                    <a:lumOff val="25000"/>
                  </a:schemeClr>
                </a:solidFill>
                <a:cs typeface="+mn-ea"/>
                <a:sym typeface="+mn-lt"/>
              </a:endParaRPr>
            </a:p>
          </p:txBody>
        </p:sp>
        <p:sp>
          <p:nvSpPr>
            <p:cNvPr id="69" name="Rectangle 38"/>
            <p:cNvSpPr>
              <a:spLocks noChangeArrowheads="1"/>
            </p:cNvSpPr>
            <p:nvPr/>
          </p:nvSpPr>
          <p:spPr bwMode="auto">
            <a:xfrm>
              <a:off x="8884996" y="4945705"/>
              <a:ext cx="2165657" cy="4616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25000"/>
                </a:lnSpc>
              </a:pPr>
              <a:r>
                <a:rPr lang="en-US" altLang="zh-CN" sz="1200" b="1" dirty="0">
                  <a:solidFill>
                    <a:srgbClr val="C8102E"/>
                  </a:solidFill>
                  <a:cs typeface="+mn-ea"/>
                  <a:sym typeface="+mn-lt"/>
                </a:rPr>
                <a:t>Atlas 900</a:t>
              </a:r>
            </a:p>
            <a:p>
              <a:pPr algn="ctr">
                <a:lnSpc>
                  <a:spcPct val="125000"/>
                </a:lnSpc>
              </a:pPr>
              <a:r>
                <a:rPr lang="zh-CN" altLang="en-US" sz="1200" dirty="0">
                  <a:solidFill>
                    <a:schemeClr val="tx1">
                      <a:lumMod val="75000"/>
                      <a:lumOff val="25000"/>
                    </a:schemeClr>
                  </a:solidFill>
                  <a:cs typeface="+mn-ea"/>
                  <a:sym typeface="+mn-lt"/>
                </a:rPr>
                <a:t>算力</a:t>
              </a:r>
              <a:r>
                <a:rPr lang="en-US" altLang="zh-CN" sz="1200" dirty="0">
                  <a:solidFill>
                    <a:schemeClr val="tx1">
                      <a:lumMod val="75000"/>
                      <a:lumOff val="25000"/>
                    </a:schemeClr>
                  </a:solidFill>
                  <a:cs typeface="+mn-ea"/>
                  <a:sym typeface="+mn-lt"/>
                </a:rPr>
                <a:t> 256~1024PFLOPS@FP16</a:t>
              </a:r>
              <a:endParaRPr lang="zh-CN" altLang="en-US" sz="1200" dirty="0">
                <a:solidFill>
                  <a:schemeClr val="tx1">
                    <a:lumMod val="75000"/>
                    <a:lumOff val="25000"/>
                  </a:schemeClr>
                </a:solidFill>
                <a:cs typeface="+mn-ea"/>
                <a:sym typeface="+mn-lt"/>
              </a:endParaRPr>
            </a:p>
          </p:txBody>
        </p:sp>
        <p:pic>
          <p:nvPicPr>
            <p:cNvPr id="70" name="图像" descr="图像"/>
            <p:cNvPicPr>
              <a:picLocks noChangeAspect="1"/>
            </p:cNvPicPr>
            <p:nvPr/>
          </p:nvPicPr>
          <p:blipFill>
            <a:blip r:embed="rId13">
              <a:extLst/>
            </a:blip>
            <a:srcRect r="7308"/>
            <a:stretch>
              <a:fillRect/>
            </a:stretch>
          </p:blipFill>
          <p:spPr>
            <a:xfrm>
              <a:off x="7783422" y="4637257"/>
              <a:ext cx="588726" cy="304372"/>
            </a:xfrm>
            <a:prstGeom prst="rect">
              <a:avLst/>
            </a:prstGeom>
            <a:ln w="3175" cap="flat">
              <a:noFill/>
              <a:miter lim="400000"/>
            </a:ln>
            <a:effectLst/>
          </p:spPr>
        </p:pic>
        <p:pic>
          <p:nvPicPr>
            <p:cNvPr id="71" name="图片 70" descr="图片包含 电子产品&#10;&#10;描述已自动生成">
              <a:extLst>
                <a:ext uri="{FF2B5EF4-FFF2-40B4-BE49-F238E27FC236}">
                  <a16:creationId xmlns:a16="http://schemas.microsoft.com/office/drawing/2014/main" xmlns="" id="{83C30F1D-9431-49B4-BDD1-1B9B4C67F924}"/>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l="63524" t="58040" r="5501" b="13154"/>
            <a:stretch/>
          </p:blipFill>
          <p:spPr>
            <a:xfrm>
              <a:off x="7700861" y="3789176"/>
              <a:ext cx="752243" cy="260016"/>
            </a:xfrm>
            <a:prstGeom prst="rect">
              <a:avLst/>
            </a:prstGeom>
            <a:effectLst>
              <a:outerShdw blurRad="50800" dist="38100" dir="5400000" algn="tr" rotWithShape="0">
                <a:prstClr val="black">
                  <a:alpha val="24000"/>
                </a:prstClr>
              </a:outerShdw>
            </a:effectLst>
          </p:spPr>
        </p:pic>
        <p:sp>
          <p:nvSpPr>
            <p:cNvPr id="72" name="Rectangle 38"/>
            <p:cNvSpPr>
              <a:spLocks noChangeArrowheads="1"/>
            </p:cNvSpPr>
            <p:nvPr/>
          </p:nvSpPr>
          <p:spPr bwMode="auto">
            <a:xfrm>
              <a:off x="7321744" y="4106765"/>
              <a:ext cx="1512081" cy="4616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25000"/>
                </a:lnSpc>
              </a:pPr>
              <a:r>
                <a:rPr lang="en-US" altLang="zh-CN" sz="1200" b="1" dirty="0">
                  <a:solidFill>
                    <a:srgbClr val="C8102E"/>
                  </a:solidFill>
                  <a:cs typeface="+mn-ea"/>
                  <a:sym typeface="+mn-lt"/>
                </a:rPr>
                <a:t>Atlas 800</a:t>
              </a:r>
              <a:r>
                <a:rPr lang="zh-CN" altLang="en-US" sz="1200" b="1" dirty="0">
                  <a:solidFill>
                    <a:srgbClr val="C8102E"/>
                  </a:solidFill>
                  <a:cs typeface="+mn-ea"/>
                  <a:sym typeface="+mn-lt"/>
                </a:rPr>
                <a:t>推理服务器</a:t>
              </a:r>
              <a:endParaRPr lang="en-US" altLang="zh-CN" sz="1200" b="1" dirty="0">
                <a:solidFill>
                  <a:srgbClr val="C8102E"/>
                </a:solidFill>
                <a:cs typeface="+mn-ea"/>
                <a:sym typeface="+mn-lt"/>
              </a:endParaRPr>
            </a:p>
            <a:p>
              <a:pPr algn="ctr">
                <a:lnSpc>
                  <a:spcPct val="125000"/>
                </a:lnSpc>
              </a:pPr>
              <a:r>
                <a:rPr lang="zh-CN" altLang="en-US" sz="1200" dirty="0">
                  <a:solidFill>
                    <a:schemeClr val="tx1">
                      <a:lumMod val="75000"/>
                      <a:lumOff val="25000"/>
                    </a:schemeClr>
                  </a:solidFill>
                  <a:cs typeface="+mn-ea"/>
                  <a:sym typeface="+mn-lt"/>
                </a:rPr>
                <a:t>算力</a:t>
              </a:r>
              <a:r>
                <a:rPr lang="en-US" altLang="zh-CN" sz="1200" dirty="0">
                  <a:solidFill>
                    <a:schemeClr val="tx1">
                      <a:lumMod val="75000"/>
                      <a:lumOff val="25000"/>
                    </a:schemeClr>
                  </a:solidFill>
                  <a:cs typeface="+mn-ea"/>
                  <a:sym typeface="+mn-lt"/>
                </a:rPr>
                <a:t> 512TOPS@INT8</a:t>
              </a:r>
              <a:endParaRPr lang="zh-CN" altLang="en-US" sz="1200" dirty="0">
                <a:solidFill>
                  <a:schemeClr val="tx1">
                    <a:lumMod val="75000"/>
                    <a:lumOff val="25000"/>
                  </a:schemeClr>
                </a:solidFill>
                <a:cs typeface="+mn-ea"/>
                <a:sym typeface="+mn-lt"/>
              </a:endParaRPr>
            </a:p>
          </p:txBody>
        </p:sp>
        <p:pic>
          <p:nvPicPr>
            <p:cNvPr id="73" name="图片 7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286296" y="4365963"/>
              <a:ext cx="1423182" cy="800540"/>
            </a:xfrm>
            <a:prstGeom prst="rect">
              <a:avLst/>
            </a:prstGeom>
          </p:spPr>
        </p:pic>
        <p:sp>
          <p:nvSpPr>
            <p:cNvPr id="74" name="Rectangle 38"/>
            <p:cNvSpPr>
              <a:spLocks noChangeArrowheads="1"/>
            </p:cNvSpPr>
            <p:nvPr/>
          </p:nvSpPr>
          <p:spPr bwMode="auto">
            <a:xfrm>
              <a:off x="9052394" y="4143502"/>
              <a:ext cx="1728037" cy="4062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a:lnSpc>
                  <a:spcPct val="110000"/>
                </a:lnSpc>
              </a:pPr>
              <a:r>
                <a:rPr lang="en-US" altLang="zh-CN" sz="1200" b="1" dirty="0">
                  <a:solidFill>
                    <a:srgbClr val="C8102E"/>
                  </a:solidFill>
                  <a:cs typeface="+mn-ea"/>
                  <a:sym typeface="+mn-lt"/>
                </a:rPr>
                <a:t>Atlas 300T</a:t>
              </a:r>
              <a:r>
                <a:rPr lang="zh-CN" altLang="en-US" sz="1200" b="1" dirty="0">
                  <a:solidFill>
                    <a:srgbClr val="C8102E"/>
                  </a:solidFill>
                  <a:cs typeface="+mn-ea"/>
                  <a:sym typeface="+mn-lt"/>
                </a:rPr>
                <a:t>训练卡</a:t>
              </a:r>
              <a:endParaRPr lang="en-US" altLang="zh-CN" sz="1200" b="1" dirty="0">
                <a:solidFill>
                  <a:srgbClr val="C8102E"/>
                </a:solidFill>
                <a:cs typeface="+mn-ea"/>
                <a:sym typeface="+mn-lt"/>
              </a:endParaRPr>
            </a:p>
            <a:p>
              <a:pPr algn="ctr">
                <a:lnSpc>
                  <a:spcPct val="110000"/>
                </a:lnSpc>
              </a:pPr>
              <a:r>
                <a:rPr lang="zh-CN" altLang="en-US" sz="1200" dirty="0">
                  <a:solidFill>
                    <a:schemeClr val="tx1">
                      <a:lumMod val="75000"/>
                      <a:lumOff val="25000"/>
                    </a:schemeClr>
                  </a:solidFill>
                  <a:cs typeface="+mn-ea"/>
                  <a:sym typeface="+mn-lt"/>
                </a:rPr>
                <a:t>算力</a:t>
              </a:r>
              <a:r>
                <a:rPr lang="en-US" altLang="zh-CN" sz="1200" dirty="0">
                  <a:solidFill>
                    <a:schemeClr val="tx1">
                      <a:lumMod val="75000"/>
                      <a:lumOff val="25000"/>
                    </a:schemeClr>
                  </a:solidFill>
                  <a:cs typeface="+mn-ea"/>
                  <a:sym typeface="+mn-lt"/>
                </a:rPr>
                <a:t> 256TFLOPS@FP16</a:t>
              </a:r>
              <a:endParaRPr lang="zh-CN" altLang="en-US" sz="1200" dirty="0">
                <a:solidFill>
                  <a:schemeClr val="tx1">
                    <a:lumMod val="75000"/>
                    <a:lumOff val="25000"/>
                  </a:schemeClr>
                </a:solidFill>
                <a:cs typeface="+mn-ea"/>
                <a:sym typeface="+mn-lt"/>
              </a:endParaRPr>
            </a:p>
          </p:txBody>
        </p:sp>
        <p:cxnSp>
          <p:nvCxnSpPr>
            <p:cNvPr id="75" name="直接连接符 26"/>
            <p:cNvCxnSpPr/>
            <p:nvPr/>
          </p:nvCxnSpPr>
          <p:spPr>
            <a:xfrm>
              <a:off x="3659930" y="3754451"/>
              <a:ext cx="0" cy="1556414"/>
            </a:xfrm>
            <a:prstGeom prst="line">
              <a:avLst/>
            </a:prstGeom>
            <a:noFill/>
            <a:ln w="3175" cap="flat" cmpd="sng" algn="ctr">
              <a:solidFill>
                <a:srgbClr val="1D1D1A">
                  <a:lumMod val="60000"/>
                  <a:lumOff val="40000"/>
                </a:srgbClr>
              </a:solidFill>
              <a:prstDash val="dash"/>
            </a:ln>
            <a:effectLst/>
          </p:spPr>
        </p:cxnSp>
        <p:cxnSp>
          <p:nvCxnSpPr>
            <p:cNvPr id="76" name="直接连接符 26"/>
            <p:cNvCxnSpPr/>
            <p:nvPr/>
          </p:nvCxnSpPr>
          <p:spPr>
            <a:xfrm>
              <a:off x="7062887" y="3754451"/>
              <a:ext cx="0" cy="1556414"/>
            </a:xfrm>
            <a:prstGeom prst="line">
              <a:avLst/>
            </a:prstGeom>
            <a:noFill/>
            <a:ln w="3175" cap="flat" cmpd="sng" algn="ctr">
              <a:solidFill>
                <a:srgbClr val="1D1D1A">
                  <a:lumMod val="60000"/>
                  <a:lumOff val="40000"/>
                </a:srgbClr>
              </a:solidFill>
              <a:prstDash val="dash"/>
            </a:ln>
            <a:effectLst/>
          </p:spPr>
        </p:cxnSp>
        <p:sp>
          <p:nvSpPr>
            <p:cNvPr id="77" name="CANN…"/>
            <p:cNvSpPr txBox="1"/>
            <p:nvPr/>
          </p:nvSpPr>
          <p:spPr>
            <a:xfrm>
              <a:off x="949459" y="3619751"/>
              <a:ext cx="650300" cy="42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defPPr>
                <a:defRPr lang="en-US"/>
              </a:defPPr>
              <a:lvl1pPr algn="ctr" defTabSz="290343" hangingPunct="0">
                <a:defRPr sz="2000" b="1" kern="0">
                  <a:solidFill>
                    <a:schemeClr val="bg1">
                      <a:lumMod val="75000"/>
                    </a:schemeClr>
                  </a:solidFill>
                  <a:latin typeface="Huawei Sans"/>
                  <a:ea typeface="Huawei Sans"/>
                  <a:cs typeface="+mn-ea"/>
                </a:defRPr>
              </a:lvl1pPr>
            </a:lstStyle>
            <a:p>
              <a:r>
                <a:rPr lang="zh-CN" altLang="en-US" sz="1600" dirty="0">
                  <a:latin typeface="+mn-lt"/>
                  <a:ea typeface="+mn-ea"/>
                  <a:sym typeface="+mn-lt"/>
                </a:rPr>
                <a:t>端</a:t>
              </a:r>
              <a:endParaRPr sz="1600" dirty="0">
                <a:latin typeface="+mn-lt"/>
                <a:ea typeface="+mn-ea"/>
                <a:sym typeface="+mn-lt"/>
              </a:endParaRPr>
            </a:p>
          </p:txBody>
        </p:sp>
        <p:sp>
          <p:nvSpPr>
            <p:cNvPr id="78" name="CANN…"/>
            <p:cNvSpPr txBox="1"/>
            <p:nvPr/>
          </p:nvSpPr>
          <p:spPr>
            <a:xfrm>
              <a:off x="3546895" y="3619751"/>
              <a:ext cx="650300" cy="42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defPPr>
                <a:defRPr lang="en-US"/>
              </a:defPPr>
              <a:lvl1pPr algn="ctr" defTabSz="290343" hangingPunct="0">
                <a:defRPr sz="2000" b="1" kern="0">
                  <a:solidFill>
                    <a:schemeClr val="bg1">
                      <a:lumMod val="75000"/>
                    </a:schemeClr>
                  </a:solidFill>
                  <a:latin typeface="Huawei Sans"/>
                  <a:ea typeface="Huawei Sans"/>
                  <a:cs typeface="+mn-ea"/>
                </a:defRPr>
              </a:lvl1pPr>
            </a:lstStyle>
            <a:p>
              <a:r>
                <a:rPr lang="zh-CN" altLang="en-US" sz="1600" dirty="0">
                  <a:latin typeface="+mn-lt"/>
                  <a:ea typeface="+mn-ea"/>
                  <a:sym typeface="+mn-lt"/>
                </a:rPr>
                <a:t>边</a:t>
              </a:r>
              <a:endParaRPr sz="1600" dirty="0">
                <a:latin typeface="+mn-lt"/>
                <a:ea typeface="+mn-ea"/>
                <a:sym typeface="+mn-lt"/>
              </a:endParaRPr>
            </a:p>
          </p:txBody>
        </p:sp>
        <p:sp>
          <p:nvSpPr>
            <p:cNvPr id="79" name="CANN…"/>
            <p:cNvSpPr txBox="1"/>
            <p:nvPr/>
          </p:nvSpPr>
          <p:spPr>
            <a:xfrm>
              <a:off x="6955796" y="3619751"/>
              <a:ext cx="650300" cy="42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571" tIns="8571" rIns="8571" bIns="8571" anchor="ctr"/>
            <a:lstStyle>
              <a:defPPr>
                <a:defRPr lang="en-US"/>
              </a:defPPr>
              <a:lvl1pPr algn="ctr" defTabSz="290343" hangingPunct="0">
                <a:defRPr sz="2000" b="1" kern="0">
                  <a:solidFill>
                    <a:schemeClr val="bg1">
                      <a:lumMod val="75000"/>
                    </a:schemeClr>
                  </a:solidFill>
                  <a:latin typeface="Huawei Sans"/>
                  <a:ea typeface="Huawei Sans"/>
                  <a:cs typeface="+mn-ea"/>
                </a:defRPr>
              </a:lvl1pPr>
            </a:lstStyle>
            <a:p>
              <a:r>
                <a:rPr lang="zh-CN" altLang="en-US" sz="1600" dirty="0">
                  <a:latin typeface="+mn-lt"/>
                  <a:ea typeface="+mn-ea"/>
                  <a:sym typeface="+mn-lt"/>
                </a:rPr>
                <a:t>云</a:t>
              </a:r>
              <a:endParaRPr sz="1600" dirty="0">
                <a:latin typeface="+mn-lt"/>
                <a:ea typeface="+mn-ea"/>
                <a:sym typeface="+mn-lt"/>
              </a:endParaRPr>
            </a:p>
          </p:txBody>
        </p:sp>
        <p:pic>
          <p:nvPicPr>
            <p:cNvPr id="80" name="图片 79"/>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9547189" y="3775115"/>
              <a:ext cx="761917" cy="335677"/>
            </a:xfrm>
            <a:prstGeom prst="rect">
              <a:avLst/>
            </a:prstGeom>
          </p:spPr>
        </p:pic>
      </p:grpSp>
    </p:spTree>
    <p:extLst>
      <p:ext uri="{BB962C8B-B14F-4D97-AF65-F5344CB8AC3E}">
        <p14:creationId xmlns:p14="http://schemas.microsoft.com/office/powerpoint/2010/main" val="1194915909"/>
      </p:ext>
    </p:extLst>
  </p:cSld>
  <p:clrMapOvr>
    <a:masterClrMapping/>
  </p:clrMapOvr>
  <p:timing>
    <p:tnLst>
      <p:par>
        <p:cTn id="1" dur="indefinite" restart="never" fill="hold"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华为云昇腾云服务器实例家族</a:t>
            </a:r>
          </a:p>
        </p:txBody>
      </p:sp>
      <p:pic>
        <p:nvPicPr>
          <p:cNvPr id="2" name="图片 1"/>
          <p:cNvPicPr>
            <a:picLocks noChangeAspect="1"/>
          </p:cNvPicPr>
          <p:nvPr/>
        </p:nvPicPr>
        <p:blipFill>
          <a:blip r:embed="rId3"/>
          <a:stretch>
            <a:fillRect/>
          </a:stretch>
        </p:blipFill>
        <p:spPr>
          <a:xfrm>
            <a:off x="1732489" y="1514474"/>
            <a:ext cx="8612350" cy="4284857"/>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smtClean="0"/>
              <a:t>目标检测概述</a:t>
            </a:r>
            <a:endParaRPr lang="en-US" altLang="zh-CN" dirty="0" smtClean="0"/>
          </a:p>
          <a:p>
            <a:r>
              <a:rPr lang="zh-CN" altLang="en-US" dirty="0" smtClean="0"/>
              <a:t>目标检测关键技术</a:t>
            </a:r>
            <a:endParaRPr lang="en-US" altLang="zh-CN" dirty="0" smtClean="0"/>
          </a:p>
          <a:p>
            <a:r>
              <a:rPr lang="zh-CN" altLang="en-US" b="1" dirty="0" smtClean="0"/>
              <a:t>基于昇腾</a:t>
            </a:r>
            <a:r>
              <a:rPr lang="en-US" altLang="zh-CN" b="1" dirty="0" smtClean="0"/>
              <a:t>AI</a:t>
            </a:r>
            <a:r>
              <a:rPr lang="zh-CN" altLang="en-US" b="1" dirty="0" smtClean="0"/>
              <a:t>处理器的应用开发流程</a:t>
            </a:r>
            <a:endParaRPr lang="en-US" altLang="zh-CN" b="1" dirty="0" smtClean="0"/>
          </a:p>
          <a:p>
            <a:r>
              <a:rPr lang="zh-CN" altLang="en-US" dirty="0" smtClean="0"/>
              <a:t>目标检测应用开发实战</a:t>
            </a:r>
            <a:endParaRPr lang="zh-CN" altLang="en-US" dirty="0"/>
          </a:p>
        </p:txBody>
      </p:sp>
    </p:spTree>
    <p:extLst>
      <p:ext uri="{BB962C8B-B14F-4D97-AF65-F5344CB8AC3E}">
        <p14:creationId xmlns:p14="http://schemas.microsoft.com/office/powerpoint/2010/main" val="1595153069"/>
      </p:ext>
    </p:extLst>
  </p:cSld>
  <p:clrMapOvr>
    <a:masterClrMapping/>
  </p:clrMapOvr>
  <mc:AlternateContent xmlns:mc="http://schemas.openxmlformats.org/markup-compatibility/2006" xmlns:p14="http://schemas.microsoft.com/office/powerpoint/2010/main">
    <mc:Choice Requires="p14">
      <p:transition spd="slow" p14:dur="2000" advTm="11430"/>
    </mc:Choice>
    <mc:Fallback xmlns="">
      <p:transition spd="slow" advTm="1143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AI</a:t>
            </a:r>
            <a:r>
              <a:rPr lang="zh-CN" altLang="en-US" dirty="0" smtClean="0"/>
              <a:t>应用开发完整流程</a:t>
            </a:r>
            <a:endParaRPr lang="zh-CN" altLang="en-US" dirty="0"/>
          </a:p>
        </p:txBody>
      </p:sp>
      <p:grpSp>
        <p:nvGrpSpPr>
          <p:cNvPr id="56" name="组合 55"/>
          <p:cNvGrpSpPr/>
          <p:nvPr/>
        </p:nvGrpSpPr>
        <p:grpSpPr>
          <a:xfrm>
            <a:off x="1014855" y="1783608"/>
            <a:ext cx="10699355" cy="4022450"/>
            <a:chOff x="1791905" y="1463680"/>
            <a:chExt cx="9274234" cy="2614186"/>
          </a:xfrm>
        </p:grpSpPr>
        <p:sp>
          <p:nvSpPr>
            <p:cNvPr id="3" name="矩形 3"/>
            <p:cNvSpPr/>
            <p:nvPr/>
          </p:nvSpPr>
          <p:spPr bwMode="auto">
            <a:xfrm>
              <a:off x="1791905" y="2067496"/>
              <a:ext cx="1018309" cy="1496290"/>
            </a:xfrm>
            <a:prstGeom prst="roundRect">
              <a:avLst>
                <a:gd name="adj" fmla="val 3555"/>
              </a:avLst>
            </a:prstGeom>
            <a:noFill/>
            <a:ln w="12700">
              <a:solidFill>
                <a:schemeClr val="accent5">
                  <a:lumMod val="60000"/>
                  <a:lumOff val="40000"/>
                </a:schemeClr>
              </a:solidFill>
              <a:miter lim="800000"/>
              <a:headEnd/>
              <a:tailEnd/>
            </a:ln>
          </p:spPr>
          <p:txBody>
            <a:bodyPr wrap="square" lIns="91431" tIns="45716" rIns="91431" bIns="45716" anchor="t" anchorCtr="0"/>
            <a:lstStyle/>
            <a:p>
              <a:pPr defTabSz="600494" hangingPunct="1"/>
              <a:endParaRPr lang="zh-CN" altLang="en-US" sz="2400" b="0" kern="1200"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4" name="圆角矩形 3"/>
            <p:cNvSpPr/>
            <p:nvPr/>
          </p:nvSpPr>
          <p:spPr bwMode="auto">
            <a:xfrm>
              <a:off x="1938318" y="2157133"/>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b="0" kern="1200" dirty="0" smtClean="0">
                  <a:solidFill>
                    <a:schemeClr val="tx2"/>
                  </a:solidFill>
                  <a:latin typeface="微软雅黑" panose="020B0503020204020204" pitchFamily="34" charset="-122"/>
                  <a:ea typeface="微软雅黑" panose="020B0503020204020204" pitchFamily="34" charset="-122"/>
                  <a:cs typeface="+mn-cs"/>
                </a:rPr>
                <a:t>硬件检测</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5" name="矩形 4"/>
            <p:cNvSpPr/>
            <p:nvPr/>
          </p:nvSpPr>
          <p:spPr>
            <a:xfrm>
              <a:off x="1911907" y="1694191"/>
              <a:ext cx="800219" cy="276999"/>
            </a:xfrm>
            <a:prstGeom prst="rect">
              <a:avLst/>
            </a:prstGeom>
          </p:spPr>
          <p:txBody>
            <a:bodyPr wrap="none">
              <a:spAutoFit/>
            </a:bodyPr>
            <a:lstStyle/>
            <a:p>
              <a:pPr defTabSz="600494" hangingPunct="1"/>
              <a:r>
                <a:rPr lang="zh-CN" altLang="en-US" sz="1200" b="1" kern="1200" dirty="0">
                  <a:solidFill>
                    <a:schemeClr val="tx2"/>
                  </a:solidFill>
                  <a:latin typeface="微软雅黑" panose="020B0503020204020204" pitchFamily="34" charset="-122"/>
                  <a:ea typeface="微软雅黑" panose="020B0503020204020204" pitchFamily="34" charset="-122"/>
                  <a:cs typeface="Arial" pitchFamily="34" charset="0"/>
                </a:rPr>
                <a:t>工程准备</a:t>
              </a:r>
            </a:p>
          </p:txBody>
        </p:sp>
        <p:sp>
          <p:nvSpPr>
            <p:cNvPr id="6" name="圆角矩形 5"/>
            <p:cNvSpPr/>
            <p:nvPr/>
          </p:nvSpPr>
          <p:spPr bwMode="auto">
            <a:xfrm>
              <a:off x="1938318" y="2519145"/>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b="0" kern="1200" dirty="0" smtClean="0">
                  <a:solidFill>
                    <a:schemeClr val="tx2"/>
                  </a:solidFill>
                  <a:latin typeface="微软雅黑" panose="020B0503020204020204" pitchFamily="34" charset="-122"/>
                  <a:ea typeface="微软雅黑" panose="020B0503020204020204" pitchFamily="34" charset="-122"/>
                  <a:cs typeface="+mn-cs"/>
                </a:rPr>
                <a:t>系统部署</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7" name="圆角矩形 6"/>
            <p:cNvSpPr/>
            <p:nvPr/>
          </p:nvSpPr>
          <p:spPr bwMode="auto">
            <a:xfrm>
              <a:off x="1938316" y="2843092"/>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软件配置</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8" name="圆角矩形 7"/>
            <p:cNvSpPr/>
            <p:nvPr/>
          </p:nvSpPr>
          <p:spPr bwMode="auto">
            <a:xfrm>
              <a:off x="1938316" y="3211773"/>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模型训练</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9" name="矩形 3"/>
            <p:cNvSpPr/>
            <p:nvPr/>
          </p:nvSpPr>
          <p:spPr bwMode="auto">
            <a:xfrm>
              <a:off x="3132332" y="2067496"/>
              <a:ext cx="1018309" cy="1496290"/>
            </a:xfrm>
            <a:prstGeom prst="roundRect">
              <a:avLst>
                <a:gd name="adj" fmla="val 3555"/>
              </a:avLst>
            </a:prstGeom>
            <a:noFill/>
            <a:ln w="12700">
              <a:solidFill>
                <a:schemeClr val="accent5">
                  <a:lumMod val="60000"/>
                  <a:lumOff val="40000"/>
                </a:schemeClr>
              </a:solidFill>
              <a:miter lim="800000"/>
              <a:headEnd/>
              <a:tailEnd/>
            </a:ln>
          </p:spPr>
          <p:txBody>
            <a:bodyPr wrap="square" lIns="91431" tIns="45716" rIns="91431" bIns="45716" anchor="t" anchorCtr="0"/>
            <a:lstStyle/>
            <a:p>
              <a:pPr defTabSz="600494" hangingPunct="1"/>
              <a:endParaRPr lang="zh-CN" altLang="en-US" sz="2400" b="0" kern="1200"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10" name="圆角矩形 9"/>
            <p:cNvSpPr/>
            <p:nvPr/>
          </p:nvSpPr>
          <p:spPr bwMode="auto">
            <a:xfrm>
              <a:off x="3274813" y="2161895"/>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模型评估</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1" name="圆角矩形 10"/>
            <p:cNvSpPr/>
            <p:nvPr/>
          </p:nvSpPr>
          <p:spPr bwMode="auto">
            <a:xfrm>
              <a:off x="3274812" y="2637889"/>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模型转换</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2" name="圆角矩形 11"/>
            <p:cNvSpPr/>
            <p:nvPr/>
          </p:nvSpPr>
          <p:spPr bwMode="auto">
            <a:xfrm>
              <a:off x="3274811" y="3142401"/>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精度评估</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3" name="矩形 3"/>
            <p:cNvSpPr/>
            <p:nvPr/>
          </p:nvSpPr>
          <p:spPr bwMode="auto">
            <a:xfrm>
              <a:off x="4527701" y="2067496"/>
              <a:ext cx="1347830" cy="1496290"/>
            </a:xfrm>
            <a:prstGeom prst="roundRect">
              <a:avLst>
                <a:gd name="adj" fmla="val 3555"/>
              </a:avLst>
            </a:prstGeom>
            <a:noFill/>
            <a:ln w="12700">
              <a:solidFill>
                <a:schemeClr val="accent5">
                  <a:lumMod val="60000"/>
                  <a:lumOff val="40000"/>
                </a:schemeClr>
              </a:solidFill>
              <a:miter lim="800000"/>
              <a:headEnd/>
              <a:tailEnd/>
            </a:ln>
          </p:spPr>
          <p:txBody>
            <a:bodyPr wrap="square" lIns="91431" tIns="45716" rIns="91431" bIns="45716" anchor="t" anchorCtr="0"/>
            <a:lstStyle/>
            <a:p>
              <a:pPr defTabSz="600494" hangingPunct="1"/>
              <a:endParaRPr lang="zh-CN" altLang="en-US" sz="2400" b="0" kern="1200"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14" name="圆角矩形 13"/>
            <p:cNvSpPr/>
            <p:nvPr/>
          </p:nvSpPr>
          <p:spPr bwMode="auto">
            <a:xfrm>
              <a:off x="4843871" y="3153874"/>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算子调试</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5" name="圆角矩形 14"/>
            <p:cNvSpPr/>
            <p:nvPr/>
          </p:nvSpPr>
          <p:spPr bwMode="auto">
            <a:xfrm>
              <a:off x="4843869" y="2655332"/>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算子调优</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6" name="圆角矩形 15"/>
            <p:cNvSpPr/>
            <p:nvPr/>
          </p:nvSpPr>
          <p:spPr bwMode="auto">
            <a:xfrm>
              <a:off x="4696191" y="2157132"/>
              <a:ext cx="1028703"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en-US" altLang="zh-CN" sz="1000" dirty="0" smtClean="0">
                  <a:solidFill>
                    <a:schemeClr val="tx2"/>
                  </a:solidFill>
                  <a:latin typeface="微软雅黑" panose="020B0503020204020204" pitchFamily="34" charset="-122"/>
                  <a:ea typeface="微软雅黑" panose="020B0503020204020204" pitchFamily="34" charset="-122"/>
                </a:rPr>
                <a:t>TBE</a:t>
              </a:r>
              <a:r>
                <a:rPr lang="zh-CN" altLang="en-US" sz="1000" dirty="0" smtClean="0">
                  <a:solidFill>
                    <a:schemeClr val="tx2"/>
                  </a:solidFill>
                  <a:latin typeface="微软雅黑" panose="020B0503020204020204" pitchFamily="34" charset="-122"/>
                  <a:ea typeface="微软雅黑" panose="020B0503020204020204" pitchFamily="34" charset="-122"/>
                </a:rPr>
                <a:t>算子开发</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7" name="矩形 3"/>
            <p:cNvSpPr/>
            <p:nvPr/>
          </p:nvSpPr>
          <p:spPr bwMode="auto">
            <a:xfrm>
              <a:off x="6273373" y="2067496"/>
              <a:ext cx="1040587" cy="1496290"/>
            </a:xfrm>
            <a:prstGeom prst="roundRect">
              <a:avLst>
                <a:gd name="adj" fmla="val 3555"/>
              </a:avLst>
            </a:prstGeom>
            <a:noFill/>
            <a:ln w="12700">
              <a:solidFill>
                <a:schemeClr val="accent5">
                  <a:lumMod val="60000"/>
                  <a:lumOff val="40000"/>
                </a:schemeClr>
              </a:solidFill>
              <a:miter lim="800000"/>
              <a:headEnd/>
              <a:tailEnd/>
            </a:ln>
          </p:spPr>
          <p:txBody>
            <a:bodyPr wrap="square" lIns="91431" tIns="45716" rIns="91431" bIns="45716" anchor="t" anchorCtr="0"/>
            <a:lstStyle/>
            <a:p>
              <a:pPr defTabSz="600494" hangingPunct="1"/>
              <a:endParaRPr lang="zh-CN" altLang="en-US" sz="2400" b="0" kern="1200"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18" name="圆角矩形 17"/>
            <p:cNvSpPr/>
            <p:nvPr/>
          </p:nvSpPr>
          <p:spPr bwMode="auto">
            <a:xfrm>
              <a:off x="6424750" y="2157131"/>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业务开发</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9" name="圆角矩形 18"/>
            <p:cNvSpPr/>
            <p:nvPr/>
          </p:nvSpPr>
          <p:spPr bwMode="auto">
            <a:xfrm>
              <a:off x="6424750" y="3247415"/>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编译调测</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20" name="矩形 3"/>
            <p:cNvSpPr/>
            <p:nvPr/>
          </p:nvSpPr>
          <p:spPr bwMode="auto">
            <a:xfrm>
              <a:off x="7664330" y="2067496"/>
              <a:ext cx="1421991" cy="1496290"/>
            </a:xfrm>
            <a:prstGeom prst="roundRect">
              <a:avLst>
                <a:gd name="adj" fmla="val 3555"/>
              </a:avLst>
            </a:prstGeom>
            <a:noFill/>
            <a:ln w="12700">
              <a:solidFill>
                <a:schemeClr val="accent5">
                  <a:lumMod val="60000"/>
                  <a:lumOff val="40000"/>
                </a:schemeClr>
              </a:solidFill>
              <a:miter lim="800000"/>
              <a:headEnd/>
              <a:tailEnd/>
            </a:ln>
          </p:spPr>
          <p:txBody>
            <a:bodyPr wrap="square" lIns="91431" tIns="45716" rIns="91431" bIns="45716" anchor="t" anchorCtr="0"/>
            <a:lstStyle/>
            <a:p>
              <a:pPr defTabSz="600494" hangingPunct="1"/>
              <a:endParaRPr lang="zh-CN" altLang="en-US" sz="2400" b="0" kern="1200"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21" name="圆角矩形 20"/>
            <p:cNvSpPr/>
            <p:nvPr/>
          </p:nvSpPr>
          <p:spPr bwMode="auto">
            <a:xfrm>
              <a:off x="6346442" y="2478349"/>
              <a:ext cx="130263" cy="411681"/>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algn="ctr" defTabSz="914034" fontAlgn="base" hangingPunct="1">
                <a:spcBef>
                  <a:spcPct val="0"/>
                </a:spcBef>
                <a:spcAft>
                  <a:spcPct val="0"/>
                </a:spcAft>
                <a:buClr>
                  <a:srgbClr val="CC9900"/>
                </a:buClr>
              </a:pPr>
              <a:r>
                <a:rPr lang="zh-CN" altLang="en-US" sz="1000" dirty="0">
                  <a:solidFill>
                    <a:schemeClr val="tx2"/>
                  </a:solidFill>
                  <a:latin typeface="微软雅黑" panose="020B0503020204020204" pitchFamily="34" charset="-122"/>
                  <a:ea typeface="微软雅黑" panose="020B0503020204020204" pitchFamily="34" charset="-122"/>
                </a:rPr>
                <a:t>拉流</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22" name="圆角矩形 21"/>
            <p:cNvSpPr/>
            <p:nvPr/>
          </p:nvSpPr>
          <p:spPr bwMode="auto">
            <a:xfrm>
              <a:off x="6537213" y="2483957"/>
              <a:ext cx="130263" cy="564676"/>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algn="ctr" defTabSz="914034" fontAlgn="base" hangingPunct="1">
                <a:spcBef>
                  <a:spcPct val="0"/>
                </a:spcBef>
                <a:spcAft>
                  <a:spcPct val="0"/>
                </a:spcAft>
                <a:buClr>
                  <a:srgbClr val="CC9900"/>
                </a:buClr>
              </a:pPr>
              <a:r>
                <a:rPr lang="zh-CN" altLang="en-US" sz="1000" b="0" kern="1200" dirty="0" smtClean="0">
                  <a:solidFill>
                    <a:schemeClr val="tx2"/>
                  </a:solidFill>
                  <a:latin typeface="微软雅黑" panose="020B0503020204020204" pitchFamily="34" charset="-122"/>
                  <a:ea typeface="微软雅黑" panose="020B0503020204020204" pitchFamily="34" charset="-122"/>
                  <a:cs typeface="+mn-cs"/>
                </a:rPr>
                <a:t>预处理</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23" name="圆角矩形 22"/>
            <p:cNvSpPr/>
            <p:nvPr/>
          </p:nvSpPr>
          <p:spPr bwMode="auto">
            <a:xfrm>
              <a:off x="6722951" y="2483957"/>
              <a:ext cx="130263" cy="411681"/>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algn="ctr" defTabSz="914034" fontAlgn="base" hangingPunct="1">
                <a:spcBef>
                  <a:spcPct val="0"/>
                </a:spcBef>
                <a:spcAft>
                  <a:spcPct val="0"/>
                </a:spcAft>
                <a:buClr>
                  <a:srgbClr val="CC9900"/>
                </a:buClr>
              </a:pPr>
              <a:r>
                <a:rPr lang="zh-CN" altLang="en-US" sz="1000" b="0" kern="1200" dirty="0" smtClean="0">
                  <a:solidFill>
                    <a:schemeClr val="tx2"/>
                  </a:solidFill>
                  <a:latin typeface="微软雅黑" panose="020B0503020204020204" pitchFamily="34" charset="-122"/>
                  <a:ea typeface="微软雅黑" panose="020B0503020204020204" pitchFamily="34" charset="-122"/>
                  <a:cs typeface="+mn-cs"/>
                </a:rPr>
                <a:t>推理</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24" name="圆角矩形 23"/>
            <p:cNvSpPr/>
            <p:nvPr/>
          </p:nvSpPr>
          <p:spPr bwMode="auto">
            <a:xfrm>
              <a:off x="6906840" y="2478348"/>
              <a:ext cx="130263" cy="564676"/>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algn="ctr" defTabSz="914034" fontAlgn="base" hangingPunct="1">
                <a:spcBef>
                  <a:spcPct val="0"/>
                </a:spcBef>
                <a:spcAft>
                  <a:spcPct val="0"/>
                </a:spcAft>
                <a:buClr>
                  <a:srgbClr val="CC9900"/>
                </a:buClr>
              </a:pPr>
              <a:r>
                <a:rPr lang="zh-CN" altLang="en-US" sz="1000" b="0" kern="1200" dirty="0" smtClean="0">
                  <a:solidFill>
                    <a:schemeClr val="tx2"/>
                  </a:solidFill>
                  <a:latin typeface="微软雅黑" panose="020B0503020204020204" pitchFamily="34" charset="-122"/>
                  <a:ea typeface="微软雅黑" panose="020B0503020204020204" pitchFamily="34" charset="-122"/>
                  <a:cs typeface="+mn-cs"/>
                </a:rPr>
                <a:t>后处理</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25" name="圆角矩形 24"/>
            <p:cNvSpPr/>
            <p:nvPr/>
          </p:nvSpPr>
          <p:spPr bwMode="auto">
            <a:xfrm>
              <a:off x="7085599" y="2478348"/>
              <a:ext cx="130263" cy="71469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algn="ctr" defTabSz="914034" fontAlgn="base" hangingPunct="1">
                <a:spcBef>
                  <a:spcPct val="0"/>
                </a:spcBef>
                <a:spcAft>
                  <a:spcPct val="0"/>
                </a:spcAft>
                <a:buClr>
                  <a:srgbClr val="CC9900"/>
                </a:buClr>
              </a:pPr>
              <a:r>
                <a:rPr lang="zh-CN" altLang="en-US" sz="1000" b="0" kern="1200" dirty="0" smtClean="0">
                  <a:solidFill>
                    <a:schemeClr val="tx2"/>
                  </a:solidFill>
                  <a:latin typeface="微软雅黑" panose="020B0503020204020204" pitchFamily="34" charset="-122"/>
                  <a:ea typeface="微软雅黑" panose="020B0503020204020204" pitchFamily="34" charset="-122"/>
                  <a:cs typeface="+mn-cs"/>
                </a:rPr>
                <a:t>显示</a:t>
              </a:r>
              <a:r>
                <a:rPr lang="zh-CN" altLang="en-US" sz="1000" dirty="0">
                  <a:solidFill>
                    <a:schemeClr val="tx2"/>
                  </a:solidFill>
                  <a:latin typeface="微软雅黑" panose="020B0503020204020204" pitchFamily="34" charset="-122"/>
                  <a:ea typeface="微软雅黑" panose="020B0503020204020204" pitchFamily="34" charset="-122"/>
                </a:rPr>
                <a:t>存储</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26" name="圆角矩形 25"/>
            <p:cNvSpPr/>
            <p:nvPr/>
          </p:nvSpPr>
          <p:spPr bwMode="auto">
            <a:xfrm>
              <a:off x="7994597" y="2105175"/>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瓶颈分析</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28" name="圆角矩形 27"/>
            <p:cNvSpPr/>
            <p:nvPr/>
          </p:nvSpPr>
          <p:spPr bwMode="auto">
            <a:xfrm>
              <a:off x="8018811" y="2509328"/>
              <a:ext cx="733345"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  编</a:t>
              </a:r>
              <a:r>
                <a:rPr lang="zh-CN" altLang="en-US" sz="1000" dirty="0">
                  <a:solidFill>
                    <a:schemeClr val="tx2"/>
                  </a:solidFill>
                  <a:latin typeface="微软雅黑" panose="020B0503020204020204" pitchFamily="34" charset="-122"/>
                  <a:ea typeface="微软雅黑" panose="020B0503020204020204" pitchFamily="34" charset="-122"/>
                </a:rPr>
                <a:t>解码</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29" name="圆角矩形 28"/>
            <p:cNvSpPr/>
            <p:nvPr/>
          </p:nvSpPr>
          <p:spPr bwMode="auto">
            <a:xfrm>
              <a:off x="7732083" y="2885025"/>
              <a:ext cx="1291893"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 模型优化</a:t>
              </a:r>
              <a:r>
                <a:rPr lang="en-US" altLang="zh-CN" sz="1000" dirty="0" smtClean="0">
                  <a:solidFill>
                    <a:schemeClr val="tx2"/>
                  </a:solidFill>
                  <a:latin typeface="微软雅黑" panose="020B0503020204020204" pitchFamily="34" charset="-122"/>
                  <a:ea typeface="微软雅黑" panose="020B0503020204020204" pitchFamily="34" charset="-122"/>
                </a:rPr>
                <a:t>profiling</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30" name="圆角矩形 29"/>
            <p:cNvSpPr/>
            <p:nvPr/>
          </p:nvSpPr>
          <p:spPr bwMode="auto">
            <a:xfrm>
              <a:off x="7975913" y="3269604"/>
              <a:ext cx="881809" cy="272375"/>
            </a:xfrm>
            <a:prstGeom prst="roundRect">
              <a:avLst/>
            </a:prstGeom>
            <a:noFill/>
            <a:ln>
              <a:solidFill>
                <a:srgbClr val="4E5050"/>
              </a:solidFill>
            </a:ln>
            <a:effectLst/>
            <a:extLst/>
          </p:spPr>
          <p:txBody>
            <a:bodyPr rot="0" spcFirstLastPara="0" vertOverflow="overflow" horzOverflow="overflow" vert="horz" wrap="square" lIns="91404" tIns="45702" rIns="91404" bIns="45702" numCol="1" spcCol="0" rtlCol="0" fromWordArt="0" anchor="t" anchorCtr="0" forceAA="0" compatLnSpc="1">
              <a:prstTxWarp prst="textNoShape">
                <a:avLst/>
              </a:prstTxWarp>
              <a:spAutoFit/>
            </a:bodyPr>
            <a:lstStyle/>
            <a:p>
              <a:pPr defTabSz="914034" fontAlgn="base" hangingPunct="1">
                <a:spcBef>
                  <a:spcPct val="0"/>
                </a:spcBef>
                <a:spcAft>
                  <a:spcPct val="0"/>
                </a:spcAft>
                <a:buClr>
                  <a:srgbClr val="CC9900"/>
                </a:buClr>
              </a:pPr>
              <a:r>
                <a:rPr lang="zh-CN" altLang="en-US" sz="1000" dirty="0" smtClean="0">
                  <a:solidFill>
                    <a:schemeClr val="tx2"/>
                  </a:solidFill>
                  <a:latin typeface="微软雅黑" panose="020B0503020204020204" pitchFamily="34" charset="-122"/>
                  <a:ea typeface="微软雅黑" panose="020B0503020204020204" pitchFamily="34" charset="-122"/>
                </a:rPr>
                <a:t> 内存管理</a:t>
              </a:r>
              <a:endParaRPr lang="en-US" sz="1000" b="0" kern="1200" dirty="0">
                <a:solidFill>
                  <a:schemeClr val="tx2"/>
                </a:solidFill>
                <a:latin typeface="微软雅黑" panose="020B0503020204020204" pitchFamily="34" charset="-122"/>
                <a:ea typeface="微软雅黑" panose="020B0503020204020204" pitchFamily="34" charset="-122"/>
                <a:cs typeface="+mn-cs"/>
              </a:endParaRPr>
            </a:p>
          </p:txBody>
        </p:sp>
        <p:sp>
          <p:nvSpPr>
            <p:cNvPr id="31" name="矩形 30"/>
            <p:cNvSpPr/>
            <p:nvPr/>
          </p:nvSpPr>
          <p:spPr>
            <a:xfrm>
              <a:off x="3196489" y="1498739"/>
              <a:ext cx="941283" cy="276999"/>
            </a:xfrm>
            <a:prstGeom prst="rect">
              <a:avLst/>
            </a:prstGeom>
          </p:spPr>
          <p:txBody>
            <a:bodyPr wrap="none">
              <a:spAutoFit/>
            </a:bodyPr>
            <a:lstStyle/>
            <a:p>
              <a:pPr defTabSz="600494" hangingPunct="1"/>
              <a:r>
                <a:rPr lang="en-US" altLang="zh-CN" sz="1200" b="1" kern="1200" dirty="0" smtClean="0">
                  <a:solidFill>
                    <a:schemeClr val="tx2"/>
                  </a:solidFill>
                  <a:latin typeface="微软雅黑" panose="020B0503020204020204" pitchFamily="34" charset="-122"/>
                  <a:ea typeface="微软雅黑" panose="020B0503020204020204" pitchFamily="34" charset="-122"/>
                  <a:cs typeface="Arial" pitchFamily="34" charset="0"/>
                </a:rPr>
                <a:t>1 </a:t>
              </a:r>
              <a:r>
                <a:rPr lang="zh-CN" altLang="en-US" sz="1200" b="1" kern="1200" dirty="0" smtClean="0">
                  <a:solidFill>
                    <a:schemeClr val="tx2"/>
                  </a:solidFill>
                  <a:latin typeface="微软雅黑" panose="020B0503020204020204" pitchFamily="34" charset="-122"/>
                  <a:ea typeface="微软雅黑" panose="020B0503020204020204" pitchFamily="34" charset="-122"/>
                  <a:cs typeface="Arial" pitchFamily="34" charset="0"/>
                </a:rPr>
                <a:t>模型</a:t>
              </a:r>
              <a:r>
                <a:rPr lang="zh-CN" altLang="en-US" sz="1200" b="1" kern="1200" dirty="0">
                  <a:solidFill>
                    <a:schemeClr val="tx2"/>
                  </a:solidFill>
                  <a:latin typeface="微软雅黑" panose="020B0503020204020204" pitchFamily="34" charset="-122"/>
                  <a:ea typeface="微软雅黑" panose="020B0503020204020204" pitchFamily="34" charset="-122"/>
                  <a:cs typeface="Arial" pitchFamily="34" charset="0"/>
                </a:rPr>
                <a:t>转换</a:t>
              </a:r>
            </a:p>
          </p:txBody>
        </p:sp>
        <p:sp>
          <p:nvSpPr>
            <p:cNvPr id="32" name="矩形 31"/>
            <p:cNvSpPr/>
            <p:nvPr/>
          </p:nvSpPr>
          <p:spPr>
            <a:xfrm>
              <a:off x="4534715" y="1498738"/>
              <a:ext cx="1402948" cy="276999"/>
            </a:xfrm>
            <a:prstGeom prst="rect">
              <a:avLst/>
            </a:prstGeom>
          </p:spPr>
          <p:txBody>
            <a:bodyPr wrap="none">
              <a:spAutoFit/>
            </a:bodyPr>
            <a:lstStyle/>
            <a:p>
              <a:pPr defTabSz="600494" hangingPunct="1"/>
              <a:r>
                <a:rPr lang="en-US" altLang="zh-CN" sz="1200" b="1" kern="1200" dirty="0" smtClean="0">
                  <a:solidFill>
                    <a:schemeClr val="tx2"/>
                  </a:solidFill>
                  <a:latin typeface="微软雅黑" panose="020B0503020204020204" pitchFamily="34" charset="-122"/>
                  <a:ea typeface="微软雅黑" panose="020B0503020204020204" pitchFamily="34" charset="-122"/>
                  <a:cs typeface="Arial" pitchFamily="34" charset="0"/>
                </a:rPr>
                <a:t>2 </a:t>
              </a:r>
              <a:r>
                <a:rPr lang="zh-CN" altLang="en-US" sz="1200" b="1" kern="1200" dirty="0" smtClean="0">
                  <a:solidFill>
                    <a:schemeClr val="tx2"/>
                  </a:solidFill>
                  <a:latin typeface="微软雅黑" panose="020B0503020204020204" pitchFamily="34" charset="-122"/>
                  <a:ea typeface="微软雅黑" panose="020B0503020204020204" pitchFamily="34" charset="-122"/>
                  <a:cs typeface="Arial" pitchFamily="34" charset="0"/>
                </a:rPr>
                <a:t>算子</a:t>
              </a:r>
              <a:r>
                <a:rPr lang="zh-CN" altLang="en-US" sz="1200" b="1" kern="1200" dirty="0">
                  <a:solidFill>
                    <a:schemeClr val="tx2"/>
                  </a:solidFill>
                  <a:latin typeface="微软雅黑" panose="020B0503020204020204" pitchFamily="34" charset="-122"/>
                  <a:ea typeface="微软雅黑" panose="020B0503020204020204" pitchFamily="34" charset="-122"/>
                  <a:cs typeface="Arial" pitchFamily="34" charset="0"/>
                </a:rPr>
                <a:t>开发及调试</a:t>
              </a:r>
            </a:p>
          </p:txBody>
        </p:sp>
        <p:sp>
          <p:nvSpPr>
            <p:cNvPr id="33" name="矩形 32"/>
            <p:cNvSpPr/>
            <p:nvPr/>
          </p:nvSpPr>
          <p:spPr>
            <a:xfrm>
              <a:off x="6112256" y="1485578"/>
              <a:ext cx="1402948" cy="276999"/>
            </a:xfrm>
            <a:prstGeom prst="rect">
              <a:avLst/>
            </a:prstGeom>
          </p:spPr>
          <p:txBody>
            <a:bodyPr wrap="none">
              <a:spAutoFit/>
            </a:bodyPr>
            <a:lstStyle/>
            <a:p>
              <a:pPr defTabSz="600494" hangingPunct="1"/>
              <a:r>
                <a:rPr lang="en-US" altLang="zh-CN" sz="1200" b="1" kern="1200" dirty="0" smtClean="0">
                  <a:solidFill>
                    <a:schemeClr val="tx2"/>
                  </a:solidFill>
                  <a:latin typeface="微软雅黑" panose="020B0503020204020204" pitchFamily="34" charset="-122"/>
                  <a:ea typeface="微软雅黑" panose="020B0503020204020204" pitchFamily="34" charset="-122"/>
                  <a:cs typeface="Arial" pitchFamily="34" charset="0"/>
                </a:rPr>
                <a:t>3 </a:t>
              </a:r>
              <a:r>
                <a:rPr lang="zh-CN" altLang="en-US" sz="1200" b="1" kern="1200" dirty="0" smtClean="0">
                  <a:solidFill>
                    <a:schemeClr val="tx2"/>
                  </a:solidFill>
                  <a:latin typeface="微软雅黑" panose="020B0503020204020204" pitchFamily="34" charset="-122"/>
                  <a:ea typeface="微软雅黑" panose="020B0503020204020204" pitchFamily="34" charset="-122"/>
                  <a:cs typeface="Arial" pitchFamily="34" charset="0"/>
                </a:rPr>
                <a:t>业务</a:t>
              </a:r>
              <a:r>
                <a:rPr lang="zh-CN" altLang="en-US" sz="1200" b="1" kern="1200" dirty="0">
                  <a:solidFill>
                    <a:schemeClr val="tx2"/>
                  </a:solidFill>
                  <a:latin typeface="微软雅黑" panose="020B0503020204020204" pitchFamily="34" charset="-122"/>
                  <a:ea typeface="微软雅黑" panose="020B0503020204020204" pitchFamily="34" charset="-122"/>
                  <a:cs typeface="Arial" pitchFamily="34" charset="0"/>
                </a:rPr>
                <a:t>开发及调试</a:t>
              </a:r>
            </a:p>
          </p:txBody>
        </p:sp>
        <p:sp>
          <p:nvSpPr>
            <p:cNvPr id="34" name="矩形 33"/>
            <p:cNvSpPr/>
            <p:nvPr/>
          </p:nvSpPr>
          <p:spPr>
            <a:xfrm>
              <a:off x="7902468" y="1504014"/>
              <a:ext cx="941283" cy="276999"/>
            </a:xfrm>
            <a:prstGeom prst="rect">
              <a:avLst/>
            </a:prstGeom>
          </p:spPr>
          <p:txBody>
            <a:bodyPr wrap="none">
              <a:spAutoFit/>
            </a:bodyPr>
            <a:lstStyle/>
            <a:p>
              <a:pPr defTabSz="600494" hangingPunct="1"/>
              <a:r>
                <a:rPr lang="en-US" altLang="zh-CN" sz="1200" b="1" kern="1200" dirty="0" smtClean="0">
                  <a:solidFill>
                    <a:schemeClr val="tx2"/>
                  </a:solidFill>
                  <a:latin typeface="微软雅黑" panose="020B0503020204020204" pitchFamily="34" charset="-122"/>
                  <a:ea typeface="微软雅黑" panose="020B0503020204020204" pitchFamily="34" charset="-122"/>
                  <a:cs typeface="Arial" pitchFamily="34" charset="0"/>
                </a:rPr>
                <a:t>4 </a:t>
              </a:r>
              <a:r>
                <a:rPr lang="zh-CN" altLang="en-US" sz="1200" b="1" kern="1200" dirty="0" smtClean="0">
                  <a:solidFill>
                    <a:schemeClr val="tx2"/>
                  </a:solidFill>
                  <a:latin typeface="微软雅黑" panose="020B0503020204020204" pitchFamily="34" charset="-122"/>
                  <a:ea typeface="微软雅黑" panose="020B0503020204020204" pitchFamily="34" charset="-122"/>
                  <a:cs typeface="Arial" pitchFamily="34" charset="0"/>
                </a:rPr>
                <a:t>性能</a:t>
              </a:r>
              <a:r>
                <a:rPr lang="zh-CN" altLang="en-US" sz="1200" b="1" kern="1200" dirty="0">
                  <a:solidFill>
                    <a:schemeClr val="tx2"/>
                  </a:solidFill>
                  <a:latin typeface="微软雅黑" panose="020B0503020204020204" pitchFamily="34" charset="-122"/>
                  <a:ea typeface="微软雅黑" panose="020B0503020204020204" pitchFamily="34" charset="-122"/>
                  <a:cs typeface="Arial" pitchFamily="34" charset="0"/>
                </a:rPr>
                <a:t>调优</a:t>
              </a:r>
            </a:p>
          </p:txBody>
        </p:sp>
        <p:sp>
          <p:nvSpPr>
            <p:cNvPr id="35" name="矩形 34"/>
            <p:cNvSpPr/>
            <p:nvPr/>
          </p:nvSpPr>
          <p:spPr>
            <a:xfrm>
              <a:off x="9436691" y="2581295"/>
              <a:ext cx="730287" cy="461665"/>
            </a:xfrm>
            <a:prstGeom prst="rect">
              <a:avLst/>
            </a:prstGeom>
          </p:spPr>
          <p:txBody>
            <a:bodyPr wrap="square">
              <a:spAutoFit/>
            </a:bodyPr>
            <a:lstStyle/>
            <a:p>
              <a:pPr marL="12373" defTabSz="1187798" hangingPunct="1">
                <a:spcAft>
                  <a:spcPts val="600"/>
                </a:spcAft>
                <a:tabLst>
                  <a:tab pos="1208420" algn="ctr"/>
                </a:tabLst>
              </a:pPr>
              <a:r>
                <a:rPr lang="zh-CN" altLang="en-US" sz="1200" b="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rPr>
                <a:t>全场景</a:t>
              </a:r>
              <a:r>
                <a:rPr lang="en-US" altLang="zh-CN" sz="1200" b="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rPr>
                <a:t/>
              </a:r>
              <a:br>
                <a:rPr lang="en-US" altLang="zh-CN" sz="1200" b="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rPr>
              </a:br>
              <a:r>
                <a:rPr lang="zh-CN" altLang="en-US" sz="1200" b="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rPr>
                <a:t>部署</a:t>
              </a:r>
              <a:endParaRPr lang="en-US" altLang="zh-CN" sz="1200" b="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36" name="矩形 35"/>
            <p:cNvSpPr/>
            <p:nvPr/>
          </p:nvSpPr>
          <p:spPr>
            <a:xfrm>
              <a:off x="10638618" y="2079683"/>
              <a:ext cx="427521" cy="276999"/>
            </a:xfrm>
            <a:prstGeom prst="rect">
              <a:avLst/>
            </a:prstGeom>
          </p:spPr>
          <p:txBody>
            <a:bodyPr wrap="square">
              <a:spAutoFit/>
            </a:bodyPr>
            <a:lstStyle/>
            <a:p>
              <a:pPr marL="12373" defTabSz="1187798" hangingPunct="1">
                <a:spcAft>
                  <a:spcPts val="600"/>
                </a:spcAft>
                <a:tabLst>
                  <a:tab pos="1208420" algn="ctr"/>
                </a:tabLst>
              </a:pPr>
              <a:r>
                <a:rPr lang="zh-CN" altLang="en-US" sz="120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rPr>
                <a:t>云</a:t>
              </a:r>
              <a:endParaRPr lang="en-US" altLang="zh-CN" sz="120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37" name="矩形 36"/>
            <p:cNvSpPr/>
            <p:nvPr/>
          </p:nvSpPr>
          <p:spPr>
            <a:xfrm>
              <a:off x="10638618" y="2665758"/>
              <a:ext cx="358367" cy="276999"/>
            </a:xfrm>
            <a:prstGeom prst="rect">
              <a:avLst/>
            </a:prstGeom>
          </p:spPr>
          <p:txBody>
            <a:bodyPr wrap="square">
              <a:spAutoFit/>
            </a:bodyPr>
            <a:lstStyle/>
            <a:p>
              <a:pPr marL="12373" defTabSz="1187798" hangingPunct="1">
                <a:spcAft>
                  <a:spcPts val="600"/>
                </a:spcAft>
                <a:tabLst>
                  <a:tab pos="1208420" algn="ctr"/>
                </a:tabLst>
              </a:pPr>
              <a:r>
                <a:rPr lang="zh-CN" altLang="en-US" sz="120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rPr>
                <a:t>边</a:t>
              </a:r>
              <a:endParaRPr lang="en-US" altLang="zh-CN" sz="120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38" name="矩形 37"/>
            <p:cNvSpPr/>
            <p:nvPr/>
          </p:nvSpPr>
          <p:spPr>
            <a:xfrm>
              <a:off x="10647797" y="3202324"/>
              <a:ext cx="385682" cy="276999"/>
            </a:xfrm>
            <a:prstGeom prst="rect">
              <a:avLst/>
            </a:prstGeom>
          </p:spPr>
          <p:txBody>
            <a:bodyPr wrap="square">
              <a:spAutoFit/>
            </a:bodyPr>
            <a:lstStyle/>
            <a:p>
              <a:pPr marL="12373" defTabSz="1187798" hangingPunct="1">
                <a:spcAft>
                  <a:spcPts val="600"/>
                </a:spcAft>
                <a:tabLst>
                  <a:tab pos="1208420" algn="ctr"/>
                </a:tabLst>
              </a:pPr>
              <a:r>
                <a:rPr lang="zh-CN" altLang="en-US" sz="120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rPr>
                <a:t>端</a:t>
              </a:r>
              <a:endParaRPr lang="en-US" altLang="zh-CN" sz="1200" kern="1200" dirty="0">
                <a:solidFill>
                  <a:schemeClr val="tx2"/>
                </a:solidFill>
                <a:latin typeface="Microsoft YaHei" panose="020B0503020204020204" pitchFamily="34" charset="-122"/>
                <a:ea typeface="Microsoft YaHei" panose="020B0503020204020204" pitchFamily="34" charset="-122"/>
                <a:cs typeface="Arial" panose="020B0604020202020204" pitchFamily="34" charset="0"/>
              </a:endParaRPr>
            </a:p>
          </p:txBody>
        </p:sp>
        <p:cxnSp>
          <p:nvCxnSpPr>
            <p:cNvPr id="39" name="直接箭头连接符 38"/>
            <p:cNvCxnSpPr/>
            <p:nvPr/>
          </p:nvCxnSpPr>
          <p:spPr>
            <a:xfrm flipV="1">
              <a:off x="10144853" y="2212783"/>
              <a:ext cx="524353" cy="407106"/>
            </a:xfrm>
            <a:prstGeom prst="straightConnector1">
              <a:avLst/>
            </a:prstGeom>
            <a:noFill/>
            <a:ln w="6350" cap="flat" cmpd="sng" algn="ctr">
              <a:solidFill>
                <a:schemeClr val="accent5">
                  <a:lumMod val="60000"/>
                  <a:lumOff val="40000"/>
                </a:schemeClr>
              </a:solidFill>
              <a:prstDash val="solid"/>
              <a:miter lim="800000"/>
              <a:tailEnd type="triangle"/>
            </a:ln>
            <a:effectLst/>
          </p:spPr>
        </p:cxnSp>
        <p:cxnSp>
          <p:nvCxnSpPr>
            <p:cNvPr id="40" name="直接箭头连接符 39"/>
            <p:cNvCxnSpPr/>
            <p:nvPr/>
          </p:nvCxnSpPr>
          <p:spPr>
            <a:xfrm>
              <a:off x="10139523" y="2988626"/>
              <a:ext cx="556991" cy="359334"/>
            </a:xfrm>
            <a:prstGeom prst="straightConnector1">
              <a:avLst/>
            </a:prstGeom>
            <a:noFill/>
            <a:ln w="6350" cap="flat" cmpd="sng" algn="ctr">
              <a:solidFill>
                <a:schemeClr val="accent5">
                  <a:lumMod val="60000"/>
                  <a:lumOff val="40000"/>
                </a:schemeClr>
              </a:solidFill>
              <a:prstDash val="solid"/>
              <a:miter lim="800000"/>
              <a:tailEnd type="triangle"/>
            </a:ln>
            <a:effectLst/>
          </p:spPr>
        </p:cxnSp>
        <p:cxnSp>
          <p:nvCxnSpPr>
            <p:cNvPr id="41" name="直接箭头连接符 40"/>
            <p:cNvCxnSpPr/>
            <p:nvPr/>
          </p:nvCxnSpPr>
          <p:spPr>
            <a:xfrm flipV="1">
              <a:off x="10150628" y="2803648"/>
              <a:ext cx="518578" cy="8479"/>
            </a:xfrm>
            <a:prstGeom prst="straightConnector1">
              <a:avLst/>
            </a:prstGeom>
            <a:noFill/>
            <a:ln w="6350" cap="flat" cmpd="sng" algn="ctr">
              <a:solidFill>
                <a:schemeClr val="accent5">
                  <a:lumMod val="60000"/>
                  <a:lumOff val="40000"/>
                </a:schemeClr>
              </a:solidFill>
              <a:prstDash val="solid"/>
              <a:miter lim="800000"/>
              <a:tailEnd type="triangle"/>
            </a:ln>
            <a:effectLst/>
          </p:spPr>
        </p:cxnSp>
        <p:sp>
          <p:nvSpPr>
            <p:cNvPr id="42" name="形状"/>
            <p:cNvSpPr/>
            <p:nvPr/>
          </p:nvSpPr>
          <p:spPr>
            <a:xfrm rot="10800000" flipH="1">
              <a:off x="9198378" y="2697194"/>
              <a:ext cx="189284" cy="189835"/>
            </a:xfrm>
            <a:custGeom>
              <a:avLst/>
              <a:gdLst/>
              <a:ahLst/>
              <a:cxnLst>
                <a:cxn ang="0">
                  <a:pos x="wd2" y="hd2"/>
                </a:cxn>
                <a:cxn ang="5400000">
                  <a:pos x="wd2" y="hd2"/>
                </a:cxn>
                <a:cxn ang="10800000">
                  <a:pos x="wd2" y="hd2"/>
                </a:cxn>
                <a:cxn ang="16200000">
                  <a:pos x="wd2" y="hd2"/>
                </a:cxn>
              </a:cxnLst>
              <a:rect l="0" t="0" r="r" b="b"/>
              <a:pathLst>
                <a:path w="21600" h="21600" extrusionOk="0">
                  <a:moveTo>
                    <a:pt x="12547" y="14163"/>
                  </a:moveTo>
                  <a:lnTo>
                    <a:pt x="12547" y="21600"/>
                  </a:lnTo>
                  <a:cubicBezTo>
                    <a:pt x="14056" y="19762"/>
                    <a:pt x="15565" y="17924"/>
                    <a:pt x="17074" y="16086"/>
                  </a:cubicBezTo>
                  <a:cubicBezTo>
                    <a:pt x="18582" y="14248"/>
                    <a:pt x="20091" y="12410"/>
                    <a:pt x="21600" y="10572"/>
                  </a:cubicBezTo>
                  <a:lnTo>
                    <a:pt x="12547" y="0"/>
                  </a:lnTo>
                  <a:lnTo>
                    <a:pt x="12547" y="6980"/>
                  </a:lnTo>
                  <a:lnTo>
                    <a:pt x="0" y="6980"/>
                  </a:lnTo>
                  <a:lnTo>
                    <a:pt x="0" y="14163"/>
                  </a:lnTo>
                  <a:lnTo>
                    <a:pt x="12547" y="14163"/>
                  </a:lnTo>
                  <a:close/>
                </a:path>
              </a:pathLst>
            </a:custGeom>
            <a:solidFill>
              <a:schemeClr val="accent5">
                <a:lumMod val="40000"/>
                <a:lumOff val="60000"/>
              </a:schemeClr>
            </a:solidFill>
            <a:ln w="3175">
              <a:miter lim="400000"/>
            </a:ln>
          </p:spPr>
          <p:txBody>
            <a:bodyPr lIns="6352" tIns="6352" rIns="6352" bIns="6352" anchor="ctr"/>
            <a:lstStyle/>
            <a:p>
              <a:pPr defTabSz="73054">
                <a:defRPr sz="700" b="0">
                  <a:latin typeface="+mn-lt"/>
                  <a:ea typeface="+mn-ea"/>
                  <a:cs typeface="+mn-cs"/>
                  <a:sym typeface="Helvetica Neue Medium"/>
                </a:defRPr>
              </a:pPr>
              <a:endParaRPr sz="600" b="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4" name="形状"/>
            <p:cNvSpPr/>
            <p:nvPr/>
          </p:nvSpPr>
          <p:spPr>
            <a:xfrm rot="10800000" flipH="1">
              <a:off x="7408941" y="2683127"/>
              <a:ext cx="189284" cy="189835"/>
            </a:xfrm>
            <a:custGeom>
              <a:avLst/>
              <a:gdLst/>
              <a:ahLst/>
              <a:cxnLst>
                <a:cxn ang="0">
                  <a:pos x="wd2" y="hd2"/>
                </a:cxn>
                <a:cxn ang="5400000">
                  <a:pos x="wd2" y="hd2"/>
                </a:cxn>
                <a:cxn ang="10800000">
                  <a:pos x="wd2" y="hd2"/>
                </a:cxn>
                <a:cxn ang="16200000">
                  <a:pos x="wd2" y="hd2"/>
                </a:cxn>
              </a:cxnLst>
              <a:rect l="0" t="0" r="r" b="b"/>
              <a:pathLst>
                <a:path w="21600" h="21600" extrusionOk="0">
                  <a:moveTo>
                    <a:pt x="12547" y="14163"/>
                  </a:moveTo>
                  <a:lnTo>
                    <a:pt x="12547" y="21600"/>
                  </a:lnTo>
                  <a:cubicBezTo>
                    <a:pt x="14056" y="19762"/>
                    <a:pt x="15565" y="17924"/>
                    <a:pt x="17074" y="16086"/>
                  </a:cubicBezTo>
                  <a:cubicBezTo>
                    <a:pt x="18582" y="14248"/>
                    <a:pt x="20091" y="12410"/>
                    <a:pt x="21600" y="10572"/>
                  </a:cubicBezTo>
                  <a:lnTo>
                    <a:pt x="12547" y="0"/>
                  </a:lnTo>
                  <a:lnTo>
                    <a:pt x="12547" y="6980"/>
                  </a:lnTo>
                  <a:lnTo>
                    <a:pt x="0" y="6980"/>
                  </a:lnTo>
                  <a:lnTo>
                    <a:pt x="0" y="14163"/>
                  </a:lnTo>
                  <a:lnTo>
                    <a:pt x="12547" y="14163"/>
                  </a:lnTo>
                  <a:close/>
                </a:path>
              </a:pathLst>
            </a:custGeom>
            <a:solidFill>
              <a:schemeClr val="accent5">
                <a:lumMod val="40000"/>
                <a:lumOff val="60000"/>
              </a:schemeClr>
            </a:solidFill>
            <a:ln w="3175">
              <a:miter lim="400000"/>
            </a:ln>
          </p:spPr>
          <p:txBody>
            <a:bodyPr lIns="6352" tIns="6352" rIns="6352" bIns="6352" anchor="ctr"/>
            <a:lstStyle/>
            <a:p>
              <a:pPr defTabSz="73054">
                <a:defRPr sz="700" b="0">
                  <a:latin typeface="+mn-lt"/>
                  <a:ea typeface="+mn-ea"/>
                  <a:cs typeface="+mn-cs"/>
                  <a:sym typeface="Helvetica Neue Medium"/>
                </a:defRPr>
              </a:pPr>
              <a:endParaRPr sz="600" b="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5" name="形状"/>
            <p:cNvSpPr/>
            <p:nvPr/>
          </p:nvSpPr>
          <p:spPr>
            <a:xfrm rot="10800000" flipH="1">
              <a:off x="6005554" y="2672873"/>
              <a:ext cx="189284" cy="189835"/>
            </a:xfrm>
            <a:custGeom>
              <a:avLst/>
              <a:gdLst/>
              <a:ahLst/>
              <a:cxnLst>
                <a:cxn ang="0">
                  <a:pos x="wd2" y="hd2"/>
                </a:cxn>
                <a:cxn ang="5400000">
                  <a:pos x="wd2" y="hd2"/>
                </a:cxn>
                <a:cxn ang="10800000">
                  <a:pos x="wd2" y="hd2"/>
                </a:cxn>
                <a:cxn ang="16200000">
                  <a:pos x="wd2" y="hd2"/>
                </a:cxn>
              </a:cxnLst>
              <a:rect l="0" t="0" r="r" b="b"/>
              <a:pathLst>
                <a:path w="21600" h="21600" extrusionOk="0">
                  <a:moveTo>
                    <a:pt x="12547" y="14163"/>
                  </a:moveTo>
                  <a:lnTo>
                    <a:pt x="12547" y="21600"/>
                  </a:lnTo>
                  <a:cubicBezTo>
                    <a:pt x="14056" y="19762"/>
                    <a:pt x="15565" y="17924"/>
                    <a:pt x="17074" y="16086"/>
                  </a:cubicBezTo>
                  <a:cubicBezTo>
                    <a:pt x="18582" y="14248"/>
                    <a:pt x="20091" y="12410"/>
                    <a:pt x="21600" y="10572"/>
                  </a:cubicBezTo>
                  <a:lnTo>
                    <a:pt x="12547" y="0"/>
                  </a:lnTo>
                  <a:lnTo>
                    <a:pt x="12547" y="6980"/>
                  </a:lnTo>
                  <a:lnTo>
                    <a:pt x="0" y="6980"/>
                  </a:lnTo>
                  <a:lnTo>
                    <a:pt x="0" y="14163"/>
                  </a:lnTo>
                  <a:lnTo>
                    <a:pt x="12547" y="14163"/>
                  </a:lnTo>
                  <a:close/>
                </a:path>
              </a:pathLst>
            </a:custGeom>
            <a:solidFill>
              <a:schemeClr val="accent5">
                <a:lumMod val="40000"/>
                <a:lumOff val="60000"/>
              </a:schemeClr>
            </a:solidFill>
            <a:ln w="3175">
              <a:miter lim="400000"/>
            </a:ln>
          </p:spPr>
          <p:txBody>
            <a:bodyPr lIns="6352" tIns="6352" rIns="6352" bIns="6352" anchor="ctr"/>
            <a:lstStyle/>
            <a:p>
              <a:pPr defTabSz="73054">
                <a:defRPr sz="700" b="0">
                  <a:latin typeface="+mn-lt"/>
                  <a:ea typeface="+mn-ea"/>
                  <a:cs typeface="+mn-cs"/>
                  <a:sym typeface="Helvetica Neue Medium"/>
                </a:defRPr>
              </a:pPr>
              <a:endParaRPr sz="600" b="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6" name="形状"/>
            <p:cNvSpPr/>
            <p:nvPr/>
          </p:nvSpPr>
          <p:spPr>
            <a:xfrm rot="10800000" flipH="1">
              <a:off x="4247959" y="2672873"/>
              <a:ext cx="189284" cy="189835"/>
            </a:xfrm>
            <a:custGeom>
              <a:avLst/>
              <a:gdLst/>
              <a:ahLst/>
              <a:cxnLst>
                <a:cxn ang="0">
                  <a:pos x="wd2" y="hd2"/>
                </a:cxn>
                <a:cxn ang="5400000">
                  <a:pos x="wd2" y="hd2"/>
                </a:cxn>
                <a:cxn ang="10800000">
                  <a:pos x="wd2" y="hd2"/>
                </a:cxn>
                <a:cxn ang="16200000">
                  <a:pos x="wd2" y="hd2"/>
                </a:cxn>
              </a:cxnLst>
              <a:rect l="0" t="0" r="r" b="b"/>
              <a:pathLst>
                <a:path w="21600" h="21600" extrusionOk="0">
                  <a:moveTo>
                    <a:pt x="12547" y="14163"/>
                  </a:moveTo>
                  <a:lnTo>
                    <a:pt x="12547" y="21600"/>
                  </a:lnTo>
                  <a:cubicBezTo>
                    <a:pt x="14056" y="19762"/>
                    <a:pt x="15565" y="17924"/>
                    <a:pt x="17074" y="16086"/>
                  </a:cubicBezTo>
                  <a:cubicBezTo>
                    <a:pt x="18582" y="14248"/>
                    <a:pt x="20091" y="12410"/>
                    <a:pt x="21600" y="10572"/>
                  </a:cubicBezTo>
                  <a:lnTo>
                    <a:pt x="12547" y="0"/>
                  </a:lnTo>
                  <a:lnTo>
                    <a:pt x="12547" y="6980"/>
                  </a:lnTo>
                  <a:lnTo>
                    <a:pt x="0" y="6980"/>
                  </a:lnTo>
                  <a:lnTo>
                    <a:pt x="0" y="14163"/>
                  </a:lnTo>
                  <a:lnTo>
                    <a:pt x="12547" y="14163"/>
                  </a:lnTo>
                  <a:close/>
                </a:path>
              </a:pathLst>
            </a:custGeom>
            <a:solidFill>
              <a:schemeClr val="accent5">
                <a:lumMod val="40000"/>
                <a:lumOff val="60000"/>
              </a:schemeClr>
            </a:solidFill>
            <a:ln w="3175">
              <a:miter lim="400000"/>
            </a:ln>
          </p:spPr>
          <p:txBody>
            <a:bodyPr lIns="6352" tIns="6352" rIns="6352" bIns="6352" anchor="ctr"/>
            <a:lstStyle/>
            <a:p>
              <a:pPr defTabSz="73054">
                <a:defRPr sz="700" b="0">
                  <a:latin typeface="+mn-lt"/>
                  <a:ea typeface="+mn-ea"/>
                  <a:cs typeface="+mn-cs"/>
                  <a:sym typeface="Helvetica Neue Medium"/>
                </a:defRPr>
              </a:pPr>
              <a:endParaRPr sz="600" b="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7" name="形状"/>
            <p:cNvSpPr/>
            <p:nvPr/>
          </p:nvSpPr>
          <p:spPr>
            <a:xfrm rot="10800000" flipH="1">
              <a:off x="2867799" y="2664906"/>
              <a:ext cx="189284" cy="189835"/>
            </a:xfrm>
            <a:custGeom>
              <a:avLst/>
              <a:gdLst/>
              <a:ahLst/>
              <a:cxnLst>
                <a:cxn ang="0">
                  <a:pos x="wd2" y="hd2"/>
                </a:cxn>
                <a:cxn ang="5400000">
                  <a:pos x="wd2" y="hd2"/>
                </a:cxn>
                <a:cxn ang="10800000">
                  <a:pos x="wd2" y="hd2"/>
                </a:cxn>
                <a:cxn ang="16200000">
                  <a:pos x="wd2" y="hd2"/>
                </a:cxn>
              </a:cxnLst>
              <a:rect l="0" t="0" r="r" b="b"/>
              <a:pathLst>
                <a:path w="21600" h="21600" extrusionOk="0">
                  <a:moveTo>
                    <a:pt x="12547" y="14163"/>
                  </a:moveTo>
                  <a:lnTo>
                    <a:pt x="12547" y="21600"/>
                  </a:lnTo>
                  <a:cubicBezTo>
                    <a:pt x="14056" y="19762"/>
                    <a:pt x="15565" y="17924"/>
                    <a:pt x="17074" y="16086"/>
                  </a:cubicBezTo>
                  <a:cubicBezTo>
                    <a:pt x="18582" y="14248"/>
                    <a:pt x="20091" y="12410"/>
                    <a:pt x="21600" y="10572"/>
                  </a:cubicBezTo>
                  <a:lnTo>
                    <a:pt x="12547" y="0"/>
                  </a:lnTo>
                  <a:lnTo>
                    <a:pt x="12547" y="6980"/>
                  </a:lnTo>
                  <a:lnTo>
                    <a:pt x="0" y="6980"/>
                  </a:lnTo>
                  <a:lnTo>
                    <a:pt x="0" y="14163"/>
                  </a:lnTo>
                  <a:lnTo>
                    <a:pt x="12547" y="14163"/>
                  </a:lnTo>
                  <a:close/>
                </a:path>
              </a:pathLst>
            </a:custGeom>
            <a:solidFill>
              <a:schemeClr val="accent5">
                <a:lumMod val="40000"/>
                <a:lumOff val="60000"/>
              </a:schemeClr>
            </a:solidFill>
            <a:ln w="3175">
              <a:miter lim="400000"/>
            </a:ln>
          </p:spPr>
          <p:txBody>
            <a:bodyPr lIns="6352" tIns="6352" rIns="6352" bIns="6352" anchor="ctr"/>
            <a:lstStyle/>
            <a:p>
              <a:pPr defTabSz="73054">
                <a:defRPr sz="700" b="0">
                  <a:latin typeface="+mn-lt"/>
                  <a:ea typeface="+mn-ea"/>
                  <a:cs typeface="+mn-cs"/>
                  <a:sym typeface="Helvetica Neue Medium"/>
                </a:defRPr>
              </a:pPr>
              <a:endParaRPr sz="600" b="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48" name="肘形连接符 47"/>
            <p:cNvCxnSpPr>
              <a:stCxn id="9" idx="2"/>
              <a:endCxn id="13" idx="2"/>
            </p:cNvCxnSpPr>
            <p:nvPr/>
          </p:nvCxnSpPr>
          <p:spPr>
            <a:xfrm rot="16200000" flipH="1">
              <a:off x="4421551" y="2783721"/>
              <a:ext cx="12700" cy="1560129"/>
            </a:xfrm>
            <a:prstGeom prst="bentConnector3">
              <a:avLst>
                <a:gd name="adj1" fmla="val 1227260"/>
              </a:avLst>
            </a:prstGeom>
            <a:ln>
              <a:solidFill>
                <a:srgbClr val="C0B3B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肘形连接符 48"/>
            <p:cNvCxnSpPr>
              <a:stCxn id="13" idx="0"/>
              <a:endCxn id="9" idx="0"/>
            </p:cNvCxnSpPr>
            <p:nvPr/>
          </p:nvCxnSpPr>
          <p:spPr>
            <a:xfrm rot="16200000" flipV="1">
              <a:off x="4421552" y="1287431"/>
              <a:ext cx="12700" cy="1560129"/>
            </a:xfrm>
            <a:prstGeom prst="bentConnector3">
              <a:avLst>
                <a:gd name="adj1" fmla="val 1800000"/>
              </a:avLst>
            </a:prstGeom>
            <a:ln>
              <a:solidFill>
                <a:srgbClr val="C0B3BF"/>
              </a:solidFill>
              <a:tailEnd type="triangle"/>
            </a:ln>
          </p:spPr>
          <p:style>
            <a:lnRef idx="1">
              <a:schemeClr val="accent1"/>
            </a:lnRef>
            <a:fillRef idx="0">
              <a:schemeClr val="accent1"/>
            </a:fillRef>
            <a:effectRef idx="0">
              <a:schemeClr val="accent1"/>
            </a:effectRef>
            <a:fontRef idx="minor">
              <a:schemeClr val="tx1"/>
            </a:fontRef>
          </p:style>
        </p:cxnSp>
        <p:sp>
          <p:nvSpPr>
            <p:cNvPr id="50" name="圆角矩形 49"/>
            <p:cNvSpPr/>
            <p:nvPr/>
          </p:nvSpPr>
          <p:spPr>
            <a:xfrm>
              <a:off x="2867798" y="1485578"/>
              <a:ext cx="1569445" cy="2592288"/>
            </a:xfrm>
            <a:prstGeom prst="round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6028219" y="1463680"/>
              <a:ext cx="1569445" cy="2592288"/>
            </a:xfrm>
            <a:prstGeom prst="round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2784806" y="5400430"/>
            <a:ext cx="936393" cy="461665"/>
          </a:xfrm>
          <a:prstGeom prst="rect">
            <a:avLst/>
          </a:prstGeom>
          <a:noFill/>
        </p:spPr>
        <p:txBody>
          <a:bodyPr wrap="square" rtlCol="0">
            <a:spAutoFit/>
          </a:bodyPr>
          <a:lstStyle/>
          <a:p>
            <a:r>
              <a:rPr lang="en-US" altLang="zh-CN" dirty="0" smtClean="0"/>
              <a:t>ATC</a:t>
            </a:r>
            <a:endParaRPr lang="zh-CN" altLang="en-US" dirty="0"/>
          </a:p>
        </p:txBody>
      </p:sp>
      <p:sp>
        <p:nvSpPr>
          <p:cNvPr id="52" name="文本框 51"/>
          <p:cNvSpPr txBox="1"/>
          <p:nvPr/>
        </p:nvSpPr>
        <p:spPr>
          <a:xfrm>
            <a:off x="6447577" y="5342880"/>
            <a:ext cx="936393" cy="461665"/>
          </a:xfrm>
          <a:prstGeom prst="rect">
            <a:avLst/>
          </a:prstGeom>
          <a:noFill/>
        </p:spPr>
        <p:txBody>
          <a:bodyPr wrap="square" rtlCol="0">
            <a:spAutoFit/>
          </a:bodyPr>
          <a:lstStyle/>
          <a:p>
            <a:r>
              <a:rPr lang="en-US" altLang="zh-CN" dirty="0" smtClean="0"/>
              <a:t>ACL</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1">
            <a:extLst>
              <a:ext uri="{FF2B5EF4-FFF2-40B4-BE49-F238E27FC236}">
                <a16:creationId xmlns:a16="http://schemas.microsoft.com/office/drawing/2014/main" xmlns="" id="{CE0CEC36-5881-F64A-A70F-904DBA9886A9}"/>
              </a:ext>
            </a:extLst>
          </p:cNvPr>
          <p:cNvSpPr txBox="1">
            <a:spLocks/>
          </p:cNvSpPr>
          <p:nvPr/>
        </p:nvSpPr>
        <p:spPr>
          <a:xfrm>
            <a:off x="1633091" y="432420"/>
            <a:ext cx="10739242" cy="993630"/>
          </a:xfrm>
          <a:prstGeom prst="rect">
            <a:avLst/>
          </a:prstGeom>
        </p:spPr>
        <p:txBody>
          <a:bodyPr vert="horz" lIns="100800" tIns="50400" rIns="100800" bIns="50400" rtlCol="0" anchor="t" anchorCtr="0">
            <a:normAutofit/>
          </a:bodyPr>
          <a:lstStyle>
            <a:lvl1pPr defTabSz="914400">
              <a:spcBef>
                <a:spcPct val="0"/>
              </a:spcBef>
              <a:buNone/>
              <a:defRPr sz="3200" b="1" baseline="0">
                <a:latin typeface="+mn-ea"/>
                <a:cs typeface="+mj-cs"/>
              </a:defRPr>
            </a:lvl1pPr>
          </a:lstStyle>
          <a:p>
            <a:r>
              <a:rPr lang="en-US" altLang="zh-CN" dirty="0" smtClean="0"/>
              <a:t>Mind Studio</a:t>
            </a:r>
            <a:r>
              <a:rPr lang="zh-CN" altLang="en-US" dirty="0"/>
              <a:t>功能介绍</a:t>
            </a:r>
            <a:endParaRPr lang="en-US" dirty="0"/>
          </a:p>
        </p:txBody>
      </p:sp>
      <p:sp>
        <p:nvSpPr>
          <p:cNvPr id="4" name="Content Placeholder 2">
            <a:extLst>
              <a:ext uri="{FF2B5EF4-FFF2-40B4-BE49-F238E27FC236}">
                <a16:creationId xmlns:a16="http://schemas.microsoft.com/office/drawing/2014/main" xmlns="" id="{55F986D5-D7D9-6446-9526-9389CD9831D8}"/>
              </a:ext>
            </a:extLst>
          </p:cNvPr>
          <p:cNvSpPr txBox="1">
            <a:spLocks/>
          </p:cNvSpPr>
          <p:nvPr/>
        </p:nvSpPr>
        <p:spPr>
          <a:xfrm>
            <a:off x="736162" y="2027583"/>
            <a:ext cx="10732160" cy="468984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chemeClr val="accent1"/>
              </a:buClr>
              <a:buSzTx/>
              <a:buFont typeface="Arial" panose="020B0604020202020204" pitchFamily="34" charset="0"/>
              <a:buChar char="•"/>
              <a:tabLst>
                <a:tab pos="1208088"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kern="1200" baseline="0">
                <a:solidFill>
                  <a:schemeClr val="tx1"/>
                </a:solidFill>
                <a:latin typeface="Microsoft YaHei" panose="020B0503020204020204" pitchFamily="34" charset="-122"/>
                <a:ea typeface="Microsoft YaHei" panose="020B0503020204020204" pitchFamily="34" charset="-122"/>
                <a:cs typeface="+mn-cs"/>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kern="1200" baseline="0">
                <a:solidFill>
                  <a:schemeClr val="tx1"/>
                </a:solidFill>
                <a:latin typeface="Microsoft YaHei" panose="020B0503020204020204" pitchFamily="34" charset="-122"/>
                <a:ea typeface="Microsoft YaHei" panose="020B0503020204020204" pitchFamily="34" charset="-122"/>
                <a:cs typeface="+mn-cs"/>
              </a:defRPr>
            </a:lvl3pPr>
            <a:lvl4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4pPr>
            <a:lvl5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a:buClr>
                <a:srgbClr val="E9002F"/>
              </a:buClr>
            </a:pPr>
            <a:endParaRPr lang="en-US" dirty="0">
              <a:solidFill>
                <a:srgbClr val="1D1D1A"/>
              </a:solidFill>
            </a:endParaRPr>
          </a:p>
        </p:txBody>
      </p:sp>
      <p:pic>
        <p:nvPicPr>
          <p:cNvPr id="5" name="Picture 2" descr="http://10.179.105.148:8090/MindStudio_Help/2.3.3/1.72/zh-cn_image_023155870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163" y="1341562"/>
            <a:ext cx="8216452" cy="4787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02421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内容占位符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162" y="1669516"/>
            <a:ext cx="4650074" cy="3498954"/>
          </a:xfrm>
          <a:prstGeom prst="rect">
            <a:avLst/>
          </a:prstGeom>
        </p:spPr>
      </p:pic>
      <p:sp>
        <p:nvSpPr>
          <p:cNvPr id="4" name="Content Placeholder 2">
            <a:extLst>
              <a:ext uri="{FF2B5EF4-FFF2-40B4-BE49-F238E27FC236}">
                <a16:creationId xmlns:a16="http://schemas.microsoft.com/office/drawing/2014/main" xmlns="" id="{55F986D5-D7D9-6446-9526-9389CD9831D8}"/>
              </a:ext>
            </a:extLst>
          </p:cNvPr>
          <p:cNvSpPr txBox="1">
            <a:spLocks/>
          </p:cNvSpPr>
          <p:nvPr/>
        </p:nvSpPr>
        <p:spPr>
          <a:xfrm>
            <a:off x="736162" y="2027583"/>
            <a:ext cx="10732160" cy="468984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chemeClr val="accent1"/>
              </a:buClr>
              <a:buSzTx/>
              <a:buFont typeface="Arial" panose="020B0604020202020204" pitchFamily="34" charset="0"/>
              <a:buChar char="•"/>
              <a:tabLst>
                <a:tab pos="1208088"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kern="1200" baseline="0">
                <a:solidFill>
                  <a:schemeClr val="tx1"/>
                </a:solidFill>
                <a:latin typeface="Microsoft YaHei" panose="020B0503020204020204" pitchFamily="34" charset="-122"/>
                <a:ea typeface="Microsoft YaHei" panose="020B0503020204020204" pitchFamily="34" charset="-122"/>
                <a:cs typeface="+mn-cs"/>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kern="1200" baseline="0">
                <a:solidFill>
                  <a:schemeClr val="tx1"/>
                </a:solidFill>
                <a:latin typeface="Microsoft YaHei" panose="020B0503020204020204" pitchFamily="34" charset="-122"/>
                <a:ea typeface="Microsoft YaHei" panose="020B0503020204020204" pitchFamily="34" charset="-122"/>
                <a:cs typeface="+mn-cs"/>
              </a:defRPr>
            </a:lvl3pPr>
            <a:lvl4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4pPr>
            <a:lvl5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a:buClr>
                <a:srgbClr val="E9002F"/>
              </a:buClr>
            </a:pPr>
            <a:endParaRPr lang="en-US" dirty="0">
              <a:solidFill>
                <a:srgbClr val="1D1D1A"/>
              </a:solidFill>
            </a:endParaRP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1360" y="1669516"/>
            <a:ext cx="4795288" cy="3498954"/>
          </a:xfrm>
          <a:prstGeom prst="rect">
            <a:avLst/>
          </a:prstGeom>
        </p:spPr>
      </p:pic>
      <p:sp>
        <p:nvSpPr>
          <p:cNvPr id="6" name="文本框 5"/>
          <p:cNvSpPr txBox="1"/>
          <p:nvPr/>
        </p:nvSpPr>
        <p:spPr>
          <a:xfrm>
            <a:off x="2158921" y="5558837"/>
            <a:ext cx="2405474" cy="369284"/>
          </a:xfrm>
          <a:prstGeom prst="rect">
            <a:avLst/>
          </a:prstGeom>
          <a:noFill/>
        </p:spPr>
        <p:txBody>
          <a:bodyPr wrap="none" lIns="0" tIns="0" rIns="0" bIns="0" rtlCol="0">
            <a:spAutoFit/>
          </a:bodyPr>
          <a:lstStyle/>
          <a:p>
            <a:r>
              <a:rPr kumimoji="1" lang="en-US" altLang="zh-CN" dirty="0">
                <a:solidFill>
                  <a:srgbClr val="000000"/>
                </a:solidFill>
                <a:latin typeface="Microsoft YaHei" panose="020B0503020204020204" pitchFamily="34" charset="-122"/>
                <a:ea typeface="Microsoft YaHei" panose="020B0503020204020204" pitchFamily="34" charset="-122"/>
              </a:rPr>
              <a:t>ATC</a:t>
            </a:r>
            <a:r>
              <a:rPr kumimoji="1" lang="zh-CN" altLang="en-US" dirty="0">
                <a:solidFill>
                  <a:srgbClr val="000000"/>
                </a:solidFill>
                <a:latin typeface="Microsoft YaHei" panose="020B0503020204020204" pitchFamily="34" charset="-122"/>
                <a:ea typeface="Microsoft YaHei" panose="020B0503020204020204" pitchFamily="34" charset="-122"/>
              </a:rPr>
              <a:t>工具功能架构</a:t>
            </a:r>
          </a:p>
        </p:txBody>
      </p:sp>
      <p:sp>
        <p:nvSpPr>
          <p:cNvPr id="7" name="文本框 6"/>
          <p:cNvSpPr txBox="1"/>
          <p:nvPr/>
        </p:nvSpPr>
        <p:spPr>
          <a:xfrm>
            <a:off x="7366727" y="5558836"/>
            <a:ext cx="2405474" cy="369284"/>
          </a:xfrm>
          <a:prstGeom prst="rect">
            <a:avLst/>
          </a:prstGeom>
          <a:noFill/>
        </p:spPr>
        <p:txBody>
          <a:bodyPr wrap="none" lIns="0" tIns="0" rIns="0" bIns="0" rtlCol="0">
            <a:spAutoFit/>
          </a:bodyPr>
          <a:lstStyle/>
          <a:p>
            <a:r>
              <a:rPr kumimoji="1" lang="en-US" altLang="zh-CN" dirty="0">
                <a:solidFill>
                  <a:srgbClr val="000000"/>
                </a:solidFill>
                <a:latin typeface="Microsoft YaHei" panose="020B0503020204020204" pitchFamily="34" charset="-122"/>
                <a:ea typeface="Microsoft YaHei" panose="020B0503020204020204" pitchFamily="34" charset="-122"/>
              </a:rPr>
              <a:t>ATC</a:t>
            </a:r>
            <a:r>
              <a:rPr kumimoji="1" lang="zh-CN" altLang="en-US" dirty="0">
                <a:solidFill>
                  <a:srgbClr val="000000"/>
                </a:solidFill>
                <a:latin typeface="Microsoft YaHei" panose="020B0503020204020204" pitchFamily="34" charset="-122"/>
                <a:ea typeface="Microsoft YaHei" panose="020B0503020204020204" pitchFamily="34" charset="-122"/>
              </a:rPr>
              <a:t>工具运行流程</a:t>
            </a:r>
          </a:p>
        </p:txBody>
      </p:sp>
      <p:sp>
        <p:nvSpPr>
          <p:cNvPr id="8" name="文本框 7"/>
          <p:cNvSpPr txBox="1"/>
          <p:nvPr/>
        </p:nvSpPr>
        <p:spPr>
          <a:xfrm>
            <a:off x="1561083" y="549474"/>
            <a:ext cx="4176464" cy="492443"/>
          </a:xfrm>
          <a:prstGeom prst="rect">
            <a:avLst/>
          </a:prstGeom>
        </p:spPr>
        <p:txBody>
          <a:bodyPr vert="horz" lIns="100800" tIns="50400" rIns="100800" bIns="50400" rtlCol="0" anchor="t" anchorCtr="0">
            <a:normAutofit fontScale="92500" lnSpcReduction="20000"/>
          </a:bodyPr>
          <a:lstStyle>
            <a:lvl1pPr defTabSz="914400">
              <a:spcBef>
                <a:spcPct val="0"/>
              </a:spcBef>
              <a:buNone/>
              <a:defRPr sz="3200" b="1" baseline="0">
                <a:latin typeface="+mn-ea"/>
                <a:cs typeface="+mj-cs"/>
              </a:defRPr>
            </a:lvl1pPr>
          </a:lstStyle>
          <a:p>
            <a:r>
              <a:rPr lang="en-US" altLang="zh-CN" dirty="0" smtClean="0"/>
              <a:t>ATC</a:t>
            </a:r>
            <a:r>
              <a:rPr lang="zh-CN" altLang="en-US" dirty="0" smtClean="0"/>
              <a:t>模型</a:t>
            </a:r>
            <a:r>
              <a:rPr lang="zh-CN" altLang="en-US" dirty="0"/>
              <a:t>转换工具介绍</a:t>
            </a:r>
          </a:p>
        </p:txBody>
      </p:sp>
    </p:spTree>
    <p:extLst>
      <p:ext uri="{BB962C8B-B14F-4D97-AF65-F5344CB8AC3E}">
        <p14:creationId xmlns:p14="http://schemas.microsoft.com/office/powerpoint/2010/main" val="6393267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5F986D5-D7D9-6446-9526-9389CD9831D8}"/>
              </a:ext>
            </a:extLst>
          </p:cNvPr>
          <p:cNvSpPr txBox="1">
            <a:spLocks/>
          </p:cNvSpPr>
          <p:nvPr/>
        </p:nvSpPr>
        <p:spPr>
          <a:xfrm>
            <a:off x="736162" y="2027583"/>
            <a:ext cx="10732160" cy="468984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chemeClr val="accent1"/>
              </a:buClr>
              <a:buSzTx/>
              <a:buFont typeface="Arial" panose="020B0604020202020204" pitchFamily="34" charset="0"/>
              <a:buChar char="•"/>
              <a:tabLst>
                <a:tab pos="1208088" algn="ctr"/>
              </a:tabLst>
              <a:defRPr sz="1800" kern="12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kern="1200" baseline="0">
                <a:solidFill>
                  <a:schemeClr val="tx1"/>
                </a:solidFill>
                <a:latin typeface="Microsoft YaHei" panose="020B0503020204020204" pitchFamily="34" charset="-122"/>
                <a:ea typeface="Microsoft YaHei" panose="020B0503020204020204" pitchFamily="34" charset="-122"/>
                <a:cs typeface="+mn-cs"/>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kern="1200" baseline="0">
                <a:solidFill>
                  <a:schemeClr val="tx1"/>
                </a:solidFill>
                <a:latin typeface="Microsoft YaHei" panose="020B0503020204020204" pitchFamily="34" charset="-122"/>
                <a:ea typeface="Microsoft YaHei" panose="020B0503020204020204" pitchFamily="34" charset="-122"/>
                <a:cs typeface="+mn-cs"/>
              </a:defRPr>
            </a:lvl3pPr>
            <a:lvl4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4pPr>
            <a:lvl5pPr marL="525850" indent="-171159" algn="l" defTabSz="1187798" rtl="0" eaLnBrk="1" latinLnBrk="0" hangingPunct="1">
              <a:lnSpc>
                <a:spcPct val="90000"/>
              </a:lnSpc>
              <a:spcBef>
                <a:spcPts val="650"/>
              </a:spcBef>
              <a:buFont typeface="Arial" panose="020B0604020202020204" pitchFamily="34" charset="0"/>
              <a:buChar char="•"/>
              <a:tabLst>
                <a:tab pos="1208420" algn="ctr"/>
              </a:tabLst>
              <a:defRPr sz="1299" kern="1200" baseline="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a:lstStyle>
          <a:p>
            <a:pPr>
              <a:buClr>
                <a:srgbClr val="E9002F"/>
              </a:buClr>
            </a:pPr>
            <a:endParaRPr lang="en-US" dirty="0">
              <a:solidFill>
                <a:srgbClr val="1D1D1A"/>
              </a:solidFill>
            </a:endParaRPr>
          </a:p>
        </p:txBody>
      </p:sp>
      <p:sp>
        <p:nvSpPr>
          <p:cNvPr id="4" name="文本框 3"/>
          <p:cNvSpPr txBox="1"/>
          <p:nvPr/>
        </p:nvSpPr>
        <p:spPr>
          <a:xfrm>
            <a:off x="1705099" y="434028"/>
            <a:ext cx="3024336" cy="637327"/>
          </a:xfrm>
          <a:prstGeom prst="rect">
            <a:avLst/>
          </a:prstGeom>
        </p:spPr>
        <p:txBody>
          <a:bodyPr vert="horz" lIns="100800" tIns="50400" rIns="100800" bIns="50400" rtlCol="0" anchor="t" anchorCtr="0">
            <a:normAutofit/>
          </a:bodyPr>
          <a:lstStyle>
            <a:lvl1pPr defTabSz="914400">
              <a:spcBef>
                <a:spcPct val="0"/>
              </a:spcBef>
              <a:buNone/>
              <a:defRPr sz="3200" b="1" baseline="0">
                <a:latin typeface="+mn-ea"/>
                <a:cs typeface="+mj-cs"/>
              </a:defRPr>
            </a:lvl1pPr>
          </a:lstStyle>
          <a:p>
            <a:r>
              <a:rPr lang="zh-CN" altLang="en-US" dirty="0"/>
              <a:t>约束说明</a:t>
            </a:r>
          </a:p>
        </p:txBody>
      </p:sp>
      <p:sp>
        <p:nvSpPr>
          <p:cNvPr id="5" name="内容占位符 1"/>
          <p:cNvSpPr txBox="1">
            <a:spLocks/>
          </p:cNvSpPr>
          <p:nvPr/>
        </p:nvSpPr>
        <p:spPr>
          <a:xfrm>
            <a:off x="736162" y="1341562"/>
            <a:ext cx="10732160" cy="5112568"/>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2800" kern="1200">
                <a:solidFill>
                  <a:srgbClr val="595959"/>
                </a:solidFill>
                <a:latin typeface="微软雅黑" pitchFamily="34" charset="-122"/>
                <a:ea typeface="微软雅黑" pitchFamily="34" charset="-122"/>
                <a:cs typeface="+mn-cs"/>
              </a:defRPr>
            </a:lvl1pPr>
            <a:lvl2pPr marL="742950" indent="-285750" algn="l" defTabSz="914400" rtl="0" eaLnBrk="1" latinLnBrk="0" hangingPunct="1">
              <a:spcBef>
                <a:spcPct val="20000"/>
              </a:spcBef>
              <a:buFont typeface="Arial" panose="020B0604020202090204" pitchFamily="34" charset="0"/>
              <a:buChar char="–"/>
              <a:defRPr sz="2400" kern="1200">
                <a:solidFill>
                  <a:srgbClr val="595959"/>
                </a:solidFill>
                <a:latin typeface="微软雅黑" pitchFamily="34" charset="-122"/>
                <a:ea typeface="微软雅黑" pitchFamily="34" charset="-122"/>
                <a:cs typeface="+mn-cs"/>
              </a:defRPr>
            </a:lvl2pPr>
            <a:lvl3pPr marL="1143000" indent="-228600" algn="l" defTabSz="914400" rtl="0" eaLnBrk="1" latinLnBrk="0" hangingPunct="1">
              <a:spcBef>
                <a:spcPct val="20000"/>
              </a:spcBef>
              <a:buFont typeface="Arial" panose="020B0604020202090204" pitchFamily="34" charset="0"/>
              <a:buChar char="•"/>
              <a:defRPr sz="2000" kern="1200">
                <a:solidFill>
                  <a:srgbClr val="595959"/>
                </a:solidFill>
                <a:latin typeface="微软雅黑" pitchFamily="34" charset="-122"/>
                <a:ea typeface="微软雅黑" pitchFamily="34" charset="-122"/>
                <a:cs typeface="+mn-cs"/>
              </a:defRPr>
            </a:lvl3pPr>
            <a:lvl4pPr marL="1600200" indent="-228600" algn="l" defTabSz="914400" rtl="0" eaLnBrk="1" latinLnBrk="0" hangingPunct="1">
              <a:spcBef>
                <a:spcPct val="20000"/>
              </a:spcBef>
              <a:buFont typeface="Arial" panose="020B0604020202090204" pitchFamily="34" charset="0"/>
              <a:buChar char="–"/>
              <a:defRPr sz="1800" kern="1200">
                <a:solidFill>
                  <a:srgbClr val="595959"/>
                </a:solidFill>
                <a:latin typeface="微软雅黑" pitchFamily="34" charset="-122"/>
                <a:ea typeface="微软雅黑" pitchFamily="34" charset="-122"/>
                <a:cs typeface="+mn-cs"/>
              </a:defRPr>
            </a:lvl4pPr>
            <a:lvl5pPr marL="2057400" indent="-228600" algn="l" defTabSz="914400" rtl="0" eaLnBrk="1" latinLnBrk="0" hangingPunct="1">
              <a:spcBef>
                <a:spcPct val="20000"/>
              </a:spcBef>
              <a:buFont typeface="Arial" panose="020B0604020202090204" pitchFamily="34" charset="0"/>
              <a:buChar char="»"/>
              <a:defRPr sz="1600" kern="1200">
                <a:solidFill>
                  <a:srgbClr val="595959"/>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a:lnSpc>
                <a:spcPct val="150000"/>
              </a:lnSpc>
            </a:pPr>
            <a:r>
              <a:rPr lang="zh-CN" altLang="en-US" sz="2000" dirty="0" smtClean="0"/>
              <a:t>在进行模型转换前，请务必查看如下约束要求：</a:t>
            </a:r>
          </a:p>
          <a:p>
            <a:pPr lvl="1">
              <a:lnSpc>
                <a:spcPct val="150000"/>
              </a:lnSpc>
            </a:pPr>
            <a:r>
              <a:rPr lang="zh-CN" altLang="en-US" sz="1800" dirty="0" smtClean="0"/>
              <a:t>只支持原始框架类型为</a:t>
            </a:r>
            <a:r>
              <a:rPr lang="en-US" altLang="zh-CN" sz="1800" dirty="0" err="1" smtClean="0"/>
              <a:t>Caffe</a:t>
            </a:r>
            <a:r>
              <a:rPr lang="zh-CN" altLang="en-US" sz="1800" dirty="0" smtClean="0"/>
              <a:t>和</a:t>
            </a:r>
            <a:r>
              <a:rPr lang="en-US" altLang="zh-CN" sz="1800" dirty="0" err="1" smtClean="0"/>
              <a:t>TensorFlow</a:t>
            </a:r>
            <a:r>
              <a:rPr lang="zh-CN" altLang="en-US" sz="1800" dirty="0" smtClean="0"/>
              <a:t>的模型转换，当原始框架类型为</a:t>
            </a:r>
            <a:r>
              <a:rPr lang="en-US" altLang="zh-CN" sz="1800" dirty="0" err="1" smtClean="0"/>
              <a:t>Caffe</a:t>
            </a:r>
            <a:r>
              <a:rPr lang="zh-CN" altLang="en-US" sz="1800" dirty="0" smtClean="0"/>
              <a:t>时，输入数据类型为</a:t>
            </a:r>
            <a:r>
              <a:rPr lang="en-US" altLang="zh-CN" sz="1800" dirty="0" smtClean="0"/>
              <a:t>fp32</a:t>
            </a:r>
            <a:r>
              <a:rPr lang="zh-CN" altLang="en-US" sz="1800" dirty="0" smtClean="0"/>
              <a:t>、</a:t>
            </a:r>
            <a:r>
              <a:rPr lang="en-US" altLang="zh-CN" sz="1800" dirty="0" smtClean="0"/>
              <a:t>fp16</a:t>
            </a:r>
            <a:r>
              <a:rPr lang="zh-CN" altLang="en-US" sz="1800" dirty="0" smtClean="0"/>
              <a:t>（通过设置入参</a:t>
            </a:r>
            <a:r>
              <a:rPr lang="en-US" altLang="zh-CN" sz="1800" dirty="0" smtClean="0"/>
              <a:t>--input_fp16_nodes</a:t>
            </a:r>
            <a:r>
              <a:rPr lang="zh-CN" altLang="en-US" sz="1800" dirty="0" smtClean="0"/>
              <a:t>实现）、</a:t>
            </a:r>
            <a:r>
              <a:rPr lang="en-US" altLang="zh-CN" sz="1800" dirty="0" smtClean="0"/>
              <a:t>uint8</a:t>
            </a:r>
            <a:r>
              <a:rPr lang="zh-CN" altLang="en-US" sz="1800" dirty="0" smtClean="0"/>
              <a:t>（通过配置</a:t>
            </a:r>
            <a:r>
              <a:rPr lang="en-US" altLang="zh-CN" sz="1800" dirty="0" smtClean="0"/>
              <a:t>AIPP</a:t>
            </a:r>
            <a:r>
              <a:rPr lang="zh-CN" altLang="en-US" sz="1800" dirty="0" smtClean="0"/>
              <a:t>实现）；当原始框架类型为</a:t>
            </a:r>
            <a:r>
              <a:rPr lang="en-US" altLang="zh-CN" sz="1800" dirty="0" err="1" smtClean="0"/>
              <a:t>TensorFlow</a:t>
            </a:r>
            <a:r>
              <a:rPr lang="zh-CN" altLang="en-US" sz="1800" dirty="0" smtClean="0"/>
              <a:t>时，输入数据类型为</a:t>
            </a:r>
            <a:r>
              <a:rPr lang="en-US" altLang="zh-CN" sz="1800" dirty="0" smtClean="0"/>
              <a:t>fp16</a:t>
            </a:r>
            <a:r>
              <a:rPr lang="zh-CN" altLang="en-US" sz="1800" dirty="0" smtClean="0"/>
              <a:t>、</a:t>
            </a:r>
            <a:r>
              <a:rPr lang="en-US" altLang="zh-CN" sz="1800" dirty="0" smtClean="0"/>
              <a:t>fp32</a:t>
            </a:r>
            <a:r>
              <a:rPr lang="zh-CN" altLang="en-US" sz="1800" dirty="0" smtClean="0"/>
              <a:t>、</a:t>
            </a:r>
            <a:r>
              <a:rPr lang="en-US" altLang="zh-CN" sz="1800" dirty="0" smtClean="0"/>
              <a:t>unit8</a:t>
            </a:r>
            <a:r>
              <a:rPr lang="zh-CN" altLang="en-US" sz="1800" dirty="0" smtClean="0"/>
              <a:t>、</a:t>
            </a:r>
            <a:r>
              <a:rPr lang="en-US" altLang="zh-CN" sz="1800" dirty="0" smtClean="0"/>
              <a:t>int32</a:t>
            </a:r>
            <a:r>
              <a:rPr lang="zh-CN" altLang="en-US" sz="1800" dirty="0" smtClean="0"/>
              <a:t>、</a:t>
            </a:r>
            <a:r>
              <a:rPr lang="en-US" altLang="zh-CN" sz="1800" dirty="0" smtClean="0"/>
              <a:t>int64</a:t>
            </a:r>
            <a:r>
              <a:rPr lang="zh-CN" altLang="en-US" sz="1800" dirty="0" smtClean="0"/>
              <a:t>、</a:t>
            </a:r>
            <a:r>
              <a:rPr lang="en-US" altLang="zh-CN" sz="1800" dirty="0" smtClean="0"/>
              <a:t>bool</a:t>
            </a:r>
            <a:r>
              <a:rPr lang="zh-CN" altLang="en-US" sz="1800" dirty="0" smtClean="0"/>
              <a:t>。</a:t>
            </a:r>
          </a:p>
          <a:p>
            <a:pPr lvl="1">
              <a:lnSpc>
                <a:spcPct val="150000"/>
              </a:lnSpc>
            </a:pPr>
            <a:r>
              <a:rPr lang="zh-CN" altLang="en-US" sz="1800" dirty="0" smtClean="0"/>
              <a:t>当原始框架类型为</a:t>
            </a:r>
            <a:r>
              <a:rPr lang="en-US" altLang="zh-CN" sz="1800" dirty="0" err="1" smtClean="0"/>
              <a:t>Caffe</a:t>
            </a:r>
            <a:r>
              <a:rPr lang="zh-CN" altLang="en-US" sz="1800" dirty="0" smtClean="0"/>
              <a:t>时，模型文件（</a:t>
            </a:r>
            <a:r>
              <a:rPr lang="en-US" altLang="zh-CN" sz="1800" dirty="0" smtClean="0"/>
              <a:t>.</a:t>
            </a:r>
            <a:r>
              <a:rPr lang="en-US" altLang="zh-CN" sz="1800" dirty="0" err="1" smtClean="0"/>
              <a:t>prototxt</a:t>
            </a:r>
            <a:r>
              <a:rPr lang="zh-CN" altLang="en-US" sz="1800" dirty="0" smtClean="0"/>
              <a:t>）和权重文件（</a:t>
            </a:r>
            <a:r>
              <a:rPr lang="en-US" altLang="zh-CN" sz="1800" dirty="0" smtClean="0"/>
              <a:t>.</a:t>
            </a:r>
            <a:r>
              <a:rPr lang="en-US" altLang="zh-CN" sz="1800" dirty="0" err="1" smtClean="0"/>
              <a:t>caffemodel</a:t>
            </a:r>
            <a:r>
              <a:rPr lang="zh-CN" altLang="en-US" sz="1800" dirty="0" smtClean="0"/>
              <a:t>）的</a:t>
            </a:r>
            <a:r>
              <a:rPr lang="en-US" altLang="zh-CN" sz="1800" dirty="0" smtClean="0"/>
              <a:t>op name</a:t>
            </a:r>
            <a:r>
              <a:rPr lang="zh-CN" altLang="en-US" sz="1800" dirty="0" smtClean="0"/>
              <a:t>、</a:t>
            </a:r>
            <a:r>
              <a:rPr lang="en-US" altLang="zh-CN" sz="1800" dirty="0" smtClean="0"/>
              <a:t>op type</a:t>
            </a:r>
            <a:r>
              <a:rPr lang="zh-CN" altLang="en-US" sz="1800" dirty="0" smtClean="0"/>
              <a:t>必须保持名称一致（包括大小写）。</a:t>
            </a:r>
          </a:p>
          <a:p>
            <a:pPr lvl="1">
              <a:lnSpc>
                <a:spcPct val="150000"/>
              </a:lnSpc>
            </a:pPr>
            <a:r>
              <a:rPr lang="zh-CN" altLang="en-US" sz="1800" dirty="0" smtClean="0"/>
              <a:t>当原始框架类型为</a:t>
            </a:r>
            <a:r>
              <a:rPr lang="en-US" altLang="zh-CN" sz="1800" dirty="0" err="1" smtClean="0"/>
              <a:t>TensorFlow</a:t>
            </a:r>
            <a:r>
              <a:rPr lang="zh-CN" altLang="en-US" sz="1800" dirty="0" smtClean="0"/>
              <a:t>时，只支持</a:t>
            </a:r>
            <a:r>
              <a:rPr lang="en-US" altLang="zh-CN" sz="1800" dirty="0" err="1" smtClean="0"/>
              <a:t>FrozenGraphDef</a:t>
            </a:r>
            <a:r>
              <a:rPr lang="zh-CN" altLang="en-US" sz="1800" dirty="0" smtClean="0"/>
              <a:t>格式（</a:t>
            </a:r>
            <a:r>
              <a:rPr lang="en-US" altLang="zh-CN" sz="1800" dirty="0" smtClean="0"/>
              <a:t>.</a:t>
            </a:r>
            <a:r>
              <a:rPr lang="en-US" altLang="zh-CN" sz="1800" dirty="0" err="1" smtClean="0"/>
              <a:t>pb</a:t>
            </a:r>
            <a:r>
              <a:rPr lang="zh-CN" altLang="en-US" sz="1800" dirty="0" smtClean="0"/>
              <a:t>）。</a:t>
            </a:r>
          </a:p>
          <a:p>
            <a:pPr lvl="1">
              <a:lnSpc>
                <a:spcPct val="150000"/>
              </a:lnSpc>
            </a:pPr>
            <a:r>
              <a:rPr lang="zh-CN" altLang="en-US" sz="1800" dirty="0" smtClean="0"/>
              <a:t>对于</a:t>
            </a:r>
            <a:r>
              <a:rPr lang="en-US" altLang="zh-CN" sz="1800" dirty="0" err="1" smtClean="0"/>
              <a:t>Caffe</a:t>
            </a:r>
            <a:r>
              <a:rPr lang="zh-CN" altLang="en-US" sz="1800" dirty="0" smtClean="0"/>
              <a:t>框架网络模型：输入数据最大支持四维，转维算子（</a:t>
            </a:r>
            <a:r>
              <a:rPr lang="en-US" altLang="zh-CN" sz="1800" dirty="0" smtClean="0"/>
              <a:t>reshape</a:t>
            </a:r>
            <a:r>
              <a:rPr lang="zh-CN" altLang="en-US" sz="1800" dirty="0" smtClean="0"/>
              <a:t>、</a:t>
            </a:r>
            <a:r>
              <a:rPr lang="en-US" altLang="zh-CN" sz="1800" dirty="0" err="1" smtClean="0"/>
              <a:t>expanddim</a:t>
            </a:r>
            <a:r>
              <a:rPr lang="zh-CN" altLang="en-US" sz="1800" dirty="0" smtClean="0"/>
              <a:t>等）不能输出五维；对于</a:t>
            </a:r>
            <a:r>
              <a:rPr lang="en-US" altLang="zh-CN" sz="1800" dirty="0" err="1" smtClean="0"/>
              <a:t>TensorFlow</a:t>
            </a:r>
            <a:r>
              <a:rPr lang="zh-CN" altLang="en-US" sz="1800" dirty="0" smtClean="0"/>
              <a:t>框架网络模型：以算子本身的约束为准。</a:t>
            </a:r>
          </a:p>
          <a:p>
            <a:pPr lvl="1">
              <a:lnSpc>
                <a:spcPct val="150000"/>
              </a:lnSpc>
            </a:pPr>
            <a:r>
              <a:rPr lang="zh-CN" altLang="en-US" sz="1800" dirty="0" smtClean="0"/>
              <a:t>模型中的所有层算子除</a:t>
            </a:r>
            <a:r>
              <a:rPr lang="en-US" altLang="zh-CN" sz="1800" dirty="0" err="1" smtClean="0"/>
              <a:t>const</a:t>
            </a:r>
            <a:r>
              <a:rPr lang="zh-CN" altLang="en-US" sz="1800" dirty="0" smtClean="0"/>
              <a:t>算子外，输入和输出需要满足</a:t>
            </a:r>
            <a:r>
              <a:rPr lang="en-US" altLang="zh-CN" sz="1800" dirty="0" smtClean="0"/>
              <a:t>dim!=0</a:t>
            </a:r>
            <a:r>
              <a:rPr lang="zh-CN" altLang="en-US" sz="1800" dirty="0" smtClean="0"/>
              <a:t>。</a:t>
            </a:r>
          </a:p>
          <a:p>
            <a:pPr lvl="1">
              <a:lnSpc>
                <a:spcPct val="150000"/>
              </a:lnSpc>
            </a:pPr>
            <a:r>
              <a:rPr lang="zh-CN" altLang="en-US" sz="1800" dirty="0" smtClean="0"/>
              <a:t>只支持</a:t>
            </a:r>
            <a:r>
              <a:rPr lang="en-US" altLang="zh-CN" sz="1800" dirty="0" err="1" smtClean="0"/>
              <a:t>Caffe</a:t>
            </a:r>
            <a:r>
              <a:rPr lang="zh-CN" altLang="en-US" sz="1800" dirty="0" smtClean="0"/>
              <a:t>算子规格中的算子，并需满足算子限制条件。</a:t>
            </a:r>
          </a:p>
          <a:p>
            <a:pPr>
              <a:lnSpc>
                <a:spcPct val="150000"/>
              </a:lnSpc>
            </a:pPr>
            <a:endParaRPr lang="zh-CN" altLang="en-US" sz="1100" dirty="0"/>
          </a:p>
        </p:txBody>
      </p:sp>
    </p:spTree>
    <p:extLst>
      <p:ext uri="{BB962C8B-B14F-4D97-AF65-F5344CB8AC3E}">
        <p14:creationId xmlns:p14="http://schemas.microsoft.com/office/powerpoint/2010/main" val="10735779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1"/>
          <p:cNvSpPr txBox="1">
            <a:spLocks/>
          </p:cNvSpPr>
          <p:nvPr/>
        </p:nvSpPr>
        <p:spPr>
          <a:xfrm>
            <a:off x="1633091" y="443850"/>
            <a:ext cx="10739242" cy="993630"/>
          </a:xfrm>
          <a:prstGeom prst="rect">
            <a:avLst/>
          </a:prstGeom>
        </p:spPr>
        <p:txBody>
          <a:bodyPr vert="horz" lIns="100800" tIns="50400" rIns="100800" bIns="50400" rtlCol="0" anchor="t" anchorCtr="0">
            <a:normAutofit/>
          </a:bodyPr>
          <a:lstStyle>
            <a:lvl1pPr defTabSz="914400">
              <a:spcBef>
                <a:spcPct val="0"/>
              </a:spcBef>
              <a:buNone/>
              <a:defRPr sz="3200" b="1" baseline="0">
                <a:latin typeface="+mn-ea"/>
                <a:cs typeface="+mj-cs"/>
              </a:defRPr>
            </a:lvl1pPr>
          </a:lstStyle>
          <a:p>
            <a:r>
              <a:rPr lang="en-US" altLang="zh-CN" dirty="0"/>
              <a:t>ACL</a:t>
            </a:r>
            <a:r>
              <a:rPr lang="zh-CN" altLang="en-US" dirty="0"/>
              <a:t>简介</a:t>
            </a:r>
          </a:p>
        </p:txBody>
      </p:sp>
      <p:pic>
        <p:nvPicPr>
          <p:cNvPr id="4" name="内容占位符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1043" y="1332250"/>
            <a:ext cx="4007803" cy="4690451"/>
          </a:xfrm>
          <a:prstGeom prst="rect">
            <a:avLst/>
          </a:prstGeom>
        </p:spPr>
      </p:pic>
      <p:pic>
        <p:nvPicPr>
          <p:cNvPr id="5" name="内容占位符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9595" y="1332250"/>
            <a:ext cx="4193608" cy="4882629"/>
          </a:xfrm>
          <a:prstGeom prst="rect">
            <a:avLst/>
          </a:prstGeom>
        </p:spPr>
      </p:pic>
    </p:spTree>
    <p:extLst>
      <p:ext uri="{BB962C8B-B14F-4D97-AF65-F5344CB8AC3E}">
        <p14:creationId xmlns:p14="http://schemas.microsoft.com/office/powerpoint/2010/main" val="7772123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a:xfrm>
            <a:off x="725927" y="1513226"/>
            <a:ext cx="10732160" cy="4691545"/>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2800" kern="1200">
                <a:solidFill>
                  <a:srgbClr val="595959"/>
                </a:solidFill>
                <a:latin typeface="微软雅黑" pitchFamily="34" charset="-122"/>
                <a:ea typeface="微软雅黑" pitchFamily="34" charset="-122"/>
                <a:cs typeface="+mn-cs"/>
              </a:defRPr>
            </a:lvl1pPr>
            <a:lvl2pPr marL="742950" indent="-285750" algn="l" defTabSz="914400" rtl="0" eaLnBrk="1" latinLnBrk="0" hangingPunct="1">
              <a:spcBef>
                <a:spcPct val="20000"/>
              </a:spcBef>
              <a:buFont typeface="Arial" panose="020B0604020202090204" pitchFamily="34" charset="0"/>
              <a:buChar char="–"/>
              <a:defRPr sz="2400" kern="1200">
                <a:solidFill>
                  <a:srgbClr val="595959"/>
                </a:solidFill>
                <a:latin typeface="微软雅黑" pitchFamily="34" charset="-122"/>
                <a:ea typeface="微软雅黑" pitchFamily="34" charset="-122"/>
                <a:cs typeface="+mn-cs"/>
              </a:defRPr>
            </a:lvl2pPr>
            <a:lvl3pPr marL="1143000" indent="-228600" algn="l" defTabSz="914400" rtl="0" eaLnBrk="1" latinLnBrk="0" hangingPunct="1">
              <a:spcBef>
                <a:spcPct val="20000"/>
              </a:spcBef>
              <a:buFont typeface="Arial" panose="020B0604020202090204" pitchFamily="34" charset="0"/>
              <a:buChar char="•"/>
              <a:defRPr sz="2000" kern="1200">
                <a:solidFill>
                  <a:srgbClr val="595959"/>
                </a:solidFill>
                <a:latin typeface="微软雅黑" pitchFamily="34" charset="-122"/>
                <a:ea typeface="微软雅黑" pitchFamily="34" charset="-122"/>
                <a:cs typeface="+mn-cs"/>
              </a:defRPr>
            </a:lvl3pPr>
            <a:lvl4pPr marL="1600200" indent="-228600" algn="l" defTabSz="914400" rtl="0" eaLnBrk="1" latinLnBrk="0" hangingPunct="1">
              <a:spcBef>
                <a:spcPct val="20000"/>
              </a:spcBef>
              <a:buFont typeface="Arial" panose="020B0604020202090204" pitchFamily="34" charset="0"/>
              <a:buChar char="–"/>
              <a:defRPr sz="1800" kern="1200">
                <a:solidFill>
                  <a:srgbClr val="595959"/>
                </a:solidFill>
                <a:latin typeface="微软雅黑" pitchFamily="34" charset="-122"/>
                <a:ea typeface="微软雅黑" pitchFamily="34" charset="-122"/>
                <a:cs typeface="+mn-cs"/>
              </a:defRPr>
            </a:lvl4pPr>
            <a:lvl5pPr marL="2057400" indent="-228600" algn="l" defTabSz="914400" rtl="0" eaLnBrk="1" latinLnBrk="0" hangingPunct="1">
              <a:spcBef>
                <a:spcPct val="20000"/>
              </a:spcBef>
              <a:buFont typeface="Arial" panose="020B0604020202090204" pitchFamily="34" charset="0"/>
              <a:buChar char="»"/>
              <a:defRPr sz="1600" kern="1200">
                <a:solidFill>
                  <a:srgbClr val="595959"/>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r>
              <a:rPr lang="en-US" altLang="zh-CN" sz="2400" dirty="0" smtClean="0"/>
              <a:t>Host</a:t>
            </a:r>
            <a:r>
              <a:rPr lang="zh-CN" altLang="en-US" sz="2400" dirty="0" smtClean="0"/>
              <a:t>：</a:t>
            </a:r>
            <a:endParaRPr lang="en-US" altLang="zh-CN" sz="2400" dirty="0" smtClean="0"/>
          </a:p>
          <a:p>
            <a:pPr lvl="1"/>
            <a:r>
              <a:rPr lang="en-US" altLang="zh-CN" sz="2000" dirty="0" smtClean="0"/>
              <a:t>Host</a:t>
            </a:r>
            <a:r>
              <a:rPr lang="zh-CN" altLang="en-US" sz="2000" dirty="0" smtClean="0"/>
              <a:t>指与</a:t>
            </a:r>
            <a:r>
              <a:rPr lang="en-US" altLang="zh-CN" sz="2000" dirty="0" smtClean="0"/>
              <a:t>Device</a:t>
            </a:r>
            <a:r>
              <a:rPr lang="zh-CN" altLang="en-US" sz="2000" dirty="0" smtClean="0"/>
              <a:t>相连接的</a:t>
            </a:r>
            <a:r>
              <a:rPr lang="en-US" altLang="zh-CN" sz="2000" dirty="0" smtClean="0"/>
              <a:t>X86</a:t>
            </a:r>
            <a:r>
              <a:rPr lang="zh-CN" altLang="en-US" sz="2000" dirty="0" smtClean="0"/>
              <a:t>服务器、</a:t>
            </a:r>
            <a:r>
              <a:rPr lang="en-US" altLang="zh-CN" sz="2000" dirty="0" smtClean="0"/>
              <a:t>ARM</a:t>
            </a:r>
            <a:r>
              <a:rPr lang="zh-CN" altLang="en-US" sz="2000" dirty="0" smtClean="0"/>
              <a:t>服务器，会利用</a:t>
            </a:r>
            <a:r>
              <a:rPr lang="en-US" altLang="zh-CN" sz="2000" dirty="0" smtClean="0"/>
              <a:t>Device</a:t>
            </a:r>
            <a:r>
              <a:rPr lang="zh-CN" altLang="en-US" sz="2000" dirty="0" smtClean="0"/>
              <a:t>提供的</a:t>
            </a:r>
            <a:r>
              <a:rPr lang="en-US" altLang="zh-CN" sz="2000" dirty="0" smtClean="0"/>
              <a:t>NN</a:t>
            </a:r>
            <a:r>
              <a:rPr lang="zh-CN" altLang="en-US" sz="2000" dirty="0" smtClean="0"/>
              <a:t>（</a:t>
            </a:r>
            <a:r>
              <a:rPr lang="en-US" altLang="zh-CN" sz="2000" dirty="0" smtClean="0"/>
              <a:t>Neural-Network </a:t>
            </a:r>
            <a:r>
              <a:rPr lang="zh-CN" altLang="en-US" sz="2000" dirty="0" smtClean="0"/>
              <a:t>）计算能力，完成业务。</a:t>
            </a:r>
            <a:endParaRPr lang="en-US" altLang="zh-CN" sz="2000" dirty="0" smtClean="0"/>
          </a:p>
          <a:p>
            <a:r>
              <a:rPr lang="en-US" altLang="zh-CN" sz="2400" dirty="0" smtClean="0"/>
              <a:t>Device</a:t>
            </a:r>
          </a:p>
          <a:p>
            <a:pPr lvl="1"/>
            <a:r>
              <a:rPr lang="en-US" altLang="zh-CN" sz="2000" dirty="0" smtClean="0"/>
              <a:t>Device</a:t>
            </a:r>
            <a:r>
              <a:rPr lang="zh-CN" altLang="en-US" sz="2000" dirty="0" smtClean="0"/>
              <a:t>指安装了芯片的硬件设备，利用</a:t>
            </a:r>
            <a:r>
              <a:rPr lang="en-US" altLang="zh-CN" sz="2000" dirty="0" err="1" smtClean="0"/>
              <a:t>PCIe</a:t>
            </a:r>
            <a:r>
              <a:rPr lang="zh-CN" altLang="en-US" sz="2000" dirty="0" smtClean="0"/>
              <a:t>接口与</a:t>
            </a:r>
            <a:r>
              <a:rPr lang="en-US" altLang="zh-CN" sz="2000" dirty="0" smtClean="0"/>
              <a:t>Host</a:t>
            </a:r>
            <a:r>
              <a:rPr lang="zh-CN" altLang="en-US" sz="2000" dirty="0" smtClean="0"/>
              <a:t>侧连接，为</a:t>
            </a:r>
            <a:r>
              <a:rPr lang="en-US" altLang="zh-CN" sz="2000" dirty="0" smtClean="0"/>
              <a:t>Host</a:t>
            </a:r>
            <a:r>
              <a:rPr lang="zh-CN" altLang="en-US" sz="2000" dirty="0" smtClean="0"/>
              <a:t>提供</a:t>
            </a:r>
            <a:r>
              <a:rPr lang="en-US" altLang="zh-CN" sz="2000" dirty="0" smtClean="0"/>
              <a:t>NN</a:t>
            </a:r>
            <a:r>
              <a:rPr lang="zh-CN" altLang="en-US" sz="2000" dirty="0" smtClean="0"/>
              <a:t>计算能力。</a:t>
            </a:r>
            <a:endParaRPr lang="en-US" altLang="zh-CN" sz="2000" dirty="0" smtClean="0"/>
          </a:p>
          <a:p>
            <a:r>
              <a:rPr lang="zh-CN" altLang="en-US" sz="2400" dirty="0" smtClean="0"/>
              <a:t>同步</a:t>
            </a:r>
            <a:r>
              <a:rPr lang="en-US" altLang="zh-CN" sz="2400" dirty="0" smtClean="0"/>
              <a:t>/</a:t>
            </a:r>
            <a:r>
              <a:rPr lang="zh-CN" altLang="en-US" sz="2400" dirty="0" smtClean="0"/>
              <a:t>异步</a:t>
            </a:r>
            <a:endParaRPr lang="en-US" altLang="zh-CN" sz="2400" dirty="0" smtClean="0"/>
          </a:p>
          <a:p>
            <a:pPr lvl="1"/>
            <a:r>
              <a:rPr lang="zh-CN" altLang="en-US" sz="2000" dirty="0" smtClean="0"/>
              <a:t>同步、异步是站在调用者和执行者的角度来观察的，在当前场景下，若在</a:t>
            </a:r>
            <a:r>
              <a:rPr lang="en-US" altLang="zh-CN" sz="2000" dirty="0" smtClean="0"/>
              <a:t>Host</a:t>
            </a:r>
            <a:r>
              <a:rPr lang="zh-CN" altLang="en-US" sz="2000" dirty="0" smtClean="0"/>
              <a:t>调用接口后不等待</a:t>
            </a:r>
            <a:r>
              <a:rPr lang="en-US" altLang="zh-CN" sz="2000" dirty="0" smtClean="0"/>
              <a:t>Device</a:t>
            </a:r>
            <a:r>
              <a:rPr lang="zh-CN" altLang="en-US" sz="2000" dirty="0" smtClean="0"/>
              <a:t>执行完成再返回，则表示</a:t>
            </a:r>
            <a:r>
              <a:rPr lang="en-US" altLang="zh-CN" sz="2000" dirty="0" smtClean="0"/>
              <a:t>Host</a:t>
            </a:r>
            <a:r>
              <a:rPr lang="zh-CN" altLang="en-US" sz="2000" dirty="0" smtClean="0"/>
              <a:t>的调度是异步的；若在</a:t>
            </a:r>
            <a:r>
              <a:rPr lang="en-US" altLang="zh-CN" sz="2000" dirty="0" smtClean="0"/>
              <a:t>Host</a:t>
            </a:r>
            <a:r>
              <a:rPr lang="zh-CN" altLang="en-US" sz="2000" dirty="0" smtClean="0"/>
              <a:t>调用接口后需等待</a:t>
            </a:r>
            <a:r>
              <a:rPr lang="en-US" altLang="zh-CN" sz="2000" dirty="0" smtClean="0"/>
              <a:t>Device</a:t>
            </a:r>
            <a:r>
              <a:rPr lang="zh-CN" altLang="en-US" sz="2000" dirty="0" smtClean="0"/>
              <a:t>执行完成再返回，则表示</a:t>
            </a:r>
            <a:r>
              <a:rPr lang="en-US" altLang="zh-CN" sz="2000" dirty="0" smtClean="0"/>
              <a:t>Host</a:t>
            </a:r>
            <a:r>
              <a:rPr lang="zh-CN" altLang="en-US" sz="2000" dirty="0" smtClean="0"/>
              <a:t>的调度是同步的。</a:t>
            </a:r>
            <a:endParaRPr lang="en-US" altLang="zh-CN" sz="2000" dirty="0" smtClean="0"/>
          </a:p>
        </p:txBody>
      </p:sp>
      <p:sp>
        <p:nvSpPr>
          <p:cNvPr id="4" name="副标题 1"/>
          <p:cNvSpPr txBox="1">
            <a:spLocks/>
          </p:cNvSpPr>
          <p:nvPr/>
        </p:nvSpPr>
        <p:spPr>
          <a:xfrm>
            <a:off x="1615629" y="494265"/>
            <a:ext cx="10739242" cy="993630"/>
          </a:xfrm>
          <a:prstGeom prst="rect">
            <a:avLst/>
          </a:prstGeom>
        </p:spPr>
        <p:txBody>
          <a:bodyPr vert="horz" lIns="100800" tIns="50400" rIns="100800" bIns="50400" rtlCol="0" anchor="t" anchorCtr="0">
            <a:normAutofit/>
          </a:bodyPr>
          <a:lstStyle>
            <a:lvl1pPr defTabSz="914400">
              <a:spcBef>
                <a:spcPct val="0"/>
              </a:spcBef>
              <a:buNone/>
              <a:defRPr sz="3200" b="1" baseline="0">
                <a:latin typeface="+mn-ea"/>
                <a:cs typeface="+mj-cs"/>
              </a:defRPr>
            </a:lvl1pPr>
          </a:lstStyle>
          <a:p>
            <a:r>
              <a:rPr lang="en-US" altLang="zh-CN" dirty="0"/>
              <a:t>ACL</a:t>
            </a:r>
            <a:r>
              <a:rPr lang="zh-CN" altLang="en-US" dirty="0"/>
              <a:t>基本概念（</a:t>
            </a:r>
            <a:r>
              <a:rPr lang="en-US" altLang="zh-CN" dirty="0"/>
              <a:t>1</a:t>
            </a:r>
            <a:r>
              <a:rPr lang="zh-CN" altLang="en-US" dirty="0"/>
              <a:t>）</a:t>
            </a:r>
          </a:p>
        </p:txBody>
      </p:sp>
    </p:spTree>
    <p:extLst>
      <p:ext uri="{BB962C8B-B14F-4D97-AF65-F5344CB8AC3E}">
        <p14:creationId xmlns:p14="http://schemas.microsoft.com/office/powerpoint/2010/main" val="2774679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1"/>
          <p:cNvSpPr txBox="1">
            <a:spLocks/>
          </p:cNvSpPr>
          <p:nvPr/>
        </p:nvSpPr>
        <p:spPr>
          <a:xfrm>
            <a:off x="1615629" y="494265"/>
            <a:ext cx="10739242" cy="993630"/>
          </a:xfrm>
          <a:prstGeom prst="rect">
            <a:avLst/>
          </a:prstGeom>
        </p:spPr>
        <p:txBody>
          <a:bodyPr vert="horz" lIns="100800" tIns="50400" rIns="100800" bIns="50400" rtlCol="0" anchor="t" anchorCtr="0">
            <a:normAutofit/>
          </a:bodyPr>
          <a:lstStyle>
            <a:lvl1pPr defTabSz="914400">
              <a:spcBef>
                <a:spcPct val="0"/>
              </a:spcBef>
              <a:buNone/>
              <a:defRPr sz="3200" b="1" baseline="0">
                <a:latin typeface="+mn-ea"/>
                <a:cs typeface="+mj-cs"/>
              </a:defRPr>
            </a:lvl1pPr>
          </a:lstStyle>
          <a:p>
            <a:r>
              <a:rPr lang="en-US" altLang="zh-CN" dirty="0"/>
              <a:t>ACL</a:t>
            </a:r>
            <a:r>
              <a:rPr lang="zh-CN" altLang="en-US" dirty="0"/>
              <a:t>基本概念</a:t>
            </a:r>
            <a:r>
              <a:rPr lang="zh-CN" altLang="en-US" dirty="0" smtClean="0"/>
              <a:t>（</a:t>
            </a:r>
            <a:r>
              <a:rPr lang="en-US" altLang="zh-CN" dirty="0" smtClean="0"/>
              <a:t>2</a:t>
            </a:r>
            <a:r>
              <a:rPr lang="zh-CN" altLang="en-US" dirty="0" smtClean="0"/>
              <a:t>）</a:t>
            </a:r>
            <a:endParaRPr lang="zh-CN" altLang="en-US" dirty="0"/>
          </a:p>
        </p:txBody>
      </p:sp>
      <p:sp>
        <p:nvSpPr>
          <p:cNvPr id="4" name="内容占位符 2"/>
          <p:cNvSpPr txBox="1">
            <a:spLocks/>
          </p:cNvSpPr>
          <p:nvPr/>
        </p:nvSpPr>
        <p:spPr>
          <a:xfrm>
            <a:off x="743870" y="1270378"/>
            <a:ext cx="10732160" cy="5264401"/>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2800" kern="1200">
                <a:solidFill>
                  <a:srgbClr val="595959"/>
                </a:solidFill>
                <a:latin typeface="微软雅黑" pitchFamily="34" charset="-122"/>
                <a:ea typeface="微软雅黑" pitchFamily="34" charset="-122"/>
                <a:cs typeface="+mn-cs"/>
              </a:defRPr>
            </a:lvl1pPr>
            <a:lvl2pPr marL="742950" indent="-285750" algn="l" defTabSz="914400" rtl="0" eaLnBrk="1" latinLnBrk="0" hangingPunct="1">
              <a:spcBef>
                <a:spcPct val="20000"/>
              </a:spcBef>
              <a:buFont typeface="Arial" panose="020B0604020202090204" pitchFamily="34" charset="0"/>
              <a:buChar char="–"/>
              <a:defRPr sz="2400" kern="1200">
                <a:solidFill>
                  <a:srgbClr val="595959"/>
                </a:solidFill>
                <a:latin typeface="微软雅黑" pitchFamily="34" charset="-122"/>
                <a:ea typeface="微软雅黑" pitchFamily="34" charset="-122"/>
                <a:cs typeface="+mn-cs"/>
              </a:defRPr>
            </a:lvl2pPr>
            <a:lvl3pPr marL="1143000" indent="-228600" algn="l" defTabSz="914400" rtl="0" eaLnBrk="1" latinLnBrk="0" hangingPunct="1">
              <a:spcBef>
                <a:spcPct val="20000"/>
              </a:spcBef>
              <a:buFont typeface="Arial" panose="020B0604020202090204" pitchFamily="34" charset="0"/>
              <a:buChar char="•"/>
              <a:defRPr sz="2000" kern="1200">
                <a:solidFill>
                  <a:srgbClr val="595959"/>
                </a:solidFill>
                <a:latin typeface="微软雅黑" pitchFamily="34" charset="-122"/>
                <a:ea typeface="微软雅黑" pitchFamily="34" charset="-122"/>
                <a:cs typeface="+mn-cs"/>
              </a:defRPr>
            </a:lvl3pPr>
            <a:lvl4pPr marL="1600200" indent="-228600" algn="l" defTabSz="914400" rtl="0" eaLnBrk="1" latinLnBrk="0" hangingPunct="1">
              <a:spcBef>
                <a:spcPct val="20000"/>
              </a:spcBef>
              <a:buFont typeface="Arial" panose="020B0604020202090204" pitchFamily="34" charset="0"/>
              <a:buChar char="–"/>
              <a:defRPr sz="1800" kern="1200">
                <a:solidFill>
                  <a:srgbClr val="595959"/>
                </a:solidFill>
                <a:latin typeface="微软雅黑" pitchFamily="34" charset="-122"/>
                <a:ea typeface="微软雅黑" pitchFamily="34" charset="-122"/>
                <a:cs typeface="+mn-cs"/>
              </a:defRPr>
            </a:lvl4pPr>
            <a:lvl5pPr marL="2057400" indent="-228600" algn="l" defTabSz="914400" rtl="0" eaLnBrk="1" latinLnBrk="0" hangingPunct="1">
              <a:spcBef>
                <a:spcPct val="20000"/>
              </a:spcBef>
              <a:buFont typeface="Arial" panose="020B0604020202090204" pitchFamily="34" charset="0"/>
              <a:buChar char="»"/>
              <a:defRPr sz="1600" kern="1200">
                <a:solidFill>
                  <a:srgbClr val="595959"/>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r>
              <a:rPr lang="en-US" altLang="zh-CN" sz="1800" smtClean="0"/>
              <a:t>Context</a:t>
            </a:r>
            <a:r>
              <a:rPr lang="zh-CN" altLang="en-US" sz="1800" smtClean="0"/>
              <a:t>：</a:t>
            </a:r>
            <a:endParaRPr lang="en-US" altLang="zh-CN" sz="1800" smtClean="0"/>
          </a:p>
          <a:p>
            <a:pPr lvl="1"/>
            <a:r>
              <a:rPr lang="en-US" altLang="zh-CN" sz="1600" smtClean="0"/>
              <a:t>Context</a:t>
            </a:r>
            <a:r>
              <a:rPr lang="zh-CN" altLang="en-US" sz="1600" smtClean="0"/>
              <a:t>作为一个容器，管理了所有对象（包括</a:t>
            </a:r>
            <a:r>
              <a:rPr lang="en-US" altLang="zh-CN" sz="1600" smtClean="0"/>
              <a:t>Stream</a:t>
            </a:r>
            <a:r>
              <a:rPr lang="zh-CN" altLang="en-US" sz="1600" smtClean="0"/>
              <a:t>、</a:t>
            </a:r>
            <a:r>
              <a:rPr lang="en-US" altLang="zh-CN" sz="1600" smtClean="0"/>
              <a:t>Event</a:t>
            </a:r>
            <a:r>
              <a:rPr lang="zh-CN" altLang="en-US" sz="1600" smtClean="0"/>
              <a:t>、设备内存等）的生命周期。不同</a:t>
            </a:r>
            <a:r>
              <a:rPr lang="en-US" altLang="zh-CN" sz="1600" smtClean="0"/>
              <a:t>Context</a:t>
            </a:r>
            <a:r>
              <a:rPr lang="zh-CN" altLang="en-US" sz="1600" smtClean="0"/>
              <a:t>的</a:t>
            </a:r>
            <a:r>
              <a:rPr lang="en-US" altLang="zh-CN" sz="1600" smtClean="0"/>
              <a:t>Stream</a:t>
            </a:r>
            <a:r>
              <a:rPr lang="zh-CN" altLang="en-US" sz="1600" smtClean="0"/>
              <a:t>、不同</a:t>
            </a:r>
            <a:r>
              <a:rPr lang="en-US" altLang="zh-CN" sz="1600" smtClean="0"/>
              <a:t>Context</a:t>
            </a:r>
            <a:r>
              <a:rPr lang="zh-CN" altLang="en-US" sz="1600" smtClean="0"/>
              <a:t>的</a:t>
            </a:r>
            <a:r>
              <a:rPr lang="en-US" altLang="zh-CN" sz="1600" smtClean="0"/>
              <a:t>Event</a:t>
            </a:r>
            <a:r>
              <a:rPr lang="zh-CN" altLang="en-US" sz="1600" smtClean="0"/>
              <a:t>是完全隔离的，无法建立同步等待关系。</a:t>
            </a:r>
          </a:p>
          <a:p>
            <a:pPr lvl="1"/>
            <a:r>
              <a:rPr lang="en-US" altLang="zh-CN" sz="1600" smtClean="0"/>
              <a:t>Context</a:t>
            </a:r>
            <a:r>
              <a:rPr lang="zh-CN" altLang="en-US" sz="1600" smtClean="0"/>
              <a:t>分为两种：</a:t>
            </a:r>
          </a:p>
          <a:p>
            <a:pPr lvl="2"/>
            <a:r>
              <a:rPr lang="zh-CN" altLang="en-US" sz="1400" smtClean="0"/>
              <a:t>默认</a:t>
            </a:r>
            <a:r>
              <a:rPr lang="en-US" altLang="zh-CN" sz="1400" smtClean="0"/>
              <a:t>Context</a:t>
            </a:r>
            <a:r>
              <a:rPr lang="zh-CN" altLang="en-US" sz="1400" smtClean="0"/>
              <a:t>：调用</a:t>
            </a:r>
            <a:r>
              <a:rPr lang="en-US" altLang="zh-CN" sz="1400" smtClean="0"/>
              <a:t>aclrtSetDevice</a:t>
            </a:r>
            <a:r>
              <a:rPr lang="zh-CN" altLang="en-US" sz="1400" smtClean="0"/>
              <a:t>接口指定用于运算的</a:t>
            </a:r>
            <a:r>
              <a:rPr lang="en-US" altLang="zh-CN" sz="1400" smtClean="0"/>
              <a:t>Device</a:t>
            </a:r>
            <a:r>
              <a:rPr lang="zh-CN" altLang="en-US" sz="1400" smtClean="0"/>
              <a:t>时，系统会自动隐式创建一个默认</a:t>
            </a:r>
            <a:r>
              <a:rPr lang="en-US" altLang="zh-CN" sz="1400" smtClean="0"/>
              <a:t>Context</a:t>
            </a:r>
            <a:r>
              <a:rPr lang="zh-CN" altLang="en-US" sz="1400" smtClean="0"/>
              <a:t>，一个</a:t>
            </a:r>
            <a:r>
              <a:rPr lang="en-US" altLang="zh-CN" sz="1400" smtClean="0"/>
              <a:t>Device</a:t>
            </a:r>
            <a:r>
              <a:rPr lang="zh-CN" altLang="en-US" sz="1400" smtClean="0"/>
              <a:t>对应一个默认</a:t>
            </a:r>
            <a:r>
              <a:rPr lang="en-US" altLang="zh-CN" sz="1400" smtClean="0"/>
              <a:t>Context</a:t>
            </a:r>
            <a:r>
              <a:rPr lang="zh-CN" altLang="en-US" sz="1400" smtClean="0"/>
              <a:t>，默认</a:t>
            </a:r>
            <a:r>
              <a:rPr lang="en-US" altLang="zh-CN" sz="1400" smtClean="0"/>
              <a:t>Context</a:t>
            </a:r>
            <a:r>
              <a:rPr lang="zh-CN" altLang="en-US" sz="1400" smtClean="0"/>
              <a:t>不能通过</a:t>
            </a:r>
            <a:r>
              <a:rPr lang="en-US" altLang="zh-CN" sz="1400" smtClean="0"/>
              <a:t>aclrtDestroyContext</a:t>
            </a:r>
            <a:r>
              <a:rPr lang="zh-CN" altLang="en-US" sz="1400" smtClean="0"/>
              <a:t>接口来释放。</a:t>
            </a:r>
          </a:p>
          <a:p>
            <a:pPr lvl="2"/>
            <a:r>
              <a:rPr lang="zh-CN" altLang="en-US" sz="1400" smtClean="0"/>
              <a:t>显式创建的</a:t>
            </a:r>
            <a:r>
              <a:rPr lang="en-US" altLang="zh-CN" sz="1400" smtClean="0"/>
              <a:t>Context</a:t>
            </a:r>
            <a:r>
              <a:rPr lang="zh-CN" altLang="en-US" sz="1400" smtClean="0"/>
              <a:t>：在进程或线程中调用</a:t>
            </a:r>
            <a:r>
              <a:rPr lang="en-US" altLang="zh-CN" sz="1400" smtClean="0"/>
              <a:t>aclrtCreateContext</a:t>
            </a:r>
            <a:r>
              <a:rPr lang="zh-CN" altLang="en-US" sz="1400" smtClean="0"/>
              <a:t>接口显式创建一个</a:t>
            </a:r>
            <a:r>
              <a:rPr lang="en-US" altLang="zh-CN" sz="1400" smtClean="0"/>
              <a:t>Context</a:t>
            </a:r>
            <a:r>
              <a:rPr lang="zh-CN" altLang="en-US" sz="1400" smtClean="0"/>
              <a:t>。</a:t>
            </a:r>
            <a:endParaRPr lang="en-US" altLang="zh-CN" sz="1400" smtClean="0"/>
          </a:p>
          <a:p>
            <a:r>
              <a:rPr lang="en-US" altLang="zh-CN" sz="1800" smtClean="0"/>
              <a:t>Stream</a:t>
            </a:r>
            <a:r>
              <a:rPr lang="zh-CN" altLang="en-US" sz="1800" smtClean="0"/>
              <a:t>：</a:t>
            </a:r>
            <a:endParaRPr lang="en-US" altLang="zh-CN" sz="1800" smtClean="0"/>
          </a:p>
          <a:p>
            <a:pPr lvl="1"/>
            <a:r>
              <a:rPr lang="en-US" altLang="zh-CN" sz="1600" smtClean="0"/>
              <a:t>Stream</a:t>
            </a:r>
            <a:r>
              <a:rPr lang="zh-CN" altLang="en-US" sz="1600" smtClean="0"/>
              <a:t>用于维护一些异步操作的执行顺序，确保按照应用程序中的代码调用顺序在</a:t>
            </a:r>
            <a:r>
              <a:rPr lang="en-US" altLang="zh-CN" sz="1600" smtClean="0"/>
              <a:t>Device</a:t>
            </a:r>
            <a:r>
              <a:rPr lang="zh-CN" altLang="en-US" sz="1600" smtClean="0"/>
              <a:t>上执行。基于</a:t>
            </a:r>
            <a:r>
              <a:rPr lang="en-US" altLang="zh-CN" sz="1600" smtClean="0"/>
              <a:t>Stream</a:t>
            </a:r>
            <a:r>
              <a:rPr lang="zh-CN" altLang="en-US" sz="1600" smtClean="0"/>
              <a:t>的</a:t>
            </a:r>
            <a:r>
              <a:rPr lang="en-US" altLang="zh-CN" sz="1600" smtClean="0"/>
              <a:t>kernel</a:t>
            </a:r>
            <a:r>
              <a:rPr lang="zh-CN" altLang="en-US" sz="1600" smtClean="0"/>
              <a:t>执行和数据传输能够实现以下几种类型的并行：</a:t>
            </a:r>
          </a:p>
          <a:p>
            <a:pPr lvl="2"/>
            <a:r>
              <a:rPr lang="en-US" altLang="zh-CN" sz="1400" smtClean="0"/>
              <a:t>Host</a:t>
            </a:r>
            <a:r>
              <a:rPr lang="zh-CN" altLang="en-US" sz="1400" smtClean="0"/>
              <a:t>运算操作和</a:t>
            </a:r>
            <a:r>
              <a:rPr lang="en-US" altLang="zh-CN" sz="1400" smtClean="0"/>
              <a:t>Device</a:t>
            </a:r>
            <a:r>
              <a:rPr lang="zh-CN" altLang="en-US" sz="1400" smtClean="0"/>
              <a:t>运算操作并行；</a:t>
            </a:r>
          </a:p>
          <a:p>
            <a:pPr lvl="2"/>
            <a:r>
              <a:rPr lang="en-US" altLang="zh-CN" sz="1400" smtClean="0"/>
              <a:t>Host</a:t>
            </a:r>
            <a:r>
              <a:rPr lang="zh-CN" altLang="en-US" sz="1400" smtClean="0"/>
              <a:t>运算操作和“</a:t>
            </a:r>
            <a:r>
              <a:rPr lang="en-US" altLang="zh-CN" sz="1400" smtClean="0"/>
              <a:t>Host</a:t>
            </a:r>
            <a:r>
              <a:rPr lang="zh-CN" altLang="en-US" sz="1400" smtClean="0"/>
              <a:t>到</a:t>
            </a:r>
            <a:r>
              <a:rPr lang="en-US" altLang="zh-CN" sz="1400" smtClean="0"/>
              <a:t>Device</a:t>
            </a:r>
            <a:r>
              <a:rPr lang="zh-CN" altLang="en-US" sz="1400" smtClean="0"/>
              <a:t>的数据传输”并行；</a:t>
            </a:r>
          </a:p>
          <a:p>
            <a:pPr lvl="2"/>
            <a:r>
              <a:rPr lang="en-US" altLang="zh-CN" sz="1400" smtClean="0"/>
              <a:t>“Host</a:t>
            </a:r>
            <a:r>
              <a:rPr lang="zh-CN" altLang="en-US" sz="1400" smtClean="0"/>
              <a:t>到</a:t>
            </a:r>
            <a:r>
              <a:rPr lang="en-US" altLang="zh-CN" sz="1400" smtClean="0"/>
              <a:t>Device</a:t>
            </a:r>
            <a:r>
              <a:rPr lang="zh-CN" altLang="en-US" sz="1400" smtClean="0"/>
              <a:t>的数据传输”和</a:t>
            </a:r>
            <a:r>
              <a:rPr lang="en-US" altLang="zh-CN" sz="1400" smtClean="0"/>
              <a:t>Device</a:t>
            </a:r>
            <a:r>
              <a:rPr lang="zh-CN" altLang="en-US" sz="1400" smtClean="0"/>
              <a:t>运算操作并行；</a:t>
            </a:r>
          </a:p>
          <a:p>
            <a:pPr lvl="2"/>
            <a:r>
              <a:rPr lang="en-US" altLang="zh-CN" sz="1400" smtClean="0"/>
              <a:t>Device</a:t>
            </a:r>
            <a:r>
              <a:rPr lang="zh-CN" altLang="en-US" sz="1400" smtClean="0"/>
              <a:t>内的运算并行。</a:t>
            </a:r>
          </a:p>
          <a:p>
            <a:pPr lvl="1"/>
            <a:r>
              <a:rPr lang="en-US" altLang="zh-CN" sz="1600" smtClean="0"/>
              <a:t>Stream</a:t>
            </a:r>
            <a:r>
              <a:rPr lang="zh-CN" altLang="en-US" sz="1600" smtClean="0"/>
              <a:t>分两种：</a:t>
            </a:r>
          </a:p>
          <a:p>
            <a:pPr lvl="2"/>
            <a:r>
              <a:rPr lang="zh-CN" altLang="en-US" sz="1400" smtClean="0"/>
              <a:t>默认</a:t>
            </a:r>
            <a:r>
              <a:rPr lang="en-US" altLang="zh-CN" sz="1400" smtClean="0"/>
              <a:t>Stream</a:t>
            </a:r>
            <a:r>
              <a:rPr lang="zh-CN" altLang="en-US" sz="1400" smtClean="0"/>
              <a:t>：调用</a:t>
            </a:r>
            <a:r>
              <a:rPr lang="en-US" altLang="zh-CN" sz="1400" smtClean="0"/>
              <a:t>aclrtSetDevice</a:t>
            </a:r>
            <a:r>
              <a:rPr lang="zh-CN" altLang="en-US" sz="1400" smtClean="0"/>
              <a:t>接口指定用于运算的</a:t>
            </a:r>
            <a:r>
              <a:rPr lang="en-US" altLang="zh-CN" sz="1400" smtClean="0"/>
              <a:t>Device</a:t>
            </a:r>
            <a:r>
              <a:rPr lang="zh-CN" altLang="en-US" sz="1400" smtClean="0"/>
              <a:t>时，系统会自动隐式创建一个默认</a:t>
            </a:r>
            <a:r>
              <a:rPr lang="en-US" altLang="zh-CN" sz="1400" smtClean="0"/>
              <a:t>Stream</a:t>
            </a:r>
            <a:r>
              <a:rPr lang="zh-CN" altLang="en-US" sz="1400" smtClean="0"/>
              <a:t>，一个</a:t>
            </a:r>
            <a:r>
              <a:rPr lang="en-US" altLang="zh-CN" sz="1400" smtClean="0"/>
              <a:t>Device</a:t>
            </a:r>
            <a:r>
              <a:rPr lang="zh-CN" altLang="en-US" sz="1400" smtClean="0"/>
              <a:t>对应一个默认</a:t>
            </a:r>
            <a:r>
              <a:rPr lang="en-US" altLang="zh-CN" sz="1400" smtClean="0"/>
              <a:t>Stream</a:t>
            </a:r>
            <a:r>
              <a:rPr lang="zh-CN" altLang="en-US" sz="1400" smtClean="0"/>
              <a:t>，默认</a:t>
            </a:r>
            <a:r>
              <a:rPr lang="en-US" altLang="zh-CN" sz="1400" smtClean="0"/>
              <a:t>Stream</a:t>
            </a:r>
            <a:r>
              <a:rPr lang="zh-CN" altLang="en-US" sz="1400" smtClean="0"/>
              <a:t>不能通过</a:t>
            </a:r>
            <a:r>
              <a:rPr lang="en-US" altLang="zh-CN" sz="1400" smtClean="0"/>
              <a:t>aclrtDestroyStream</a:t>
            </a:r>
            <a:r>
              <a:rPr lang="zh-CN" altLang="en-US" sz="1400" smtClean="0"/>
              <a:t>接口来释放。</a:t>
            </a:r>
          </a:p>
          <a:p>
            <a:pPr lvl="2"/>
            <a:r>
              <a:rPr lang="zh-CN" altLang="en-US" sz="1400" smtClean="0"/>
              <a:t>显式创建的</a:t>
            </a:r>
            <a:r>
              <a:rPr lang="en-US" altLang="zh-CN" sz="1400" smtClean="0"/>
              <a:t>Stream</a:t>
            </a:r>
            <a:r>
              <a:rPr lang="zh-CN" altLang="en-US" sz="1400" smtClean="0"/>
              <a:t>：在进程或线程中调用</a:t>
            </a:r>
            <a:r>
              <a:rPr lang="en-US" altLang="zh-CN" sz="1400" smtClean="0"/>
              <a:t>aclrtCreateStream</a:t>
            </a:r>
            <a:r>
              <a:rPr lang="zh-CN" altLang="en-US" sz="1400" smtClean="0"/>
              <a:t>接口显式创建一个</a:t>
            </a:r>
            <a:r>
              <a:rPr lang="en-US" altLang="zh-CN" sz="1400" smtClean="0"/>
              <a:t>Stream</a:t>
            </a:r>
            <a:r>
              <a:rPr lang="zh-CN" altLang="en-US" sz="1400" smtClean="0"/>
              <a:t>。</a:t>
            </a:r>
          </a:p>
          <a:p>
            <a:pPr lvl="1"/>
            <a:endParaRPr lang="zh-CN" altLang="en-US" sz="1600" dirty="0"/>
          </a:p>
        </p:txBody>
      </p:sp>
    </p:spTree>
    <p:extLst>
      <p:ext uri="{BB962C8B-B14F-4D97-AF65-F5344CB8AC3E}">
        <p14:creationId xmlns:p14="http://schemas.microsoft.com/office/powerpoint/2010/main" val="3498579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a:xfrm>
            <a:off x="726730" y="1341562"/>
            <a:ext cx="10732160" cy="5264401"/>
          </a:xfrm>
          <a:prstGeom prst="rect">
            <a:avLst/>
          </a:prstGeom>
        </p:spPr>
        <p:txBody>
          <a:bodyPr/>
          <a:lstStyle>
            <a:lvl1pPr marL="342900" indent="-342900" algn="l" defTabSz="914400" rtl="0" eaLnBrk="1" latinLnBrk="0" hangingPunct="1">
              <a:spcBef>
                <a:spcPct val="20000"/>
              </a:spcBef>
              <a:buFont typeface="Arial" panose="020B0604020202090204" pitchFamily="34" charset="0"/>
              <a:buChar char="•"/>
              <a:defRPr sz="2800" kern="1200">
                <a:solidFill>
                  <a:srgbClr val="595959"/>
                </a:solidFill>
                <a:latin typeface="微软雅黑" pitchFamily="34" charset="-122"/>
                <a:ea typeface="微软雅黑" pitchFamily="34" charset="-122"/>
                <a:cs typeface="+mn-cs"/>
              </a:defRPr>
            </a:lvl1pPr>
            <a:lvl2pPr marL="742950" indent="-285750" algn="l" defTabSz="914400" rtl="0" eaLnBrk="1" latinLnBrk="0" hangingPunct="1">
              <a:spcBef>
                <a:spcPct val="20000"/>
              </a:spcBef>
              <a:buFont typeface="Arial" panose="020B0604020202090204" pitchFamily="34" charset="0"/>
              <a:buChar char="–"/>
              <a:defRPr sz="2400" kern="1200">
                <a:solidFill>
                  <a:srgbClr val="595959"/>
                </a:solidFill>
                <a:latin typeface="微软雅黑" pitchFamily="34" charset="-122"/>
                <a:ea typeface="微软雅黑" pitchFamily="34" charset="-122"/>
                <a:cs typeface="+mn-cs"/>
              </a:defRPr>
            </a:lvl2pPr>
            <a:lvl3pPr marL="1143000" indent="-228600" algn="l" defTabSz="914400" rtl="0" eaLnBrk="1" latinLnBrk="0" hangingPunct="1">
              <a:spcBef>
                <a:spcPct val="20000"/>
              </a:spcBef>
              <a:buFont typeface="Arial" panose="020B0604020202090204" pitchFamily="34" charset="0"/>
              <a:buChar char="•"/>
              <a:defRPr sz="2000" kern="1200">
                <a:solidFill>
                  <a:srgbClr val="595959"/>
                </a:solidFill>
                <a:latin typeface="微软雅黑" pitchFamily="34" charset="-122"/>
                <a:ea typeface="微软雅黑" pitchFamily="34" charset="-122"/>
                <a:cs typeface="+mn-cs"/>
              </a:defRPr>
            </a:lvl3pPr>
            <a:lvl4pPr marL="1600200" indent="-228600" algn="l" defTabSz="914400" rtl="0" eaLnBrk="1" latinLnBrk="0" hangingPunct="1">
              <a:spcBef>
                <a:spcPct val="20000"/>
              </a:spcBef>
              <a:buFont typeface="Arial" panose="020B0604020202090204" pitchFamily="34" charset="0"/>
              <a:buChar char="–"/>
              <a:defRPr sz="1800" kern="1200">
                <a:solidFill>
                  <a:srgbClr val="595959"/>
                </a:solidFill>
                <a:latin typeface="微软雅黑" pitchFamily="34" charset="-122"/>
                <a:ea typeface="微软雅黑" pitchFamily="34" charset="-122"/>
                <a:cs typeface="+mn-cs"/>
              </a:defRPr>
            </a:lvl4pPr>
            <a:lvl5pPr marL="2057400" indent="-228600" algn="l" defTabSz="914400" rtl="0" eaLnBrk="1" latinLnBrk="0" hangingPunct="1">
              <a:spcBef>
                <a:spcPct val="20000"/>
              </a:spcBef>
              <a:buFont typeface="Arial" panose="020B0604020202090204" pitchFamily="34" charset="0"/>
              <a:buChar char="»"/>
              <a:defRPr sz="1600" kern="1200">
                <a:solidFill>
                  <a:srgbClr val="595959"/>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r>
              <a:rPr lang="en-US" altLang="zh-CN" sz="1800" dirty="0" smtClean="0"/>
              <a:t>Event</a:t>
            </a:r>
            <a:r>
              <a:rPr lang="zh-CN" altLang="en-US" sz="1800" dirty="0" smtClean="0"/>
              <a:t>：</a:t>
            </a:r>
            <a:endParaRPr lang="en-US" altLang="zh-CN" sz="1800" dirty="0" smtClean="0"/>
          </a:p>
          <a:p>
            <a:pPr lvl="1"/>
            <a:r>
              <a:rPr lang="zh-CN" altLang="en-US" sz="1600" dirty="0" smtClean="0"/>
              <a:t>支持调用</a:t>
            </a:r>
            <a:r>
              <a:rPr lang="en-US" altLang="zh-CN" sz="1600" dirty="0" smtClean="0"/>
              <a:t>ACL</a:t>
            </a:r>
            <a:r>
              <a:rPr lang="zh-CN" altLang="en-US" sz="1600" dirty="0" smtClean="0"/>
              <a:t>接口同步</a:t>
            </a:r>
            <a:r>
              <a:rPr lang="en-US" altLang="zh-CN" sz="1600" dirty="0" smtClean="0"/>
              <a:t>Stream</a:t>
            </a:r>
            <a:r>
              <a:rPr lang="zh-CN" altLang="en-US" sz="1600" dirty="0" smtClean="0"/>
              <a:t>之间的任务，包括同步</a:t>
            </a:r>
            <a:r>
              <a:rPr lang="en-US" altLang="zh-CN" sz="1600" dirty="0" smtClean="0"/>
              <a:t>Host</a:t>
            </a:r>
            <a:r>
              <a:rPr lang="zh-CN" altLang="en-US" sz="1600" dirty="0" smtClean="0"/>
              <a:t>与</a:t>
            </a:r>
            <a:r>
              <a:rPr lang="en-US" altLang="zh-CN" sz="1600" dirty="0" smtClean="0"/>
              <a:t>Device</a:t>
            </a:r>
            <a:r>
              <a:rPr lang="zh-CN" altLang="en-US" sz="1600" dirty="0" smtClean="0"/>
              <a:t>之间的任务、</a:t>
            </a:r>
            <a:r>
              <a:rPr lang="en-US" altLang="zh-CN" sz="1600" dirty="0" smtClean="0"/>
              <a:t>Device</a:t>
            </a:r>
            <a:r>
              <a:rPr lang="zh-CN" altLang="en-US" sz="1600" dirty="0" smtClean="0"/>
              <a:t>与</a:t>
            </a:r>
            <a:r>
              <a:rPr lang="en-US" altLang="zh-CN" sz="1600" dirty="0" smtClean="0"/>
              <a:t>Device</a:t>
            </a:r>
            <a:r>
              <a:rPr lang="zh-CN" altLang="en-US" sz="1600" dirty="0" smtClean="0"/>
              <a:t>间的任务。</a:t>
            </a:r>
          </a:p>
          <a:p>
            <a:pPr lvl="1"/>
            <a:r>
              <a:rPr lang="zh-CN" altLang="en-US" sz="1600" dirty="0" smtClean="0"/>
              <a:t>例如，若</a:t>
            </a:r>
            <a:r>
              <a:rPr lang="en-US" altLang="zh-CN" sz="1600" dirty="0" smtClean="0"/>
              <a:t>stream2</a:t>
            </a:r>
            <a:r>
              <a:rPr lang="zh-CN" altLang="en-US" sz="1600" dirty="0" smtClean="0"/>
              <a:t>的任务依赖</a:t>
            </a:r>
            <a:r>
              <a:rPr lang="en-US" altLang="zh-CN" sz="1600" dirty="0" smtClean="0"/>
              <a:t>stream1</a:t>
            </a:r>
            <a:r>
              <a:rPr lang="zh-CN" altLang="en-US" sz="1600" dirty="0" smtClean="0"/>
              <a:t>的任务，想保证</a:t>
            </a:r>
            <a:r>
              <a:rPr lang="en-US" altLang="zh-CN" sz="1600" dirty="0" smtClean="0"/>
              <a:t>stream1</a:t>
            </a:r>
            <a:r>
              <a:rPr lang="zh-CN" altLang="en-US" sz="1600" dirty="0" smtClean="0"/>
              <a:t>中的任务先完成，这时可创建一个</a:t>
            </a:r>
            <a:r>
              <a:rPr lang="en-US" altLang="zh-CN" sz="1600" dirty="0" smtClean="0"/>
              <a:t>Event</a:t>
            </a:r>
            <a:r>
              <a:rPr lang="zh-CN" altLang="en-US" sz="1600" dirty="0" smtClean="0"/>
              <a:t>，并将</a:t>
            </a:r>
            <a:r>
              <a:rPr lang="en-US" altLang="zh-CN" sz="1600" dirty="0" smtClean="0"/>
              <a:t>Event</a:t>
            </a:r>
            <a:r>
              <a:rPr lang="zh-CN" altLang="en-US" sz="1600" dirty="0" smtClean="0"/>
              <a:t>插入到</a:t>
            </a:r>
            <a:r>
              <a:rPr lang="en-US" altLang="zh-CN" sz="1600" dirty="0" smtClean="0"/>
              <a:t>stream1</a:t>
            </a:r>
            <a:r>
              <a:rPr lang="zh-CN" altLang="en-US" sz="1600" dirty="0" smtClean="0"/>
              <a:t>，在执行</a:t>
            </a:r>
            <a:r>
              <a:rPr lang="en-US" altLang="zh-CN" sz="1600" dirty="0" smtClean="0"/>
              <a:t>stream2</a:t>
            </a:r>
            <a:r>
              <a:rPr lang="zh-CN" altLang="en-US" sz="1600" dirty="0" smtClean="0"/>
              <a:t>的任务前，先同步等待</a:t>
            </a:r>
            <a:r>
              <a:rPr lang="en-US" altLang="zh-CN" sz="1600" dirty="0" smtClean="0"/>
              <a:t>Event</a:t>
            </a:r>
            <a:r>
              <a:rPr lang="zh-CN" altLang="en-US" sz="1600" dirty="0" smtClean="0"/>
              <a:t>完成。</a:t>
            </a:r>
          </a:p>
          <a:p>
            <a:pPr lvl="1"/>
            <a:endParaRPr lang="en-US" altLang="zh-CN" sz="1600" dirty="0" smtClean="0"/>
          </a:p>
          <a:p>
            <a:pPr lvl="1"/>
            <a:endParaRPr lang="zh-CN" altLang="en-US" sz="1600" dirty="0" smtClean="0"/>
          </a:p>
          <a:p>
            <a:pPr lvl="1"/>
            <a:endParaRPr lang="zh-CN" altLang="en-US" sz="1600" dirty="0"/>
          </a:p>
        </p:txBody>
      </p:sp>
      <p:sp>
        <p:nvSpPr>
          <p:cNvPr id="4" name="副标题 1"/>
          <p:cNvSpPr txBox="1">
            <a:spLocks/>
          </p:cNvSpPr>
          <p:nvPr/>
        </p:nvSpPr>
        <p:spPr>
          <a:xfrm>
            <a:off x="1615629" y="494265"/>
            <a:ext cx="10739242" cy="993630"/>
          </a:xfrm>
          <a:prstGeom prst="rect">
            <a:avLst/>
          </a:prstGeom>
        </p:spPr>
        <p:txBody>
          <a:bodyPr vert="horz" lIns="100800" tIns="50400" rIns="100800" bIns="50400" rtlCol="0" anchor="t" anchorCtr="0">
            <a:normAutofit/>
          </a:bodyPr>
          <a:lstStyle>
            <a:lvl1pPr defTabSz="914400">
              <a:spcBef>
                <a:spcPct val="0"/>
              </a:spcBef>
              <a:buNone/>
              <a:defRPr sz="3200" b="1" baseline="0">
                <a:latin typeface="+mn-ea"/>
                <a:cs typeface="+mj-cs"/>
              </a:defRPr>
            </a:lvl1pPr>
          </a:lstStyle>
          <a:p>
            <a:r>
              <a:rPr lang="en-US" altLang="zh-CN" dirty="0"/>
              <a:t>ACL</a:t>
            </a:r>
            <a:r>
              <a:rPr lang="zh-CN" altLang="en-US" dirty="0"/>
              <a:t>基本概念</a:t>
            </a:r>
            <a:r>
              <a:rPr lang="zh-CN" altLang="en-US" dirty="0" smtClean="0"/>
              <a:t>（</a:t>
            </a:r>
            <a:r>
              <a:rPr lang="en-US" altLang="zh-CN" dirty="0" smtClean="0"/>
              <a:t>3</a:t>
            </a:r>
            <a:r>
              <a:rPr lang="zh-CN" altLang="en-US" dirty="0" smtClean="0"/>
              <a:t>）</a:t>
            </a:r>
            <a:endParaRPr lang="zh-CN" altLang="en-US" dirty="0"/>
          </a:p>
        </p:txBody>
      </p:sp>
      <p:graphicFrame>
        <p:nvGraphicFramePr>
          <p:cNvPr id="5" name="图示 4"/>
          <p:cNvGraphicFramePr/>
          <p:nvPr>
            <p:extLst>
              <p:ext uri="{D42A27DB-BD31-4B8C-83A1-F6EECF244321}">
                <p14:modId xmlns:p14="http://schemas.microsoft.com/office/powerpoint/2010/main" val="3786606074"/>
              </p:ext>
            </p:extLst>
          </p:nvPr>
        </p:nvGraphicFramePr>
        <p:xfrm>
          <a:off x="573322" y="3024825"/>
          <a:ext cx="4046272" cy="29220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4259758" y="2853730"/>
            <a:ext cx="7335262" cy="3093154"/>
          </a:xfrm>
          <a:prstGeom prst="rect">
            <a:avLst/>
          </a:prstGeom>
        </p:spPr>
        <p:txBody>
          <a:bodyPr wrap="square">
            <a:spAutoFit/>
          </a:bodyPr>
          <a:lstStyle/>
          <a:p>
            <a:pPr defTabSz="914400" fontAlgn="base">
              <a:lnSpc>
                <a:spcPct val="150000"/>
              </a:lnSpc>
              <a:spcBef>
                <a:spcPts val="300"/>
              </a:spcBef>
              <a:spcAft>
                <a:spcPct val="0"/>
              </a:spcAft>
              <a:buClr>
                <a:schemeClr val="tx1"/>
              </a:buClr>
              <a:buSzPct val="100000"/>
            </a:pPr>
            <a:r>
              <a:rPr lang="zh-CN" altLang="en-US" sz="1200" b="1" dirty="0" smtClean="0">
                <a:latin typeface="微软雅黑" panose="020B0503020204020204" pitchFamily="34" charset="-122"/>
                <a:ea typeface="微软雅黑" panose="020B0503020204020204" pitchFamily="34" charset="-122"/>
              </a:rPr>
              <a:t>进程、线程</a:t>
            </a:r>
            <a:r>
              <a:rPr lang="zh-CN" altLang="en-US" sz="1200" b="1" dirty="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Context</a:t>
            </a:r>
            <a:r>
              <a:rPr lang="zh-CN" altLang="en-US" sz="1200" b="1" dirty="0">
                <a:latin typeface="微软雅黑" panose="020B0503020204020204" pitchFamily="34" charset="-122"/>
                <a:ea typeface="微软雅黑" panose="020B0503020204020204" pitchFamily="34" charset="-122"/>
              </a:rPr>
              <a:t>、</a:t>
            </a:r>
            <a:r>
              <a:rPr lang="en-US" altLang="zh-CN" sz="1200" b="1" dirty="0">
                <a:latin typeface="微软雅黑" panose="020B0503020204020204" pitchFamily="34" charset="-122"/>
                <a:ea typeface="微软雅黑" panose="020B0503020204020204" pitchFamily="34" charset="-122"/>
              </a:rPr>
              <a:t>Stream</a:t>
            </a:r>
            <a:r>
              <a:rPr lang="zh-CN" altLang="en-US" sz="1200" b="1" dirty="0">
                <a:latin typeface="微软雅黑" panose="020B0503020204020204" pitchFamily="34" charset="-122"/>
                <a:ea typeface="微软雅黑" panose="020B0503020204020204" pitchFamily="34" charset="-122"/>
              </a:rPr>
              <a:t>之间的</a:t>
            </a:r>
            <a:r>
              <a:rPr lang="zh-CN" altLang="en-US" sz="1200" b="1" dirty="0" smtClean="0">
                <a:latin typeface="微软雅黑" panose="020B0503020204020204" pitchFamily="34" charset="-122"/>
                <a:ea typeface="微软雅黑" panose="020B0503020204020204" pitchFamily="34" charset="-122"/>
              </a:rPr>
              <a:t>关系：</a:t>
            </a:r>
            <a:endParaRPr lang="en-US" altLang="zh-CN" sz="1200" b="1" dirty="0" smtClean="0">
              <a:latin typeface="微软雅黑" panose="020B0503020204020204" pitchFamily="34" charset="-122"/>
              <a:ea typeface="微软雅黑" panose="020B0503020204020204" pitchFamily="34" charset="-122"/>
            </a:endParaRPr>
          </a:p>
          <a:p>
            <a:pPr marL="180000" indent="-180000" defTabSz="914400" fontAlgn="base">
              <a:lnSpc>
                <a:spcPct val="150000"/>
              </a:lnSpc>
              <a:spcBef>
                <a:spcPts val="300"/>
              </a:spcBef>
              <a:spcAft>
                <a:spcPct val="0"/>
              </a:spcAft>
              <a:buClr>
                <a:schemeClr val="tx1"/>
              </a:buClr>
              <a:buSzPct val="100000"/>
              <a:buFont typeface="Wingdings" panose="05000000000000000000" pitchFamily="2" charset="2"/>
              <a:buChar char="n"/>
            </a:pPr>
            <a:r>
              <a:rPr lang="zh-CN" altLang="en-US" sz="1200" dirty="0" smtClean="0">
                <a:latin typeface="微软雅黑" panose="020B0503020204020204" pitchFamily="34" charset="-122"/>
                <a:ea typeface="微软雅黑" panose="020B0503020204020204" pitchFamily="34" charset="-122"/>
              </a:rPr>
              <a:t>一</a:t>
            </a:r>
            <a:r>
              <a:rPr lang="zh-CN" altLang="en-US" sz="1200" dirty="0">
                <a:latin typeface="微软雅黑" panose="020B0503020204020204" pitchFamily="34" charset="-122"/>
                <a:ea typeface="微软雅黑" panose="020B0503020204020204" pitchFamily="34" charset="-122"/>
              </a:rPr>
              <a:t>个进程中可以创建多个</a:t>
            </a:r>
            <a:r>
              <a:rPr lang="en-US" altLang="zh-CN" sz="1200" dirty="0">
                <a:latin typeface="微软雅黑" panose="020B0503020204020204" pitchFamily="34" charset="-122"/>
                <a:ea typeface="微软雅黑" panose="020B0503020204020204" pitchFamily="34" charset="-122"/>
              </a:rPr>
              <a:t>Context</a:t>
            </a:r>
            <a:r>
              <a:rPr lang="zh-CN" altLang="en-US" sz="1200" dirty="0">
                <a:latin typeface="微软雅黑" panose="020B0503020204020204" pitchFamily="34" charset="-122"/>
                <a:ea typeface="微软雅黑" panose="020B0503020204020204" pitchFamily="34" charset="-122"/>
              </a:rPr>
              <a:t>，可以通过</a:t>
            </a:r>
            <a:r>
              <a:rPr lang="en-US" altLang="zh-CN" sz="1200" dirty="0" err="1">
                <a:latin typeface="微软雅黑" panose="020B0503020204020204" pitchFamily="34" charset="-122"/>
                <a:ea typeface="微软雅黑" panose="020B0503020204020204" pitchFamily="34" charset="-122"/>
              </a:rPr>
              <a:t>aclrtSetCurrentContext</a:t>
            </a:r>
            <a:r>
              <a:rPr lang="zh-CN" altLang="en-US" sz="1200" dirty="0">
                <a:latin typeface="微软雅黑" panose="020B0503020204020204" pitchFamily="34" charset="-122"/>
                <a:ea typeface="微软雅黑" panose="020B0503020204020204" pitchFamily="34" charset="-122"/>
              </a:rPr>
              <a:t>设置当前需要使用的</a:t>
            </a:r>
            <a:r>
              <a:rPr lang="en-US" altLang="zh-CN" sz="1200" dirty="0" smtClean="0">
                <a:latin typeface="微软雅黑" panose="020B0503020204020204" pitchFamily="34" charset="-122"/>
                <a:ea typeface="微软雅黑" panose="020B0503020204020204" pitchFamily="34" charset="-122"/>
              </a:rPr>
              <a:t>Context</a:t>
            </a:r>
            <a:r>
              <a:rPr lang="zh-CN" altLang="en-US" sz="1200" dirty="0" smtClean="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pPr marL="180000" indent="-180000" defTabSz="914400" fontAlgn="base">
              <a:lnSpc>
                <a:spcPct val="150000"/>
              </a:lnSpc>
              <a:spcBef>
                <a:spcPts val="300"/>
              </a:spcBef>
              <a:spcAft>
                <a:spcPct val="0"/>
              </a:spcAft>
              <a:buClr>
                <a:schemeClr val="tx1"/>
              </a:buClr>
              <a:buSzPct val="100000"/>
              <a:buFont typeface="Wingdings" panose="05000000000000000000" pitchFamily="2" charset="2"/>
              <a:buChar char="n"/>
            </a:pPr>
            <a:r>
              <a:rPr lang="zh-CN" altLang="en-US" sz="1200" dirty="0">
                <a:latin typeface="微软雅黑" panose="020B0503020204020204" pitchFamily="34" charset="-122"/>
                <a:ea typeface="微软雅黑" panose="020B0503020204020204" pitchFamily="34" charset="-122"/>
              </a:rPr>
              <a:t>一个</a:t>
            </a:r>
            <a:r>
              <a:rPr lang="zh-CN" altLang="en-US" sz="1200" dirty="0" smtClean="0">
                <a:latin typeface="微软雅黑" panose="020B0503020204020204" pitchFamily="34" charset="-122"/>
                <a:ea typeface="微软雅黑" panose="020B0503020204020204" pitchFamily="34" charset="-122"/>
              </a:rPr>
              <a:t>线程如果创建多</a:t>
            </a:r>
            <a:r>
              <a:rPr lang="zh-CN" altLang="en-US" sz="1200" dirty="0">
                <a:latin typeface="微软雅黑" panose="020B0503020204020204" pitchFamily="34" charset="-122"/>
                <a:ea typeface="微软雅黑" panose="020B0503020204020204" pitchFamily="34" charset="-122"/>
              </a:rPr>
              <a:t>个</a:t>
            </a:r>
            <a:r>
              <a:rPr lang="en-US" altLang="zh-CN" sz="1200" dirty="0" smtClean="0">
                <a:latin typeface="微软雅黑" panose="020B0503020204020204" pitchFamily="34" charset="-122"/>
                <a:ea typeface="微软雅黑" panose="020B0503020204020204" pitchFamily="34" charset="-122"/>
              </a:rPr>
              <a:t>Context</a:t>
            </a:r>
            <a:r>
              <a:rPr lang="zh-CN" altLang="en-US" sz="1200" dirty="0" smtClean="0">
                <a:latin typeface="微软雅黑" panose="020B0503020204020204" pitchFamily="34" charset="-122"/>
                <a:ea typeface="微软雅黑" panose="020B0503020204020204" pitchFamily="34" charset="-122"/>
              </a:rPr>
              <a:t>，缺省只能使用</a:t>
            </a:r>
            <a:r>
              <a:rPr lang="zh-CN" altLang="en-US" sz="1200" dirty="0">
                <a:latin typeface="微软雅黑" panose="020B0503020204020204" pitchFamily="34" charset="-122"/>
                <a:ea typeface="微软雅黑" panose="020B0503020204020204" pitchFamily="34" charset="-122"/>
              </a:rPr>
              <a:t>最后一次创建的</a:t>
            </a:r>
            <a:r>
              <a:rPr lang="en-US" altLang="zh-CN" sz="1200" dirty="0" smtClean="0">
                <a:latin typeface="微软雅黑" panose="020B0503020204020204" pitchFamily="34" charset="-122"/>
                <a:ea typeface="微软雅黑" panose="020B0503020204020204" pitchFamily="34" charset="-122"/>
              </a:rPr>
              <a:t>Context</a:t>
            </a:r>
            <a:r>
              <a:rPr lang="zh-CN" altLang="en-US" sz="1200" dirty="0" smtClean="0">
                <a:latin typeface="微软雅黑" panose="020B0503020204020204" pitchFamily="34" charset="-122"/>
                <a:ea typeface="微软雅黑" panose="020B0503020204020204" pitchFamily="34" charset="-122"/>
              </a:rPr>
              <a:t>（同</a:t>
            </a:r>
            <a:r>
              <a:rPr lang="zh-CN" altLang="en-US" sz="1200" dirty="0">
                <a:latin typeface="微软雅黑" panose="020B0503020204020204" pitchFamily="34" charset="-122"/>
                <a:ea typeface="微软雅黑" panose="020B0503020204020204" pitchFamily="34" charset="-122"/>
              </a:rPr>
              <a:t>一</a:t>
            </a:r>
            <a:r>
              <a:rPr lang="zh-CN" altLang="en-US" sz="1200" dirty="0" smtClean="0">
                <a:latin typeface="微软雅黑" panose="020B0503020204020204" pitchFamily="34" charset="-122"/>
                <a:ea typeface="微软雅黑" panose="020B0503020204020204" pitchFamily="34" charset="-122"/>
              </a:rPr>
              <a:t>时刻只有唯一</a:t>
            </a:r>
            <a:r>
              <a:rPr lang="zh-CN" altLang="en-US" sz="1200" dirty="0">
                <a:latin typeface="微软雅黑" panose="020B0503020204020204" pitchFamily="34" charset="-122"/>
                <a:ea typeface="微软雅黑" panose="020B0503020204020204" pitchFamily="34" charset="-122"/>
              </a:rPr>
              <a:t>的</a:t>
            </a:r>
            <a:r>
              <a:rPr lang="en-US" altLang="zh-CN" sz="1200" dirty="0">
                <a:latin typeface="微软雅黑" panose="020B0503020204020204" pitchFamily="34" charset="-122"/>
                <a:ea typeface="微软雅黑" panose="020B0503020204020204" pitchFamily="34" charset="-122"/>
              </a:rPr>
              <a:t>Context</a:t>
            </a:r>
            <a:r>
              <a:rPr lang="zh-CN" altLang="en-US" sz="1200" dirty="0">
                <a:latin typeface="微软雅黑" panose="020B0503020204020204" pitchFamily="34" charset="-122"/>
                <a:ea typeface="微软雅黑" panose="020B0503020204020204" pitchFamily="34" charset="-122"/>
              </a:rPr>
              <a:t>在用</a:t>
            </a:r>
            <a:r>
              <a:rPr lang="zh-CN" altLang="en-US" sz="1200" dirty="0" smtClean="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p>
            <a:pPr marL="180000" indent="-180000" defTabSz="914400" fontAlgn="base">
              <a:lnSpc>
                <a:spcPct val="150000"/>
              </a:lnSpc>
              <a:spcBef>
                <a:spcPts val="300"/>
              </a:spcBef>
              <a:spcAft>
                <a:spcPct val="0"/>
              </a:spcAft>
              <a:buClr>
                <a:schemeClr val="tx1"/>
              </a:buClr>
              <a:buSzPct val="100000"/>
              <a:buFont typeface="Wingdings" panose="05000000000000000000" pitchFamily="2" charset="2"/>
              <a:buChar char="n"/>
            </a:pPr>
            <a:r>
              <a:rPr lang="en-US" altLang="zh-CN" sz="1200" dirty="0" smtClean="0">
                <a:latin typeface="微软雅黑" panose="020B0503020204020204" pitchFamily="34" charset="-122"/>
                <a:ea typeface="微软雅黑" panose="020B0503020204020204" pitchFamily="34" charset="-122"/>
              </a:rPr>
              <a:t>Context</a:t>
            </a:r>
            <a:r>
              <a:rPr lang="zh-CN" altLang="en-US" sz="1200" dirty="0">
                <a:latin typeface="微软雅黑" panose="020B0503020204020204" pitchFamily="34" charset="-122"/>
                <a:ea typeface="微软雅黑" panose="020B0503020204020204" pitchFamily="34" charset="-122"/>
              </a:rPr>
              <a:t>中已经关联了本线程要使用的</a:t>
            </a:r>
            <a:r>
              <a:rPr lang="en-US" altLang="zh-CN" sz="1200" dirty="0" smtClean="0">
                <a:latin typeface="微软雅黑" panose="020B0503020204020204" pitchFamily="34" charset="-122"/>
                <a:ea typeface="微软雅黑" panose="020B0503020204020204" pitchFamily="34" charset="-122"/>
              </a:rPr>
              <a:t>Device</a:t>
            </a:r>
            <a:r>
              <a:rPr lang="zh-CN" altLang="en-US" sz="1200" dirty="0" smtClean="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所有</a:t>
            </a:r>
            <a:r>
              <a:rPr lang="en-US" altLang="zh-CN" sz="1200" dirty="0">
                <a:latin typeface="微软雅黑" panose="020B0503020204020204" pitchFamily="34" charset="-122"/>
                <a:ea typeface="微软雅黑" panose="020B0503020204020204" pitchFamily="34" charset="-122"/>
              </a:rPr>
              <a:t>Device</a:t>
            </a:r>
            <a:r>
              <a:rPr lang="zh-CN" altLang="en-US" sz="1200" dirty="0">
                <a:latin typeface="微软雅黑" panose="020B0503020204020204" pitchFamily="34" charset="-122"/>
                <a:ea typeface="微软雅黑" panose="020B0503020204020204" pitchFamily="34" charset="-122"/>
              </a:rPr>
              <a:t>的资源使用或调度，都必须基于</a:t>
            </a:r>
            <a:r>
              <a:rPr lang="en-US" altLang="zh-CN" sz="1200" dirty="0">
                <a:latin typeface="微软雅黑" panose="020B0503020204020204" pitchFamily="34" charset="-122"/>
                <a:ea typeface="微软雅黑" panose="020B0503020204020204" pitchFamily="34" charset="-122"/>
              </a:rPr>
              <a:t>Context </a:t>
            </a:r>
            <a:r>
              <a:rPr lang="zh-CN" altLang="en-US" sz="1200" dirty="0" smtClean="0">
                <a:latin typeface="微软雅黑" panose="020B0503020204020204" pitchFamily="34" charset="-122"/>
                <a:ea typeface="微软雅黑" panose="020B0503020204020204" pitchFamily="34" charset="-122"/>
              </a:rPr>
              <a:t>。</a:t>
            </a:r>
            <a:endParaRPr lang="en-US" altLang="zh-CN" sz="1200" dirty="0" smtClean="0">
              <a:latin typeface="微软雅黑" panose="020B0503020204020204" pitchFamily="34" charset="-122"/>
              <a:ea typeface="微软雅黑" panose="020B0503020204020204" pitchFamily="34" charset="-122"/>
            </a:endParaRPr>
          </a:p>
          <a:p>
            <a:pPr marL="180000" indent="-180000" defTabSz="914400" fontAlgn="base">
              <a:lnSpc>
                <a:spcPct val="150000"/>
              </a:lnSpc>
              <a:spcBef>
                <a:spcPts val="300"/>
              </a:spcBef>
              <a:spcAft>
                <a:spcPct val="0"/>
              </a:spcAft>
              <a:buClr>
                <a:schemeClr val="tx1"/>
              </a:buClr>
              <a:buSzPct val="100000"/>
              <a:buFont typeface="Wingdings" panose="05000000000000000000" pitchFamily="2" charset="2"/>
              <a:buChar char="n"/>
            </a:pPr>
            <a:r>
              <a:rPr lang="zh-CN" altLang="en-US" sz="1200" dirty="0" smtClean="0">
                <a:latin typeface="微软雅黑" panose="020B0503020204020204" pitchFamily="34" charset="-122"/>
                <a:ea typeface="微软雅黑" panose="020B0503020204020204" pitchFamily="34" charset="-122"/>
              </a:rPr>
              <a:t>可以</a:t>
            </a:r>
            <a:r>
              <a:rPr lang="zh-CN" altLang="en-US" sz="1200" dirty="0">
                <a:latin typeface="微软雅黑" panose="020B0503020204020204" pitchFamily="34" charset="-122"/>
                <a:ea typeface="微软雅黑" panose="020B0503020204020204" pitchFamily="34" charset="-122"/>
              </a:rPr>
              <a:t>通过</a:t>
            </a:r>
            <a:r>
              <a:rPr lang="en-US" altLang="zh-CN" sz="1200" dirty="0" err="1">
                <a:latin typeface="微软雅黑" panose="020B0503020204020204" pitchFamily="34" charset="-122"/>
                <a:ea typeface="微软雅黑" panose="020B0503020204020204" pitchFamily="34" charset="-122"/>
              </a:rPr>
              <a:t>aclrtSetCurrentContext</a:t>
            </a:r>
            <a:r>
              <a:rPr lang="zh-CN" altLang="en-US" sz="1200" dirty="0">
                <a:latin typeface="微软雅黑" panose="020B0503020204020204" pitchFamily="34" charset="-122"/>
                <a:ea typeface="微软雅黑" panose="020B0503020204020204" pitchFamily="34" charset="-122"/>
              </a:rPr>
              <a:t>进行</a:t>
            </a:r>
            <a:r>
              <a:rPr lang="en-US" altLang="zh-CN" sz="1200" dirty="0">
                <a:latin typeface="微软雅黑" panose="020B0503020204020204" pitchFamily="34" charset="-122"/>
                <a:ea typeface="微软雅黑" panose="020B0503020204020204" pitchFamily="34" charset="-122"/>
              </a:rPr>
              <a:t>Device</a:t>
            </a:r>
            <a:r>
              <a:rPr lang="zh-CN" altLang="en-US" sz="1200" dirty="0">
                <a:latin typeface="微软雅黑" panose="020B0503020204020204" pitchFamily="34" charset="-122"/>
                <a:ea typeface="微软雅黑" panose="020B0503020204020204" pitchFamily="34" charset="-122"/>
              </a:rPr>
              <a:t>的快速</a:t>
            </a:r>
            <a:r>
              <a:rPr lang="zh-CN" altLang="en-US" sz="1200" dirty="0" smtClean="0">
                <a:latin typeface="微软雅黑" panose="020B0503020204020204" pitchFamily="34" charset="-122"/>
                <a:ea typeface="微软雅黑" panose="020B0503020204020204" pitchFamily="34" charset="-122"/>
              </a:rPr>
              <a:t>切换。</a:t>
            </a:r>
            <a:endParaRPr lang="en-US" altLang="zh-CN" sz="1200" dirty="0" smtClean="0">
              <a:latin typeface="微软雅黑" panose="020B0503020204020204" pitchFamily="34" charset="-122"/>
              <a:ea typeface="微软雅黑" panose="020B0503020204020204" pitchFamily="34" charset="-122"/>
            </a:endParaRPr>
          </a:p>
          <a:p>
            <a:pPr marL="180000" indent="-180000" defTabSz="914400" fontAlgn="base">
              <a:lnSpc>
                <a:spcPct val="150000"/>
              </a:lnSpc>
              <a:spcBef>
                <a:spcPts val="300"/>
              </a:spcBef>
              <a:spcAft>
                <a:spcPct val="0"/>
              </a:spcAft>
              <a:buClr>
                <a:schemeClr val="tx1"/>
              </a:buClr>
              <a:buSzPct val="100000"/>
              <a:buFont typeface="Wingdings" panose="05000000000000000000" pitchFamily="2" charset="2"/>
              <a:buChar char="n"/>
            </a:pPr>
            <a:r>
              <a:rPr lang="zh-CN" altLang="en-US" sz="1200" dirty="0" smtClean="0">
                <a:latin typeface="微软雅黑" panose="020B0503020204020204" pitchFamily="34" charset="-122"/>
                <a:ea typeface="微软雅黑" panose="020B0503020204020204" pitchFamily="34" charset="-122"/>
              </a:rPr>
              <a:t>一</a:t>
            </a:r>
            <a:r>
              <a:rPr lang="zh-CN" altLang="en-US" sz="1200" dirty="0">
                <a:latin typeface="微软雅黑" panose="020B0503020204020204" pitchFamily="34" charset="-122"/>
                <a:ea typeface="微软雅黑" panose="020B0503020204020204" pitchFamily="34" charset="-122"/>
              </a:rPr>
              <a:t>个线程（</a:t>
            </a:r>
            <a:r>
              <a:rPr lang="en-US" altLang="zh-CN" sz="1200" dirty="0">
                <a:latin typeface="微软雅黑" panose="020B0503020204020204" pitchFamily="34" charset="-122"/>
                <a:ea typeface="微软雅黑" panose="020B0503020204020204" pitchFamily="34" charset="-122"/>
              </a:rPr>
              <a:t>Context</a:t>
            </a:r>
            <a:r>
              <a:rPr lang="zh-CN" altLang="en-US" sz="1200" dirty="0">
                <a:latin typeface="微软雅黑" panose="020B0503020204020204" pitchFamily="34" charset="-122"/>
                <a:ea typeface="微软雅黑" panose="020B0503020204020204" pitchFamily="34" charset="-122"/>
              </a:rPr>
              <a:t>）中可以创建多个</a:t>
            </a:r>
            <a:r>
              <a:rPr lang="en-US" altLang="zh-CN" sz="1200" dirty="0">
                <a:latin typeface="微软雅黑" panose="020B0503020204020204" pitchFamily="34" charset="-122"/>
                <a:ea typeface="微软雅黑" panose="020B0503020204020204" pitchFamily="34" charset="-122"/>
              </a:rPr>
              <a:t>Stream</a:t>
            </a:r>
            <a:r>
              <a:rPr lang="zh-CN" altLang="en-US" sz="1200" dirty="0">
                <a:latin typeface="微软雅黑" panose="020B0503020204020204" pitchFamily="34" charset="-122"/>
                <a:ea typeface="微软雅黑" panose="020B0503020204020204" pitchFamily="34" charset="-122"/>
              </a:rPr>
              <a:t>，不同的</a:t>
            </a:r>
            <a:r>
              <a:rPr lang="en-US" altLang="zh-CN" sz="1200" dirty="0">
                <a:latin typeface="微软雅黑" panose="020B0503020204020204" pitchFamily="34" charset="-122"/>
                <a:ea typeface="微软雅黑" panose="020B0503020204020204" pitchFamily="34" charset="-122"/>
              </a:rPr>
              <a:t>Stream</a:t>
            </a:r>
            <a:r>
              <a:rPr lang="zh-CN" altLang="en-US" sz="1200" dirty="0">
                <a:latin typeface="微软雅黑" panose="020B0503020204020204" pitchFamily="34" charset="-122"/>
                <a:ea typeface="微软雅黑" panose="020B0503020204020204" pitchFamily="34" charset="-122"/>
              </a:rPr>
              <a:t>上计算</a:t>
            </a:r>
            <a:r>
              <a:rPr lang="zh-CN" altLang="en-US" sz="1200" dirty="0" smtClean="0">
                <a:latin typeface="微软雅黑" panose="020B0503020204020204" pitchFamily="34" charset="-122"/>
                <a:ea typeface="微软雅黑" panose="020B0503020204020204" pitchFamily="34" charset="-122"/>
              </a:rPr>
              <a:t>任务可以</a:t>
            </a:r>
            <a:r>
              <a:rPr lang="zh-CN" altLang="en-US" sz="1200" dirty="0">
                <a:latin typeface="微软雅黑" panose="020B0503020204020204" pitchFamily="34" charset="-122"/>
                <a:ea typeface="微软雅黑" panose="020B0503020204020204" pitchFamily="34" charset="-122"/>
              </a:rPr>
              <a:t>并行执行；多线程场景下，也可以每个线程创建一个</a:t>
            </a:r>
            <a:r>
              <a:rPr lang="en-US" altLang="zh-CN" sz="1200" dirty="0">
                <a:latin typeface="微软雅黑" panose="020B0503020204020204" pitchFamily="34" charset="-122"/>
                <a:ea typeface="微软雅黑" panose="020B0503020204020204" pitchFamily="34" charset="-122"/>
              </a:rPr>
              <a:t>Stream</a:t>
            </a:r>
            <a:r>
              <a:rPr lang="zh-CN" altLang="en-US" sz="1200" dirty="0">
                <a:latin typeface="微软雅黑" panose="020B0503020204020204" pitchFamily="34" charset="-122"/>
                <a:ea typeface="微软雅黑" panose="020B0503020204020204" pitchFamily="34" charset="-122"/>
              </a:rPr>
              <a:t>，线程之间的</a:t>
            </a:r>
            <a:r>
              <a:rPr lang="en-US" altLang="zh-CN" sz="1200" dirty="0">
                <a:latin typeface="微软雅黑" panose="020B0503020204020204" pitchFamily="34" charset="-122"/>
                <a:ea typeface="微软雅黑" panose="020B0503020204020204" pitchFamily="34" charset="-122"/>
              </a:rPr>
              <a:t>Stream</a:t>
            </a:r>
            <a:r>
              <a:rPr lang="zh-CN" altLang="en-US" sz="1200" dirty="0">
                <a:latin typeface="微软雅黑" panose="020B0503020204020204" pitchFamily="34" charset="-122"/>
                <a:ea typeface="微软雅黑" panose="020B0503020204020204" pitchFamily="34" charset="-122"/>
              </a:rPr>
              <a:t>在</a:t>
            </a:r>
            <a:r>
              <a:rPr lang="en-US" altLang="zh-CN" sz="1200" dirty="0">
                <a:latin typeface="微软雅黑" panose="020B0503020204020204" pitchFamily="34" charset="-122"/>
                <a:ea typeface="微软雅黑" panose="020B0503020204020204" pitchFamily="34" charset="-122"/>
              </a:rPr>
              <a:t>Device</a:t>
            </a:r>
            <a:r>
              <a:rPr lang="zh-CN" altLang="en-US" sz="1200" dirty="0">
                <a:latin typeface="微软雅黑" panose="020B0503020204020204" pitchFamily="34" charset="-122"/>
                <a:ea typeface="微软雅黑" panose="020B0503020204020204" pitchFamily="34" charset="-122"/>
              </a:rPr>
              <a:t>上相互独立，每个</a:t>
            </a:r>
            <a:r>
              <a:rPr lang="en-US" altLang="zh-CN" sz="1200" dirty="0">
                <a:latin typeface="微软雅黑" panose="020B0503020204020204" pitchFamily="34" charset="-122"/>
                <a:ea typeface="微软雅黑" panose="020B0503020204020204" pitchFamily="34" charset="-122"/>
              </a:rPr>
              <a:t>Stream</a:t>
            </a:r>
            <a:r>
              <a:rPr lang="zh-CN" altLang="en-US" sz="1200" dirty="0">
                <a:latin typeface="微软雅黑" panose="020B0503020204020204" pitchFamily="34" charset="-122"/>
                <a:ea typeface="微软雅黑" panose="020B0503020204020204" pitchFamily="34" charset="-122"/>
              </a:rPr>
              <a:t>内部的任务是按照</a:t>
            </a:r>
            <a:r>
              <a:rPr lang="en-US" altLang="zh-CN" sz="1200" dirty="0">
                <a:latin typeface="微软雅黑" panose="020B0503020204020204" pitchFamily="34" charset="-122"/>
                <a:ea typeface="微软雅黑" panose="020B0503020204020204" pitchFamily="34" charset="-122"/>
              </a:rPr>
              <a:t>Stream</a:t>
            </a:r>
            <a:r>
              <a:rPr lang="zh-CN" altLang="en-US" sz="1200" dirty="0">
                <a:latin typeface="微软雅黑" panose="020B0503020204020204" pitchFamily="34" charset="-122"/>
                <a:ea typeface="微软雅黑" panose="020B0503020204020204" pitchFamily="34" charset="-122"/>
              </a:rPr>
              <a:t>下发的顺序执行。</a:t>
            </a:r>
          </a:p>
          <a:p>
            <a:pPr marL="180000" indent="-180000" defTabSz="914400" fontAlgn="base">
              <a:lnSpc>
                <a:spcPct val="150000"/>
              </a:lnSpc>
              <a:spcBef>
                <a:spcPts val="300"/>
              </a:spcBef>
              <a:spcAft>
                <a:spcPct val="0"/>
              </a:spcAft>
              <a:buClr>
                <a:schemeClr val="tx1"/>
              </a:buClr>
              <a:buSzPct val="100000"/>
              <a:buFont typeface="Wingdings" panose="05000000000000000000" pitchFamily="2" charset="2"/>
              <a:buChar char="n"/>
            </a:pPr>
            <a:r>
              <a:rPr lang="zh-CN" altLang="en-US" sz="1200" dirty="0" smtClean="0">
                <a:latin typeface="微软雅黑" panose="020B0503020204020204" pitchFamily="34" charset="-122"/>
                <a:ea typeface="微软雅黑" panose="020B0503020204020204" pitchFamily="34" charset="-122"/>
              </a:rPr>
              <a:t>多</a:t>
            </a:r>
            <a:r>
              <a:rPr lang="zh-CN" altLang="en-US" sz="1200" dirty="0">
                <a:latin typeface="微软雅黑" panose="020B0503020204020204" pitchFamily="34" charset="-122"/>
                <a:ea typeface="微软雅黑" panose="020B0503020204020204" pitchFamily="34" charset="-122"/>
              </a:rPr>
              <a:t>线程的调度依赖于运行应用的操作系统调度，多</a:t>
            </a:r>
            <a:r>
              <a:rPr lang="en-US" altLang="zh-CN" sz="1200" dirty="0">
                <a:latin typeface="微软雅黑" panose="020B0503020204020204" pitchFamily="34" charset="-122"/>
                <a:ea typeface="微软雅黑" panose="020B0503020204020204" pitchFamily="34" charset="-122"/>
              </a:rPr>
              <a:t>Stream</a:t>
            </a:r>
            <a:r>
              <a:rPr lang="zh-CN" altLang="en-US" sz="1200" dirty="0">
                <a:latin typeface="微软雅黑" panose="020B0503020204020204" pitchFamily="34" charset="-122"/>
                <a:ea typeface="微软雅黑" panose="020B0503020204020204" pitchFamily="34" charset="-122"/>
              </a:rPr>
              <a:t>调度</a:t>
            </a:r>
            <a:r>
              <a:rPr lang="en-US" altLang="zh-CN" sz="1200" dirty="0">
                <a:latin typeface="微软雅黑" panose="020B0503020204020204" pitchFamily="34" charset="-122"/>
                <a:ea typeface="微软雅黑" panose="020B0503020204020204" pitchFamily="34" charset="-122"/>
              </a:rPr>
              <a:t>Device</a:t>
            </a:r>
            <a:r>
              <a:rPr lang="zh-CN" altLang="en-US" sz="1200" dirty="0">
                <a:latin typeface="微软雅黑" panose="020B0503020204020204" pitchFamily="34" charset="-122"/>
                <a:ea typeface="微软雅黑" panose="020B0503020204020204" pitchFamily="34" charset="-122"/>
              </a:rPr>
              <a:t>侧，由</a:t>
            </a:r>
            <a:r>
              <a:rPr lang="en-US" altLang="zh-CN" sz="1200" dirty="0">
                <a:latin typeface="微软雅黑" panose="020B0503020204020204" pitchFamily="34" charset="-122"/>
                <a:ea typeface="微软雅黑" panose="020B0503020204020204" pitchFamily="34" charset="-122"/>
              </a:rPr>
              <a:t>Device</a:t>
            </a:r>
            <a:r>
              <a:rPr lang="zh-CN" altLang="en-US" sz="1200" dirty="0">
                <a:latin typeface="微软雅黑" panose="020B0503020204020204" pitchFamily="34" charset="-122"/>
                <a:ea typeface="微软雅黑" panose="020B0503020204020204" pitchFamily="34" charset="-122"/>
              </a:rPr>
              <a:t>上调度组件进行</a:t>
            </a:r>
            <a:r>
              <a:rPr lang="zh-CN" altLang="en-US" sz="1200" dirty="0" smtClean="0">
                <a:latin typeface="微软雅黑" panose="020B0503020204020204" pitchFamily="34" charset="-122"/>
                <a:ea typeface="微软雅黑" panose="020B0503020204020204" pitchFamily="34" charset="-122"/>
              </a:rPr>
              <a:t>调度</a:t>
            </a:r>
          </a:p>
        </p:txBody>
      </p:sp>
    </p:spTree>
    <p:extLst>
      <p:ext uri="{BB962C8B-B14F-4D97-AF65-F5344CB8AC3E}">
        <p14:creationId xmlns:p14="http://schemas.microsoft.com/office/powerpoint/2010/main" val="605862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数据预处理之</a:t>
            </a:r>
            <a:r>
              <a:rPr lang="en-US" altLang="zh-CN" dirty="0" smtClean="0"/>
              <a:t>DVPP</a:t>
            </a:r>
            <a:endParaRPr lang="zh-CN" altLang="en-US" dirty="0"/>
          </a:p>
        </p:txBody>
      </p:sp>
      <p:pic>
        <p:nvPicPr>
          <p:cNvPr id="4" name="图片 3"/>
          <p:cNvPicPr>
            <a:picLocks noChangeAspect="1"/>
          </p:cNvPicPr>
          <p:nvPr/>
        </p:nvPicPr>
        <p:blipFill>
          <a:blip r:embed="rId2"/>
          <a:stretch>
            <a:fillRect/>
          </a:stretch>
        </p:blipFill>
        <p:spPr>
          <a:xfrm>
            <a:off x="1204388" y="1125538"/>
            <a:ext cx="4320480" cy="3945644"/>
          </a:xfrm>
          <a:prstGeom prst="rect">
            <a:avLst/>
          </a:prstGeom>
        </p:spPr>
      </p:pic>
      <p:graphicFrame>
        <p:nvGraphicFramePr>
          <p:cNvPr id="5" name="表格 4"/>
          <p:cNvGraphicFramePr>
            <a:graphicFrameLocks noGrp="1"/>
          </p:cNvGraphicFramePr>
          <p:nvPr>
            <p:extLst/>
          </p:nvPr>
        </p:nvGraphicFramePr>
        <p:xfrm>
          <a:off x="729221" y="5102091"/>
          <a:ext cx="10767017" cy="1177221"/>
        </p:xfrm>
        <a:graphic>
          <a:graphicData uri="http://schemas.openxmlformats.org/drawingml/2006/table">
            <a:tbl>
              <a:tblPr>
                <a:tableStyleId>{5C22544A-7EE6-4342-B048-85BDC9FD1C3A}</a:tableStyleId>
              </a:tblPr>
              <a:tblGrid>
                <a:gridCol w="642201"/>
                <a:gridCol w="2277237"/>
                <a:gridCol w="1726975"/>
                <a:gridCol w="6120604"/>
              </a:tblGrid>
              <a:tr h="159999">
                <a:tc>
                  <a:txBody>
                    <a:bodyPr/>
                    <a:lstStyle/>
                    <a:p>
                      <a:pPr algn="ctr" fontAlgn="ctr">
                        <a:lnSpc>
                          <a:spcPct val="100000"/>
                        </a:lnSpc>
                        <a:spcBef>
                          <a:spcPts val="0"/>
                        </a:spcBef>
                      </a:pPr>
                      <a:r>
                        <a:rPr lang="zh-CN" altLang="en-US" sz="1000" b="1" i="0" u="none" strike="noStrike" smtClean="0">
                          <a:effectLst/>
                          <a:latin typeface="微软雅黑" panose="020B0503020204020204" pitchFamily="34" charset="-122"/>
                          <a:ea typeface="微软雅黑" panose="020B0503020204020204" pitchFamily="34" charset="-122"/>
                        </a:rPr>
                        <a:t>接口</a:t>
                      </a:r>
                      <a:endParaRPr lang="zh-CN" altLang="en-US" sz="1000" b="1" i="0" u="none" strike="noStrike">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40000"/>
                        <a:lumOff val="60000"/>
                      </a:schemeClr>
                    </a:solidFill>
                  </a:tcPr>
                </a:tc>
                <a:tc>
                  <a:txBody>
                    <a:bodyPr/>
                    <a:lstStyle/>
                    <a:p>
                      <a:pPr algn="ctr" fontAlgn="ctr">
                        <a:lnSpc>
                          <a:spcPct val="100000"/>
                        </a:lnSpc>
                        <a:spcBef>
                          <a:spcPts val="0"/>
                        </a:spcBef>
                      </a:pPr>
                      <a:r>
                        <a:rPr lang="zh-CN" altLang="en-US" sz="1000" b="1" i="0" u="none" strike="noStrike" smtClean="0">
                          <a:effectLst/>
                          <a:latin typeface="微软雅黑" panose="020B0503020204020204" pitchFamily="34" charset="-122"/>
                          <a:ea typeface="微软雅黑" panose="020B0503020204020204" pitchFamily="34" charset="-122"/>
                        </a:rPr>
                        <a:t>英文全称</a:t>
                      </a:r>
                      <a:endParaRPr lang="zh-CN" altLang="en-US" sz="1000" b="1" i="0" u="none" strike="noStrike">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40000"/>
                        <a:lumOff val="60000"/>
                      </a:schemeClr>
                    </a:solidFill>
                  </a:tcPr>
                </a:tc>
                <a:tc>
                  <a:txBody>
                    <a:bodyPr/>
                    <a:lstStyle/>
                    <a:p>
                      <a:pPr algn="ctr" fontAlgn="ctr">
                        <a:lnSpc>
                          <a:spcPct val="100000"/>
                        </a:lnSpc>
                        <a:spcBef>
                          <a:spcPts val="0"/>
                        </a:spcBef>
                      </a:pPr>
                      <a:r>
                        <a:rPr lang="zh-CN" altLang="en-US" sz="1000" b="1" u="none" strike="noStrike" dirty="0">
                          <a:effectLst/>
                          <a:latin typeface="微软雅黑" panose="020B0503020204020204" pitchFamily="34" charset="-122"/>
                          <a:ea typeface="微软雅黑" panose="020B0503020204020204" pitchFamily="34" charset="-122"/>
                        </a:rPr>
                        <a:t>中文名称</a:t>
                      </a:r>
                      <a:endParaRPr lang="zh-CN" altLang="en-US" sz="1000" b="1"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40000"/>
                        <a:lumOff val="60000"/>
                      </a:schemeClr>
                    </a:solidFill>
                  </a:tcPr>
                </a:tc>
                <a:tc>
                  <a:txBody>
                    <a:bodyPr/>
                    <a:lstStyle/>
                    <a:p>
                      <a:pPr algn="ctr" fontAlgn="ctr">
                        <a:lnSpc>
                          <a:spcPct val="100000"/>
                        </a:lnSpc>
                        <a:spcBef>
                          <a:spcPts val="0"/>
                        </a:spcBef>
                      </a:pPr>
                      <a:r>
                        <a:rPr lang="zh-CN" altLang="en-US" sz="1000" b="1" i="0" u="none" strike="noStrike" dirty="0" smtClean="0">
                          <a:effectLst/>
                          <a:latin typeface="微软雅黑" panose="020B0503020204020204" pitchFamily="34" charset="-122"/>
                          <a:ea typeface="微软雅黑" panose="020B0503020204020204" pitchFamily="34" charset="-122"/>
                        </a:rPr>
                        <a:t>功能</a:t>
                      </a:r>
                      <a:endParaRPr lang="zh-CN" altLang="en-US" sz="1000" b="1"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40000"/>
                        <a:lumOff val="60000"/>
                      </a:schemeClr>
                    </a:solidFill>
                  </a:tcPr>
                </a:tc>
              </a:tr>
              <a:tr h="159999">
                <a:tc>
                  <a:txBody>
                    <a:bodyPr/>
                    <a:lstStyle/>
                    <a:p>
                      <a:pPr algn="ctr" fontAlgn="ctr">
                        <a:lnSpc>
                          <a:spcPct val="100000"/>
                        </a:lnSpc>
                        <a:spcBef>
                          <a:spcPts val="0"/>
                        </a:spcBef>
                      </a:pPr>
                      <a:r>
                        <a:rPr lang="en-US" altLang="zh-CN" sz="1000" b="1" u="none" strike="noStrike" smtClean="0">
                          <a:effectLst/>
                          <a:latin typeface="微软雅黑" panose="020B0503020204020204" pitchFamily="34" charset="-122"/>
                          <a:ea typeface="微软雅黑" panose="020B0503020204020204" pitchFamily="34" charset="-122"/>
                        </a:rPr>
                        <a:t>VPC</a:t>
                      </a:r>
                      <a:endParaRPr lang="en-US" sz="1000" b="1"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en-US" altLang="zh-CN" sz="1000" u="none" strike="noStrike" smtClean="0">
                          <a:effectLst/>
                          <a:latin typeface="微软雅黑" panose="020B0503020204020204" pitchFamily="34" charset="-122"/>
                          <a:ea typeface="微软雅黑" panose="020B0503020204020204" pitchFamily="34" charset="-122"/>
                        </a:rPr>
                        <a:t>Vision Preprocess Core</a:t>
                      </a:r>
                      <a:endParaRPr 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u="none" strike="noStrike" dirty="0">
                          <a:effectLst/>
                          <a:latin typeface="微软雅黑" panose="020B0503020204020204" pitchFamily="34" charset="-122"/>
                          <a:ea typeface="微软雅黑" panose="020B0503020204020204" pitchFamily="34" charset="-122"/>
                        </a:rPr>
                        <a:t>视觉预处理模块</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dirty="0" smtClean="0">
                          <a:effectLst/>
                          <a:latin typeface="微软雅黑" panose="020B0503020204020204" pitchFamily="34" charset="-122"/>
                          <a:ea typeface="微软雅黑" panose="020B0503020204020204" pitchFamily="34" charset="-122"/>
                        </a:rPr>
                        <a:t>支持对图片做抠图、缩放、叠加、拼接、格式转换等操作</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165118">
                <a:tc>
                  <a:txBody>
                    <a:bodyPr/>
                    <a:lstStyle/>
                    <a:p>
                      <a:pPr algn="ctr" fontAlgn="ctr">
                        <a:lnSpc>
                          <a:spcPct val="100000"/>
                        </a:lnSpc>
                        <a:spcBef>
                          <a:spcPts val="0"/>
                        </a:spcBef>
                      </a:pPr>
                      <a:r>
                        <a:rPr lang="en-US" altLang="zh-CN" sz="1000" b="1" u="none" strike="noStrike" smtClean="0">
                          <a:effectLst/>
                          <a:latin typeface="微软雅黑" panose="020B0503020204020204" pitchFamily="34" charset="-122"/>
                          <a:ea typeface="微软雅黑" panose="020B0503020204020204" pitchFamily="34" charset="-122"/>
                        </a:rPr>
                        <a:t>JPEGD</a:t>
                      </a:r>
                      <a:endParaRPr lang="en-US" sz="1000" b="1"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en-US" altLang="zh-CN" sz="1000" u="none" strike="noStrike" smtClean="0">
                          <a:effectLst/>
                          <a:latin typeface="微软雅黑" panose="020B0503020204020204" pitchFamily="34" charset="-122"/>
                          <a:ea typeface="微软雅黑" panose="020B0503020204020204" pitchFamily="34" charset="-122"/>
                        </a:rPr>
                        <a:t>JPEG Decode</a:t>
                      </a:r>
                      <a:endParaRPr 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en-US" sz="1000" u="none" strike="noStrike" dirty="0">
                          <a:effectLst/>
                          <a:latin typeface="微软雅黑" panose="020B0503020204020204" pitchFamily="34" charset="-122"/>
                          <a:ea typeface="微软雅黑" panose="020B0503020204020204" pitchFamily="34" charset="-122"/>
                        </a:rPr>
                        <a:t>JPEG</a:t>
                      </a:r>
                      <a:r>
                        <a:rPr lang="zh-CN" altLang="en-US" sz="1000" u="none" strike="noStrike" dirty="0">
                          <a:effectLst/>
                          <a:latin typeface="微软雅黑" panose="020B0503020204020204" pitchFamily="34" charset="-122"/>
                          <a:ea typeface="微软雅黑" panose="020B0503020204020204" pitchFamily="34" charset="-122"/>
                        </a:rPr>
                        <a:t>图片解码</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dirty="0" smtClean="0">
                          <a:latin typeface="微软雅黑" panose="020B0503020204020204" pitchFamily="34" charset="-122"/>
                          <a:ea typeface="微软雅黑" panose="020B0503020204020204" pitchFamily="34" charset="-122"/>
                        </a:rPr>
                        <a:t>实现</a:t>
                      </a:r>
                      <a:r>
                        <a:rPr lang="en-US" altLang="zh-CN" sz="1000" dirty="0" smtClean="0">
                          <a:latin typeface="微软雅黑" panose="020B0503020204020204" pitchFamily="34" charset="-122"/>
                          <a:ea typeface="微软雅黑" panose="020B0503020204020204" pitchFamily="34" charset="-122"/>
                        </a:rPr>
                        <a:t>.jpg</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.jpeg</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.JPG</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.JPEG</a:t>
                      </a:r>
                      <a:r>
                        <a:rPr lang="zh-CN" altLang="en-US" sz="1000" dirty="0" smtClean="0">
                          <a:latin typeface="微软雅黑" panose="020B0503020204020204" pitchFamily="34" charset="-122"/>
                          <a:ea typeface="微软雅黑" panose="020B0503020204020204" pitchFamily="34" charset="-122"/>
                        </a:rPr>
                        <a:t>图片的解码，对于硬件不支持的格式，会使用软件解码</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165118">
                <a:tc>
                  <a:txBody>
                    <a:bodyPr/>
                    <a:lstStyle/>
                    <a:p>
                      <a:pPr algn="ctr" fontAlgn="ctr">
                        <a:lnSpc>
                          <a:spcPct val="100000"/>
                        </a:lnSpc>
                        <a:spcBef>
                          <a:spcPts val="0"/>
                        </a:spcBef>
                      </a:pPr>
                      <a:r>
                        <a:rPr lang="en-US" altLang="zh-CN" sz="1000" b="1" u="none" strike="noStrike" smtClean="0">
                          <a:effectLst/>
                          <a:latin typeface="微软雅黑" panose="020B0503020204020204" pitchFamily="34" charset="-122"/>
                          <a:ea typeface="微软雅黑" panose="020B0503020204020204" pitchFamily="34" charset="-122"/>
                        </a:rPr>
                        <a:t>JPEGE</a:t>
                      </a:r>
                      <a:endParaRPr lang="en-US" sz="1000" b="1"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en-US" altLang="zh-CN" sz="1000" u="none" strike="noStrike" smtClean="0">
                          <a:effectLst/>
                          <a:latin typeface="微软雅黑" panose="020B0503020204020204" pitchFamily="34" charset="-122"/>
                          <a:ea typeface="微软雅黑" panose="020B0503020204020204" pitchFamily="34" charset="-122"/>
                        </a:rPr>
                        <a:t>JPEG Encoder</a:t>
                      </a:r>
                      <a:endParaRPr 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en-US" sz="1000" u="none" strike="noStrike" dirty="0">
                          <a:effectLst/>
                          <a:latin typeface="微软雅黑" panose="020B0503020204020204" pitchFamily="34" charset="-122"/>
                          <a:ea typeface="微软雅黑" panose="020B0503020204020204" pitchFamily="34" charset="-122"/>
                        </a:rPr>
                        <a:t>JPEG</a:t>
                      </a:r>
                      <a:r>
                        <a:rPr lang="zh-CN" altLang="en-US" sz="1000" u="none" strike="noStrike" dirty="0">
                          <a:effectLst/>
                          <a:latin typeface="微软雅黑" panose="020B0503020204020204" pitchFamily="34" charset="-122"/>
                          <a:ea typeface="微软雅黑" panose="020B0503020204020204" pitchFamily="34" charset="-122"/>
                        </a:rPr>
                        <a:t>图片编码</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dirty="0" smtClean="0">
                          <a:latin typeface="微软雅黑" panose="020B0503020204020204" pitchFamily="34" charset="-122"/>
                          <a:ea typeface="微软雅黑" panose="020B0503020204020204" pitchFamily="34" charset="-122"/>
                        </a:rPr>
                        <a:t>将</a:t>
                      </a:r>
                      <a:r>
                        <a:rPr lang="en-US" altLang="zh-CN" sz="1000" dirty="0" smtClean="0">
                          <a:latin typeface="微软雅黑" panose="020B0503020204020204" pitchFamily="34" charset="-122"/>
                          <a:ea typeface="微软雅黑" panose="020B0503020204020204" pitchFamily="34" charset="-122"/>
                        </a:rPr>
                        <a:t>YUV</a:t>
                      </a:r>
                      <a:r>
                        <a:rPr lang="zh-CN" altLang="en-US" sz="1000" dirty="0" smtClean="0">
                          <a:latin typeface="微软雅黑" panose="020B0503020204020204" pitchFamily="34" charset="-122"/>
                          <a:ea typeface="微软雅黑" panose="020B0503020204020204" pitchFamily="34" charset="-122"/>
                        </a:rPr>
                        <a:t>格式图片编码成</a:t>
                      </a:r>
                      <a:r>
                        <a:rPr lang="en-US" altLang="zh-CN" sz="1000" dirty="0" smtClean="0">
                          <a:latin typeface="微软雅黑" panose="020B0503020204020204" pitchFamily="34" charset="-122"/>
                          <a:ea typeface="微软雅黑" panose="020B0503020204020204" pitchFamily="34" charset="-122"/>
                        </a:rPr>
                        <a:t>.jpg</a:t>
                      </a:r>
                      <a:r>
                        <a:rPr lang="zh-CN" altLang="en-US" sz="1000" dirty="0" smtClean="0">
                          <a:latin typeface="微软雅黑" panose="020B0503020204020204" pitchFamily="34" charset="-122"/>
                          <a:ea typeface="微软雅黑" panose="020B0503020204020204" pitchFamily="34" charset="-122"/>
                        </a:rPr>
                        <a:t>图片，支持</a:t>
                      </a:r>
                      <a:r>
                        <a:rPr lang="en-US" altLang="zh-CN" sz="1000" dirty="0" smtClean="0">
                          <a:latin typeface="微软雅黑" panose="020B0503020204020204" pitchFamily="34" charset="-122"/>
                          <a:ea typeface="微软雅黑" panose="020B0503020204020204" pitchFamily="34" charset="-122"/>
                        </a:rPr>
                        <a:t>YUV422 Packed</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YUV420SP</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NV12,NV21</a:t>
                      </a:r>
                      <a:r>
                        <a:rPr lang="zh-CN" altLang="en-US" sz="1000" dirty="0" smtClean="0">
                          <a:latin typeface="微软雅黑" panose="020B0503020204020204" pitchFamily="34" charset="-122"/>
                          <a:ea typeface="微软雅黑" panose="020B0503020204020204" pitchFamily="34" charset="-122"/>
                        </a:rPr>
                        <a:t>）</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197224">
                <a:tc>
                  <a:txBody>
                    <a:bodyPr/>
                    <a:lstStyle/>
                    <a:p>
                      <a:pPr algn="ctr" fontAlgn="ctr">
                        <a:lnSpc>
                          <a:spcPct val="100000"/>
                        </a:lnSpc>
                        <a:spcBef>
                          <a:spcPts val="0"/>
                        </a:spcBef>
                      </a:pPr>
                      <a:r>
                        <a:rPr lang="en-US" altLang="zh-CN" sz="1000" b="1" u="none" strike="noStrike" smtClean="0">
                          <a:effectLst/>
                          <a:latin typeface="微软雅黑" panose="020B0503020204020204" pitchFamily="34" charset="-122"/>
                          <a:ea typeface="微软雅黑" panose="020B0503020204020204" pitchFamily="34" charset="-122"/>
                        </a:rPr>
                        <a:t>PNGD</a:t>
                      </a:r>
                      <a:endParaRPr lang="en-US" sz="1000" b="1"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en-US" altLang="zh-CN" sz="1000" u="none" strike="noStrike" smtClean="0">
                          <a:effectLst/>
                          <a:latin typeface="微软雅黑" panose="020B0503020204020204" pitchFamily="34" charset="-122"/>
                          <a:ea typeface="微软雅黑" panose="020B0503020204020204" pitchFamily="34" charset="-122"/>
                        </a:rPr>
                        <a:t>Portable Network Graphics Decoder</a:t>
                      </a:r>
                      <a:endParaRPr 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u="none" strike="noStrike" dirty="0">
                          <a:effectLst/>
                          <a:latin typeface="微软雅黑" panose="020B0503020204020204" pitchFamily="34" charset="-122"/>
                          <a:ea typeface="微软雅黑" panose="020B0503020204020204" pitchFamily="34" charset="-122"/>
                        </a:rPr>
                        <a:t>便携式网络图像格式解码</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b="0" i="0" u="none" strike="noStrike" dirty="0" smtClean="0">
                          <a:effectLst/>
                          <a:latin typeface="微软雅黑" panose="020B0503020204020204" pitchFamily="34" charset="-122"/>
                          <a:ea typeface="微软雅黑" panose="020B0503020204020204" pitchFamily="34" charset="-122"/>
                        </a:rPr>
                        <a:t>实现</a:t>
                      </a:r>
                      <a:r>
                        <a:rPr lang="en-US" altLang="zh-CN" sz="1000" b="0" i="0" u="none" strike="noStrike" dirty="0" smtClean="0">
                          <a:effectLst/>
                          <a:latin typeface="微软雅黑" panose="020B0503020204020204" pitchFamily="34" charset="-122"/>
                          <a:ea typeface="微软雅黑" panose="020B0503020204020204" pitchFamily="34" charset="-122"/>
                        </a:rPr>
                        <a:t>PNG</a:t>
                      </a:r>
                      <a:r>
                        <a:rPr lang="zh-CN" altLang="en-US" sz="1000" b="0" i="0" u="none" strike="noStrike" dirty="0" smtClean="0">
                          <a:effectLst/>
                          <a:latin typeface="微软雅黑" panose="020B0503020204020204" pitchFamily="34" charset="-122"/>
                          <a:ea typeface="微软雅黑" panose="020B0503020204020204" pitchFamily="34" charset="-122"/>
                        </a:rPr>
                        <a:t>格式图片的硬件解码。支持</a:t>
                      </a:r>
                      <a:r>
                        <a:rPr lang="en-US" altLang="zh-CN" sz="1000" b="0" i="0" u="none" strike="noStrike" dirty="0" smtClean="0">
                          <a:effectLst/>
                          <a:latin typeface="微软雅黑" panose="020B0503020204020204" pitchFamily="34" charset="-122"/>
                          <a:ea typeface="微软雅黑" panose="020B0503020204020204" pitchFamily="34" charset="-122"/>
                        </a:rPr>
                        <a:t>RGBA</a:t>
                      </a:r>
                      <a:r>
                        <a:rPr lang="zh-CN" altLang="en-US" sz="1000" b="0" i="0" u="none" strike="noStrike" dirty="0" smtClean="0">
                          <a:effectLst/>
                          <a:latin typeface="微软雅黑" panose="020B0503020204020204" pitchFamily="34" charset="-122"/>
                          <a:ea typeface="微软雅黑" panose="020B0503020204020204" pitchFamily="34" charset="-122"/>
                        </a:rPr>
                        <a:t>、</a:t>
                      </a:r>
                      <a:r>
                        <a:rPr lang="en-US" altLang="zh-CN" sz="1000" b="0" i="0" u="none" strike="noStrike" dirty="0" smtClean="0">
                          <a:effectLst/>
                          <a:latin typeface="微软雅黑" panose="020B0503020204020204" pitchFamily="34" charset="-122"/>
                          <a:ea typeface="微软雅黑" panose="020B0503020204020204" pitchFamily="34" charset="-122"/>
                        </a:rPr>
                        <a:t>RGB</a:t>
                      </a:r>
                      <a:r>
                        <a:rPr lang="zh-CN" altLang="en-US" sz="1000" b="0" i="0" u="none" strike="noStrike" dirty="0" smtClean="0">
                          <a:effectLst/>
                          <a:latin typeface="微软雅黑" panose="020B0503020204020204" pitchFamily="34" charset="-122"/>
                          <a:ea typeface="微软雅黑" panose="020B0503020204020204" pitchFamily="34" charset="-122"/>
                        </a:rPr>
                        <a:t>格式的图片解码成</a:t>
                      </a:r>
                      <a:r>
                        <a:rPr lang="en-US" altLang="zh-CN" sz="1000" b="0" i="0" u="none" strike="noStrike" dirty="0" smtClean="0">
                          <a:effectLst/>
                          <a:latin typeface="微软雅黑" panose="020B0503020204020204" pitchFamily="34" charset="-122"/>
                          <a:ea typeface="微软雅黑" panose="020B0503020204020204" pitchFamily="34" charset="-122"/>
                        </a:rPr>
                        <a:t>RGBA</a:t>
                      </a:r>
                      <a:r>
                        <a:rPr lang="zh-CN" altLang="en-US" sz="1000" b="0" i="0" u="none" strike="noStrike" dirty="0" smtClean="0">
                          <a:effectLst/>
                          <a:latin typeface="微软雅黑" panose="020B0503020204020204" pitchFamily="34" charset="-122"/>
                          <a:ea typeface="微软雅黑" panose="020B0503020204020204" pitchFamily="34" charset="-122"/>
                        </a:rPr>
                        <a:t>、</a:t>
                      </a:r>
                      <a:r>
                        <a:rPr lang="en-US" altLang="zh-CN" sz="1000" b="0" i="0" u="none" strike="noStrike" dirty="0" smtClean="0">
                          <a:effectLst/>
                          <a:latin typeface="微软雅黑" panose="020B0503020204020204" pitchFamily="34" charset="-122"/>
                          <a:ea typeface="微软雅黑" panose="020B0503020204020204" pitchFamily="34" charset="-122"/>
                        </a:rPr>
                        <a:t>RGB</a:t>
                      </a:r>
                      <a:r>
                        <a:rPr lang="zh-CN" altLang="en-US" sz="1000" b="0" i="0" u="none" strike="noStrike" dirty="0" smtClean="0">
                          <a:effectLst/>
                          <a:latin typeface="微软雅黑" panose="020B0503020204020204" pitchFamily="34" charset="-122"/>
                          <a:ea typeface="微软雅黑" panose="020B0503020204020204" pitchFamily="34" charset="-122"/>
                        </a:rPr>
                        <a:t>格式</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169704">
                <a:tc>
                  <a:txBody>
                    <a:bodyPr/>
                    <a:lstStyle/>
                    <a:p>
                      <a:pPr algn="ctr" fontAlgn="ctr">
                        <a:lnSpc>
                          <a:spcPct val="100000"/>
                        </a:lnSpc>
                        <a:spcBef>
                          <a:spcPts val="0"/>
                        </a:spcBef>
                      </a:pPr>
                      <a:r>
                        <a:rPr lang="en-US" altLang="zh-CN" sz="1000" b="1" u="none" strike="noStrike" smtClean="0">
                          <a:effectLst/>
                          <a:latin typeface="微软雅黑" panose="020B0503020204020204" pitchFamily="34" charset="-122"/>
                          <a:ea typeface="微软雅黑" panose="020B0503020204020204" pitchFamily="34" charset="-122"/>
                        </a:rPr>
                        <a:t>VDEC</a:t>
                      </a:r>
                      <a:endParaRPr lang="en-US" sz="1000" b="1"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en-US" altLang="zh-CN" sz="1000" u="none" strike="noStrike" smtClean="0">
                          <a:effectLst/>
                          <a:latin typeface="微软雅黑" panose="020B0503020204020204" pitchFamily="34" charset="-122"/>
                          <a:ea typeface="微软雅黑" panose="020B0503020204020204" pitchFamily="34" charset="-122"/>
                        </a:rPr>
                        <a:t>Video Decoder</a:t>
                      </a:r>
                      <a:endParaRPr 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u="none" strike="noStrike" dirty="0">
                          <a:effectLst/>
                          <a:latin typeface="微软雅黑" panose="020B0503020204020204" pitchFamily="34" charset="-122"/>
                          <a:ea typeface="微软雅黑" panose="020B0503020204020204" pitchFamily="34" charset="-122"/>
                        </a:rPr>
                        <a:t>视频解码</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dirty="0" smtClean="0">
                          <a:latin typeface="微软雅黑" panose="020B0503020204020204" pitchFamily="34" charset="-122"/>
                          <a:ea typeface="微软雅黑" panose="020B0503020204020204" pitchFamily="34" charset="-122"/>
                        </a:rPr>
                        <a:t>支持</a:t>
                      </a:r>
                      <a:r>
                        <a:rPr lang="en-US" altLang="zh-CN" sz="1000" dirty="0" smtClean="0">
                          <a:latin typeface="微软雅黑" panose="020B0503020204020204" pitchFamily="34" charset="-122"/>
                          <a:ea typeface="微软雅黑" panose="020B0503020204020204" pitchFamily="34" charset="-122"/>
                        </a:rPr>
                        <a:t>H264</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H265</a:t>
                      </a:r>
                      <a:r>
                        <a:rPr lang="zh-CN" altLang="en-US" sz="1000" dirty="0" smtClean="0">
                          <a:latin typeface="微软雅黑" panose="020B0503020204020204" pitchFamily="34" charset="-122"/>
                          <a:ea typeface="微软雅黑" panose="020B0503020204020204" pitchFamily="34" charset="-122"/>
                        </a:rPr>
                        <a:t>两种视频格式的解码</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159999">
                <a:tc>
                  <a:txBody>
                    <a:bodyPr/>
                    <a:lstStyle/>
                    <a:p>
                      <a:pPr algn="ctr" fontAlgn="ctr">
                        <a:lnSpc>
                          <a:spcPct val="100000"/>
                        </a:lnSpc>
                        <a:spcBef>
                          <a:spcPts val="0"/>
                        </a:spcBef>
                      </a:pPr>
                      <a:r>
                        <a:rPr lang="en-US" altLang="zh-CN" sz="1000" b="1" u="none" strike="noStrike" smtClean="0">
                          <a:effectLst/>
                          <a:latin typeface="微软雅黑" panose="020B0503020204020204" pitchFamily="34" charset="-122"/>
                          <a:ea typeface="微软雅黑" panose="020B0503020204020204" pitchFamily="34" charset="-122"/>
                        </a:rPr>
                        <a:t>VENC</a:t>
                      </a:r>
                      <a:endParaRPr lang="en-US" sz="1000" b="1"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en-US" altLang="zh-CN" sz="1000" u="none" strike="noStrike" smtClean="0">
                          <a:effectLst/>
                          <a:latin typeface="微软雅黑" panose="020B0503020204020204" pitchFamily="34" charset="-122"/>
                          <a:ea typeface="微软雅黑" panose="020B0503020204020204" pitchFamily="34" charset="-122"/>
                        </a:rPr>
                        <a:t>Video Encoder</a:t>
                      </a:r>
                      <a:endParaRPr 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u="none" strike="noStrike" dirty="0">
                          <a:effectLst/>
                          <a:latin typeface="微软雅黑" panose="020B0503020204020204" pitchFamily="34" charset="-122"/>
                          <a:ea typeface="微软雅黑" panose="020B0503020204020204" pitchFamily="34" charset="-122"/>
                        </a:rPr>
                        <a:t>视频编码</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lnSpc>
                          <a:spcPct val="100000"/>
                        </a:lnSpc>
                        <a:spcBef>
                          <a:spcPts val="0"/>
                        </a:spcBef>
                      </a:pPr>
                      <a:r>
                        <a:rPr lang="zh-CN" altLang="en-US" sz="1000" dirty="0" smtClean="0">
                          <a:latin typeface="微软雅黑" panose="020B0503020204020204" pitchFamily="34" charset="-122"/>
                          <a:ea typeface="微软雅黑" panose="020B0503020204020204" pitchFamily="34" charset="-122"/>
                        </a:rPr>
                        <a:t>实现</a:t>
                      </a:r>
                      <a:r>
                        <a:rPr lang="en-US" altLang="zh-CN" sz="1000" dirty="0" smtClean="0">
                          <a:latin typeface="微软雅黑" panose="020B0503020204020204" pitchFamily="34" charset="-122"/>
                          <a:ea typeface="微软雅黑" panose="020B0503020204020204" pitchFamily="34" charset="-122"/>
                        </a:rPr>
                        <a:t>YUV/YVU420</a:t>
                      </a:r>
                      <a:r>
                        <a:rPr lang="zh-CN" altLang="en-US" sz="1000" dirty="0" smtClean="0">
                          <a:latin typeface="微软雅黑" panose="020B0503020204020204" pitchFamily="34" charset="-122"/>
                          <a:ea typeface="微软雅黑" panose="020B0503020204020204" pitchFamily="34" charset="-122"/>
                        </a:rPr>
                        <a:t>图片数据的编码，支持</a:t>
                      </a:r>
                      <a:r>
                        <a:rPr lang="en-US" altLang="zh-CN" sz="1000" dirty="0" smtClean="0">
                          <a:latin typeface="微软雅黑" panose="020B0503020204020204" pitchFamily="34" charset="-122"/>
                          <a:ea typeface="微软雅黑" panose="020B0503020204020204" pitchFamily="34" charset="-122"/>
                        </a:rPr>
                        <a:t>H264</a:t>
                      </a:r>
                      <a:r>
                        <a:rPr lang="zh-CN" altLang="en-US" sz="1000" dirty="0" smtClean="0">
                          <a:latin typeface="微软雅黑" panose="020B0503020204020204" pitchFamily="34" charset="-122"/>
                          <a:ea typeface="微软雅黑" panose="020B0503020204020204" pitchFamily="34" charset="-122"/>
                        </a:rPr>
                        <a:t>、</a:t>
                      </a:r>
                      <a:r>
                        <a:rPr lang="en-US" altLang="zh-CN" sz="1000" dirty="0" smtClean="0">
                          <a:latin typeface="微软雅黑" panose="020B0503020204020204" pitchFamily="34" charset="-122"/>
                          <a:ea typeface="微软雅黑" panose="020B0503020204020204" pitchFamily="34" charset="-122"/>
                        </a:rPr>
                        <a:t>H265</a:t>
                      </a:r>
                      <a:r>
                        <a:rPr lang="zh-CN" altLang="en-US" sz="1000" dirty="0" smtClean="0">
                          <a:latin typeface="微软雅黑" panose="020B0503020204020204" pitchFamily="34" charset="-122"/>
                          <a:ea typeface="微软雅黑" panose="020B0503020204020204" pitchFamily="34" charset="-122"/>
                        </a:rPr>
                        <a:t>两种视频格式的编码</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7619" marR="7619" marT="76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bl>
          </a:graphicData>
        </a:graphic>
      </p:graphicFrame>
      <p:sp>
        <p:nvSpPr>
          <p:cNvPr id="6" name="文本框 5"/>
          <p:cNvSpPr txBox="1"/>
          <p:nvPr/>
        </p:nvSpPr>
        <p:spPr>
          <a:xfrm>
            <a:off x="5712287" y="1413570"/>
            <a:ext cx="5339254" cy="2862322"/>
          </a:xfrm>
          <a:prstGeom prst="rect">
            <a:avLst/>
          </a:prstGeom>
          <a:noFill/>
        </p:spPr>
        <p:txBody>
          <a:bodyPr wrap="square" rtlCol="0">
            <a:spAutoFit/>
          </a:bodyPr>
          <a:lstStyle/>
          <a:p>
            <a:r>
              <a:rPr lang="zh-CN" altLang="zh-CN" sz="2000" dirty="0" smtClean="0"/>
              <a:t>受</a:t>
            </a:r>
            <a:r>
              <a:rPr lang="zh-CN" altLang="zh-CN" sz="2000" dirty="0"/>
              <a:t>网络结构和训练方式等因素的影响，绝大多数神经网络模型对输入数据都有格式上的限制。在计算视觉领域，这个限制大多体现在图像的尺寸、色域、归一化</a:t>
            </a:r>
            <a:r>
              <a:rPr lang="zh-CN" altLang="zh-CN" sz="2000" dirty="0" smtClean="0"/>
              <a:t>参数。</a:t>
            </a:r>
            <a:endParaRPr lang="en-US" altLang="zh-CN" sz="2000" dirty="0" smtClean="0"/>
          </a:p>
          <a:p>
            <a:r>
              <a:rPr lang="zh-CN" altLang="zh-CN" sz="2000" dirty="0" smtClean="0"/>
              <a:t>昇</a:t>
            </a:r>
            <a:r>
              <a:rPr lang="zh-CN" altLang="zh-CN" sz="2000" dirty="0"/>
              <a:t>腾软件栈提供了两套专门用于数据预处理的工具</a:t>
            </a:r>
            <a:r>
              <a:rPr lang="zh-CN" altLang="zh-CN" sz="2000" dirty="0" smtClean="0"/>
              <a:t>，其中一套叫做</a:t>
            </a:r>
            <a:r>
              <a:rPr lang="en-US" altLang="zh-CN" sz="2000" dirty="0" smtClean="0"/>
              <a:t>AIPP</a:t>
            </a:r>
            <a:r>
              <a:rPr lang="zh-CN" altLang="zh-CN" sz="2000" dirty="0" smtClean="0"/>
              <a:t> ；</a:t>
            </a:r>
            <a:endParaRPr lang="en-US" altLang="zh-CN" sz="2000" dirty="0" smtClean="0"/>
          </a:p>
          <a:p>
            <a:r>
              <a:rPr lang="zh-CN" altLang="zh-CN" sz="2000" dirty="0" smtClean="0"/>
              <a:t>另一套叫做</a:t>
            </a:r>
            <a:r>
              <a:rPr lang="en-US" altLang="zh-CN" sz="2000" dirty="0" smtClean="0"/>
              <a:t>DVPP</a:t>
            </a:r>
            <a:r>
              <a:rPr lang="zh-CN" altLang="zh-CN" sz="2000" dirty="0" smtClean="0"/>
              <a:t>（</a:t>
            </a:r>
            <a:r>
              <a:rPr lang="en-US" altLang="zh-CN" sz="2000" dirty="0" smtClean="0"/>
              <a:t>Digital Vision Preprocessing</a:t>
            </a:r>
            <a:r>
              <a:rPr lang="zh-CN" altLang="zh-CN" sz="2000" dirty="0" smtClean="0"/>
              <a:t>），</a:t>
            </a:r>
            <a:r>
              <a:rPr lang="zh-CN" altLang="en-US" sz="2000" dirty="0" smtClean="0"/>
              <a:t>也就是</a:t>
            </a:r>
            <a:r>
              <a:rPr lang="zh-CN" altLang="zh-CN" sz="2000" dirty="0" smtClean="0"/>
              <a:t>数字视觉预处理模块。</a:t>
            </a:r>
            <a:endParaRPr lang="zh-CN" altLang="zh-CN" sz="2000" dirty="0"/>
          </a:p>
        </p:txBody>
      </p:sp>
    </p:spTree>
    <p:extLst>
      <p:ext uri="{BB962C8B-B14F-4D97-AF65-F5344CB8AC3E}">
        <p14:creationId xmlns:p14="http://schemas.microsoft.com/office/powerpoint/2010/main" val="3209119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数据预处理</a:t>
            </a:r>
            <a:r>
              <a:rPr lang="zh-CN" altLang="en-US" dirty="0" smtClean="0"/>
              <a:t>之</a:t>
            </a:r>
            <a:r>
              <a:rPr lang="en-US" altLang="zh-CN" dirty="0" smtClean="0"/>
              <a:t>AIPP</a:t>
            </a:r>
            <a:endParaRPr lang="zh-CN" altLang="en-US" dirty="0"/>
          </a:p>
        </p:txBody>
      </p:sp>
      <p:sp>
        <p:nvSpPr>
          <p:cNvPr id="3" name="矩形 2"/>
          <p:cNvSpPr/>
          <p:nvPr/>
        </p:nvSpPr>
        <p:spPr>
          <a:xfrm>
            <a:off x="696987" y="1485576"/>
            <a:ext cx="10657184" cy="3908762"/>
          </a:xfrm>
          <a:prstGeom prst="rect">
            <a:avLst/>
          </a:prstGeom>
        </p:spPr>
        <p:txBody>
          <a:bodyPr wrap="square">
            <a:spAutoFit/>
          </a:bodyPr>
          <a:lstStyle/>
          <a:p>
            <a:r>
              <a:rPr lang="en-US" altLang="zh-CN" sz="2000" dirty="0"/>
              <a:t>AIPP</a:t>
            </a:r>
            <a:r>
              <a:rPr lang="zh-CN" altLang="en-US" sz="2000" dirty="0" smtClean="0"/>
              <a:t>：</a:t>
            </a:r>
            <a:r>
              <a:rPr lang="en-US" altLang="zh-CN" sz="2000" dirty="0" smtClean="0"/>
              <a:t>AIPP</a:t>
            </a:r>
            <a:r>
              <a:rPr lang="zh-CN" altLang="en-US" sz="2000" dirty="0"/>
              <a:t>（</a:t>
            </a:r>
            <a:r>
              <a:rPr lang="en-US" altLang="zh-CN" sz="2000" dirty="0"/>
              <a:t>AI Preprocessing</a:t>
            </a:r>
            <a:r>
              <a:rPr lang="zh-CN" altLang="en-US" sz="2000" dirty="0"/>
              <a:t>）用于在</a:t>
            </a:r>
            <a:r>
              <a:rPr lang="en-US" altLang="zh-CN" sz="2000" dirty="0"/>
              <a:t>AI Core</a:t>
            </a:r>
            <a:r>
              <a:rPr lang="zh-CN" altLang="en-US" sz="2000" dirty="0"/>
              <a:t>上完成图像预处理，包括色域转换（转换图像格式）、图像归一化（减均值</a:t>
            </a:r>
            <a:r>
              <a:rPr lang="en-US" altLang="zh-CN" sz="2000" dirty="0"/>
              <a:t>/</a:t>
            </a:r>
            <a:r>
              <a:rPr lang="zh-CN" altLang="en-US" sz="2000" dirty="0"/>
              <a:t>乘系数）和抠图（指定抠图起始点，抠出神经网络需要大小的图片）等</a:t>
            </a:r>
            <a:r>
              <a:rPr lang="zh-CN" altLang="en-US" sz="2000" dirty="0" smtClean="0"/>
              <a:t>。</a:t>
            </a:r>
            <a:endParaRPr lang="en-US" altLang="zh-CN" sz="2000" dirty="0" smtClean="0"/>
          </a:p>
          <a:p>
            <a:endParaRPr lang="en-US" altLang="zh-CN" sz="2000" dirty="0"/>
          </a:p>
          <a:p>
            <a:r>
              <a:rPr lang="en-US" altLang="zh-CN" sz="2000" dirty="0" smtClean="0"/>
              <a:t>AIPP</a:t>
            </a:r>
            <a:r>
              <a:rPr lang="zh-CN" altLang="en-US" sz="2000" dirty="0"/>
              <a:t>区分为静态</a:t>
            </a:r>
            <a:r>
              <a:rPr lang="en-US" altLang="zh-CN" sz="2000" dirty="0"/>
              <a:t>AIPP</a:t>
            </a:r>
            <a:r>
              <a:rPr lang="zh-CN" altLang="en-US" sz="2000" dirty="0"/>
              <a:t>和动态</a:t>
            </a:r>
            <a:r>
              <a:rPr lang="en-US" altLang="zh-CN" sz="2000" dirty="0"/>
              <a:t>AIPP</a:t>
            </a:r>
            <a:r>
              <a:rPr lang="zh-CN" altLang="en-US" sz="2000" dirty="0"/>
              <a:t>。您只能选择静态</a:t>
            </a:r>
            <a:r>
              <a:rPr lang="en-US" altLang="zh-CN" sz="2000" dirty="0"/>
              <a:t>AIPP</a:t>
            </a:r>
            <a:r>
              <a:rPr lang="zh-CN" altLang="en-US" sz="2000" dirty="0"/>
              <a:t>或动态</a:t>
            </a:r>
            <a:r>
              <a:rPr lang="en-US" altLang="zh-CN" sz="2000" dirty="0"/>
              <a:t>AIPP</a:t>
            </a:r>
            <a:r>
              <a:rPr lang="zh-CN" altLang="en-US" sz="2000" dirty="0"/>
              <a:t>方式来处理图片，不能同时配置静态</a:t>
            </a:r>
            <a:r>
              <a:rPr lang="en-US" altLang="zh-CN" sz="2000" dirty="0"/>
              <a:t>AIPP</a:t>
            </a:r>
            <a:r>
              <a:rPr lang="zh-CN" altLang="en-US" sz="2000" dirty="0"/>
              <a:t>和动态</a:t>
            </a:r>
            <a:r>
              <a:rPr lang="en-US" altLang="zh-CN" sz="2000" dirty="0"/>
              <a:t>AIPP</a:t>
            </a:r>
            <a:r>
              <a:rPr lang="zh-CN" altLang="en-US" sz="2000" dirty="0"/>
              <a:t>两种方式</a:t>
            </a:r>
            <a:r>
              <a:rPr lang="zh-CN" altLang="en-US" sz="2000" dirty="0" smtClean="0"/>
              <a:t>。</a:t>
            </a:r>
            <a:endParaRPr lang="en-US" altLang="zh-CN" sz="2000" dirty="0" smtClean="0"/>
          </a:p>
          <a:p>
            <a:endParaRPr lang="zh-CN" altLang="en-US" sz="1600" dirty="0"/>
          </a:p>
          <a:p>
            <a:r>
              <a:rPr lang="zh-CN" altLang="en-US" sz="1600" b="1" dirty="0" smtClean="0"/>
              <a:t>静态</a:t>
            </a:r>
            <a:r>
              <a:rPr lang="en-US" altLang="zh-CN" sz="1600" b="1" dirty="0"/>
              <a:t>AIPP</a:t>
            </a:r>
            <a:r>
              <a:rPr lang="zh-CN" altLang="en-US" sz="1600" b="1" dirty="0"/>
              <a:t>：</a:t>
            </a:r>
            <a:r>
              <a:rPr lang="zh-CN" altLang="en-US" sz="1600" dirty="0"/>
              <a:t>模型转换时设置</a:t>
            </a:r>
            <a:r>
              <a:rPr lang="en-US" altLang="zh-CN" sz="1600" dirty="0"/>
              <a:t>AIPP</a:t>
            </a:r>
            <a:r>
              <a:rPr lang="zh-CN" altLang="en-US" sz="1600" dirty="0"/>
              <a:t>模式为静态，同时设置</a:t>
            </a:r>
            <a:r>
              <a:rPr lang="en-US" altLang="zh-CN" sz="1600" dirty="0"/>
              <a:t>AIPP</a:t>
            </a:r>
            <a:r>
              <a:rPr lang="zh-CN" altLang="en-US" sz="1600" dirty="0"/>
              <a:t>参数，模型生成后，</a:t>
            </a:r>
            <a:r>
              <a:rPr lang="en-US" altLang="zh-CN" sz="1600" dirty="0"/>
              <a:t>AIPP</a:t>
            </a:r>
            <a:r>
              <a:rPr lang="zh-CN" altLang="en-US" sz="1600" dirty="0"/>
              <a:t>参数值被保存在离线模型（*</a:t>
            </a:r>
            <a:r>
              <a:rPr lang="en-US" altLang="zh-CN" sz="1600" dirty="0"/>
              <a:t>.om</a:t>
            </a:r>
            <a:r>
              <a:rPr lang="zh-CN" altLang="en-US" sz="1600" dirty="0"/>
              <a:t>）中，每次模型推理过程采用固定的</a:t>
            </a:r>
            <a:r>
              <a:rPr lang="en-US" altLang="zh-CN" sz="1600" dirty="0"/>
              <a:t>AIPP</a:t>
            </a:r>
            <a:r>
              <a:rPr lang="zh-CN" altLang="en-US" sz="1600" dirty="0"/>
              <a:t>预处理参数（无法修改）</a:t>
            </a:r>
            <a:r>
              <a:rPr lang="zh-CN" altLang="en-US" sz="1600" dirty="0" smtClean="0"/>
              <a:t>。 </a:t>
            </a:r>
            <a:r>
              <a:rPr lang="zh-CN" altLang="en-US" sz="1600" dirty="0"/>
              <a:t>如果使用静态</a:t>
            </a:r>
            <a:r>
              <a:rPr lang="en-US" altLang="zh-CN" sz="1600" dirty="0"/>
              <a:t>AIPP</a:t>
            </a:r>
            <a:r>
              <a:rPr lang="zh-CN" altLang="en-US" sz="1600" dirty="0"/>
              <a:t>方式，多</a:t>
            </a:r>
            <a:r>
              <a:rPr lang="en-US" altLang="zh-CN" sz="1600" dirty="0"/>
              <a:t>Batch</a:t>
            </a:r>
            <a:r>
              <a:rPr lang="zh-CN" altLang="en-US" sz="1600" dirty="0"/>
              <a:t>情况下共用同一份</a:t>
            </a:r>
            <a:r>
              <a:rPr lang="en-US" altLang="zh-CN" sz="1600" dirty="0"/>
              <a:t>AIPP</a:t>
            </a:r>
            <a:r>
              <a:rPr lang="zh-CN" altLang="en-US" sz="1600" dirty="0"/>
              <a:t>参数。</a:t>
            </a:r>
          </a:p>
          <a:p>
            <a:endParaRPr lang="zh-CN" altLang="en-US" sz="1600" dirty="0"/>
          </a:p>
          <a:p>
            <a:r>
              <a:rPr lang="zh-CN" altLang="en-US" sz="1600" b="1" dirty="0"/>
              <a:t>动态</a:t>
            </a:r>
            <a:r>
              <a:rPr lang="en-US" altLang="zh-CN" sz="1600" b="1" dirty="0"/>
              <a:t>AIPP</a:t>
            </a:r>
            <a:r>
              <a:rPr lang="zh-CN" altLang="en-US" sz="1600" dirty="0"/>
              <a:t>：模型转换时仅设置</a:t>
            </a:r>
            <a:r>
              <a:rPr lang="en-US" altLang="zh-CN" sz="1600" dirty="0"/>
              <a:t>AIPP</a:t>
            </a:r>
            <a:r>
              <a:rPr lang="zh-CN" altLang="en-US" sz="1600" dirty="0"/>
              <a:t>模式为动态，每次模型推理前，根据需求，在执行模型前设置动态</a:t>
            </a:r>
            <a:r>
              <a:rPr lang="en-US" altLang="zh-CN" sz="1600" dirty="0"/>
              <a:t>AIPP</a:t>
            </a:r>
            <a:r>
              <a:rPr lang="zh-CN" altLang="en-US" sz="1600" dirty="0"/>
              <a:t>参数值，然后在模型执行时可使用不同的</a:t>
            </a:r>
            <a:r>
              <a:rPr lang="en-US" altLang="zh-CN" sz="1600" dirty="0"/>
              <a:t>AIPP</a:t>
            </a:r>
            <a:r>
              <a:rPr lang="zh-CN" altLang="en-US" sz="1600" dirty="0"/>
              <a:t>参数。设置动态</a:t>
            </a:r>
            <a:r>
              <a:rPr lang="en-US" altLang="zh-CN" sz="1600" dirty="0"/>
              <a:t>AIPP</a:t>
            </a:r>
            <a:r>
              <a:rPr lang="zh-CN" altLang="en-US" sz="1600" dirty="0"/>
              <a:t>参数值的接口请参见设置动态</a:t>
            </a:r>
            <a:r>
              <a:rPr lang="en-US" altLang="zh-CN" sz="1600" dirty="0"/>
              <a:t>AIPP</a:t>
            </a:r>
            <a:r>
              <a:rPr lang="zh-CN" altLang="en-US" sz="1600" dirty="0"/>
              <a:t>参数</a:t>
            </a:r>
            <a:r>
              <a:rPr lang="zh-CN" altLang="en-US" sz="1600" dirty="0" smtClean="0"/>
              <a:t>。如果</a:t>
            </a:r>
            <a:r>
              <a:rPr lang="zh-CN" altLang="en-US" sz="1600" dirty="0"/>
              <a:t>使用动态</a:t>
            </a:r>
            <a:r>
              <a:rPr lang="en-US" altLang="zh-CN" sz="1600" dirty="0"/>
              <a:t>AIPP</a:t>
            </a:r>
            <a:r>
              <a:rPr lang="zh-CN" altLang="en-US" sz="1600" dirty="0"/>
              <a:t>方式，多</a:t>
            </a:r>
            <a:r>
              <a:rPr lang="en-US" altLang="zh-CN" sz="1600" dirty="0"/>
              <a:t>Batch</a:t>
            </a:r>
            <a:r>
              <a:rPr lang="zh-CN" altLang="en-US" sz="1600" dirty="0"/>
              <a:t>可使用不同的</a:t>
            </a:r>
            <a:r>
              <a:rPr lang="en-US" altLang="zh-CN" sz="1600" dirty="0"/>
              <a:t>AIPP</a:t>
            </a:r>
            <a:r>
              <a:rPr lang="zh-CN" altLang="en-US" sz="1600" dirty="0"/>
              <a:t>参数。</a:t>
            </a:r>
          </a:p>
        </p:txBody>
      </p:sp>
    </p:spTree>
    <p:extLst>
      <p:ext uri="{BB962C8B-B14F-4D97-AF65-F5344CB8AC3E}">
        <p14:creationId xmlns:p14="http://schemas.microsoft.com/office/powerpoint/2010/main" val="1151584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smtClean="0"/>
              <a:t>目标检测概述</a:t>
            </a:r>
            <a:endParaRPr lang="en-US" altLang="zh-CN" dirty="0" smtClean="0"/>
          </a:p>
          <a:p>
            <a:r>
              <a:rPr lang="zh-CN" altLang="en-US" dirty="0" smtClean="0"/>
              <a:t>目标检测关键技术</a:t>
            </a:r>
            <a:endParaRPr lang="en-US" altLang="zh-CN" dirty="0" smtClean="0"/>
          </a:p>
          <a:p>
            <a:r>
              <a:rPr lang="zh-CN" altLang="en-US" dirty="0" smtClean="0"/>
              <a:t>基于昇腾</a:t>
            </a:r>
            <a:r>
              <a:rPr lang="en-US" altLang="zh-CN" dirty="0" smtClean="0"/>
              <a:t>AI</a:t>
            </a:r>
            <a:r>
              <a:rPr lang="zh-CN" altLang="en-US" dirty="0" smtClean="0"/>
              <a:t>处理器的应用开发流程</a:t>
            </a:r>
            <a:endParaRPr lang="en-US" altLang="zh-CN" dirty="0" smtClean="0"/>
          </a:p>
          <a:p>
            <a:r>
              <a:rPr lang="zh-CN" altLang="en-US" b="1" dirty="0" smtClean="0"/>
              <a:t>目标检测应用开发实战</a:t>
            </a:r>
            <a:endParaRPr lang="zh-CN" altLang="en-US" b="1" dirty="0"/>
          </a:p>
        </p:txBody>
      </p:sp>
    </p:spTree>
    <p:extLst>
      <p:ext uri="{BB962C8B-B14F-4D97-AF65-F5344CB8AC3E}">
        <p14:creationId xmlns:p14="http://schemas.microsoft.com/office/powerpoint/2010/main" val="2522822179"/>
      </p:ext>
    </p:extLst>
  </p:cSld>
  <p:clrMapOvr>
    <a:masterClrMapping/>
  </p:clrMapOvr>
  <mc:AlternateContent xmlns:mc="http://schemas.openxmlformats.org/markup-compatibility/2006" xmlns:p14="http://schemas.microsoft.com/office/powerpoint/2010/main">
    <mc:Choice Requires="p14">
      <p:transition spd="slow" p14:dur="2000" advTm="11430"/>
    </mc:Choice>
    <mc:Fallback xmlns="">
      <p:transition spd="slow" advTm="1143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kern="0" dirty="0">
                <a:sym typeface="+mn-ea"/>
              </a:rPr>
              <a:t>目标检测应用</a:t>
            </a:r>
            <a:r>
              <a:rPr lang="zh-CN" altLang="en-US" kern="0" dirty="0" smtClean="0">
                <a:sym typeface="+mn-ea"/>
              </a:rPr>
              <a:t>开发</a:t>
            </a:r>
            <a:r>
              <a:rPr lang="en-US" altLang="zh-CN" kern="0" dirty="0">
                <a:sym typeface="+mn-ea"/>
              </a:rPr>
              <a:t> </a:t>
            </a:r>
            <a:r>
              <a:rPr lang="en-US" altLang="zh-CN" kern="0" dirty="0" smtClean="0">
                <a:sym typeface="+mn-ea"/>
              </a:rPr>
              <a:t>- </a:t>
            </a:r>
            <a:r>
              <a:rPr lang="zh-CN" altLang="en-US" kern="0" dirty="0" smtClean="0">
                <a:sym typeface="+mn-ea"/>
              </a:rPr>
              <a:t>模型获取</a:t>
            </a:r>
            <a:endParaRPr lang="zh-CN" altLang="en-US" dirty="0"/>
          </a:p>
        </p:txBody>
      </p:sp>
      <p:sp>
        <p:nvSpPr>
          <p:cNvPr id="4" name="文本框 3"/>
          <p:cNvSpPr txBox="1"/>
          <p:nvPr/>
        </p:nvSpPr>
        <p:spPr>
          <a:xfrm>
            <a:off x="797222" y="909514"/>
            <a:ext cx="9974980" cy="1938992"/>
          </a:xfrm>
          <a:prstGeom prst="rect">
            <a:avLst/>
          </a:prstGeom>
          <a:noFill/>
        </p:spPr>
        <p:txBody>
          <a:bodyPr wrap="square" rtlCol="0">
            <a:spAutoFit/>
          </a:bodyPr>
          <a:lstStyle/>
          <a:p>
            <a:r>
              <a:rPr lang="zh-CN" altLang="en-US" b="1" dirty="0"/>
              <a:t/>
            </a:r>
            <a:br>
              <a:rPr lang="zh-CN" altLang="en-US" b="1" dirty="0"/>
            </a:br>
            <a:r>
              <a:rPr lang="zh-CN" altLang="en-US" b="1" dirty="0"/>
              <a:t>原始模型网络链接地址</a:t>
            </a:r>
            <a:r>
              <a:rPr lang="en-US" altLang="zh-CN" b="1" dirty="0"/>
              <a:t>:</a:t>
            </a:r>
          </a:p>
          <a:p>
            <a:r>
              <a:rPr lang="en-US" altLang="zh-CN" dirty="0">
                <a:hlinkClick r:id="rId2"/>
              </a:rPr>
              <a:t>https://</a:t>
            </a:r>
            <a:r>
              <a:rPr lang="en-US" altLang="zh-CN" dirty="0" smtClean="0">
                <a:hlinkClick r:id="rId2"/>
              </a:rPr>
              <a:t>github.com/weiliu89/caffe/tree/ssd</a:t>
            </a:r>
            <a:endParaRPr lang="en-US" altLang="zh-CN" dirty="0" smtClean="0"/>
          </a:p>
          <a:p>
            <a:r>
              <a:rPr lang="zh-CN" altLang="en-US" b="1" dirty="0"/>
              <a:t>原始</a:t>
            </a:r>
            <a:r>
              <a:rPr lang="zh-CN" altLang="en-US" b="1" dirty="0" smtClean="0"/>
              <a:t>模型测试脚本</a:t>
            </a:r>
            <a:r>
              <a:rPr lang="en-US" altLang="zh-CN" b="1" dirty="0" smtClean="0"/>
              <a:t>:</a:t>
            </a:r>
            <a:endParaRPr lang="en-US" altLang="zh-CN" dirty="0"/>
          </a:p>
          <a:p>
            <a:r>
              <a:rPr lang="en-US" altLang="zh-CN" dirty="0" smtClean="0">
                <a:hlinkClick r:id="rId3"/>
              </a:rPr>
              <a:t>https</a:t>
            </a:r>
            <a:r>
              <a:rPr lang="en-US" altLang="zh-CN" dirty="0">
                <a:hlinkClick r:id="rId3"/>
              </a:rPr>
              <a:t>://github.com/weiliu89/caffe/blob/ssd/examples/ssd/ssd_detect.py</a:t>
            </a:r>
            <a:endParaRPr lang="zh-CN" altLang="zh-CN" dirty="0"/>
          </a:p>
        </p:txBody>
      </p:sp>
      <p:sp>
        <p:nvSpPr>
          <p:cNvPr id="6" name="矩形 5"/>
          <p:cNvSpPr/>
          <p:nvPr/>
        </p:nvSpPr>
        <p:spPr>
          <a:xfrm>
            <a:off x="6512295" y="3000945"/>
            <a:ext cx="4815175" cy="2923877"/>
          </a:xfrm>
          <a:prstGeom prst="rect">
            <a:avLst/>
          </a:prstGeom>
        </p:spPr>
        <p:txBody>
          <a:bodyPr wrap="square">
            <a:spAutoFit/>
          </a:bodyPr>
          <a:lstStyle/>
          <a:p>
            <a:pPr>
              <a:spcAft>
                <a:spcPts val="0"/>
              </a:spcAft>
            </a:pPr>
            <a:endParaRPr lang="en-US" altLang="zh-CN" sz="2000" b="1" dirty="0" smtClean="0">
              <a:latin typeface="+mn-ea"/>
              <a:cs typeface="Times New Roman" panose="02020603050405020304" pitchFamily="18" charset="0"/>
            </a:endParaRPr>
          </a:p>
          <a:p>
            <a:pPr>
              <a:spcAft>
                <a:spcPts val="0"/>
              </a:spcAft>
            </a:pPr>
            <a:r>
              <a:rPr lang="zh-CN" altLang="zh-CN" sz="2000" b="1" dirty="0" smtClean="0">
                <a:latin typeface="+mn-ea"/>
                <a:cs typeface="Times New Roman" panose="02020603050405020304" pitchFamily="18" charset="0"/>
              </a:rPr>
              <a:t>预处理</a:t>
            </a:r>
            <a:r>
              <a:rPr lang="zh-CN" altLang="zh-CN" sz="2000" b="1" dirty="0">
                <a:latin typeface="+mn-ea"/>
                <a:cs typeface="Times New Roman" panose="02020603050405020304" pitchFamily="18" charset="0"/>
              </a:rPr>
              <a:t>过程：</a:t>
            </a:r>
            <a:endParaRPr lang="zh-CN" altLang="zh-CN" sz="2800" b="1" dirty="0">
              <a:latin typeface="+mn-ea"/>
              <a:cs typeface="宋体" panose="02010600030101010101" pitchFamily="2" charset="-122"/>
            </a:endParaRPr>
          </a:p>
          <a:p>
            <a:pPr>
              <a:spcAft>
                <a:spcPts val="0"/>
              </a:spcAft>
            </a:pPr>
            <a:r>
              <a:rPr lang="zh-CN" altLang="zh-CN" sz="2000" dirty="0">
                <a:latin typeface="+mn-ea"/>
                <a:cs typeface="Times New Roman" panose="02020603050405020304" pitchFamily="18" charset="0"/>
              </a:rPr>
              <a:t>加载图像数据</a:t>
            </a:r>
            <a:r>
              <a:rPr lang="en-US" altLang="zh-CN" sz="2000" dirty="0">
                <a:latin typeface="+mn-ea"/>
                <a:cs typeface="Times New Roman" panose="02020603050405020304" pitchFamily="18" charset="0"/>
              </a:rPr>
              <a:t>-&gt;</a:t>
            </a:r>
            <a:r>
              <a:rPr lang="zh-CN" altLang="zh-CN" sz="2000" dirty="0">
                <a:latin typeface="+mn-ea"/>
                <a:cs typeface="Times New Roman" panose="02020603050405020304" pitchFamily="18" charset="0"/>
              </a:rPr>
              <a:t>转</a:t>
            </a:r>
            <a:r>
              <a:rPr lang="en-US" altLang="zh-CN" sz="2000" dirty="0">
                <a:latin typeface="+mn-ea"/>
                <a:cs typeface="宋体" panose="02010600030101010101" pitchFamily="2" charset="-122"/>
              </a:rPr>
              <a:t>float32-&gt;NCHW-</a:t>
            </a:r>
            <a:r>
              <a:rPr lang="en-US" altLang="zh-CN" sz="2000" dirty="0" smtClean="0">
                <a:latin typeface="+mn-ea"/>
                <a:cs typeface="宋体" panose="02010600030101010101" pitchFamily="2" charset="-122"/>
              </a:rPr>
              <a:t>&gt;</a:t>
            </a:r>
            <a:r>
              <a:rPr lang="en-US" altLang="zh-CN" sz="2000" dirty="0">
                <a:latin typeface="+mn-ea"/>
                <a:cs typeface="宋体" panose="02010600030101010101" pitchFamily="2" charset="-122"/>
              </a:rPr>
              <a:t>BGR</a:t>
            </a:r>
            <a:r>
              <a:rPr lang="en-US" altLang="zh-CN" sz="2000" dirty="0" smtClean="0">
                <a:latin typeface="+mn-ea"/>
                <a:cs typeface="宋体" panose="02010600030101010101" pitchFamily="2" charset="-122"/>
              </a:rPr>
              <a:t>-&gt;</a:t>
            </a:r>
            <a:r>
              <a:rPr lang="en-US" altLang="zh-CN" sz="2000" dirty="0" smtClean="0">
                <a:solidFill>
                  <a:srgbClr val="FF0000"/>
                </a:solidFill>
                <a:latin typeface="+mn-ea"/>
                <a:cs typeface="宋体" panose="02010600030101010101" pitchFamily="2" charset="-122"/>
              </a:rPr>
              <a:t>resize(300,300)</a:t>
            </a:r>
            <a:r>
              <a:rPr lang="en-US" altLang="zh-CN" sz="2000" dirty="0" smtClean="0">
                <a:latin typeface="+mn-ea"/>
                <a:cs typeface="宋体" panose="02010600030101010101" pitchFamily="2" charset="-122"/>
              </a:rPr>
              <a:t>-&gt;</a:t>
            </a:r>
            <a:r>
              <a:rPr lang="zh-CN" altLang="en-US" sz="2000" dirty="0" smtClean="0">
                <a:latin typeface="+mn-ea"/>
                <a:cs typeface="宋体" panose="02010600030101010101" pitchFamily="2" charset="-122"/>
              </a:rPr>
              <a:t>减均值</a:t>
            </a:r>
            <a:r>
              <a:rPr lang="en-US" altLang="zh-CN" sz="1600" dirty="0" smtClean="0">
                <a:solidFill>
                  <a:srgbClr val="24292E"/>
                </a:solidFill>
                <a:latin typeface="+mn-ea"/>
                <a:cs typeface="宋体" panose="02010600030101010101" pitchFamily="2" charset="-122"/>
              </a:rPr>
              <a:t>[</a:t>
            </a:r>
            <a:r>
              <a:rPr lang="en-US" altLang="zh-CN" sz="1600" dirty="0" smtClean="0">
                <a:solidFill>
                  <a:srgbClr val="005CC5"/>
                </a:solidFill>
                <a:latin typeface="+mn-ea"/>
                <a:cs typeface="宋体" panose="02010600030101010101" pitchFamily="2" charset="-122"/>
              </a:rPr>
              <a:t>104</a:t>
            </a:r>
            <a:r>
              <a:rPr lang="en-US" altLang="zh-CN" sz="1600" dirty="0">
                <a:solidFill>
                  <a:srgbClr val="24292E"/>
                </a:solidFill>
                <a:latin typeface="+mn-ea"/>
                <a:cs typeface="宋体" panose="02010600030101010101" pitchFamily="2" charset="-122"/>
              </a:rPr>
              <a:t>, </a:t>
            </a:r>
            <a:r>
              <a:rPr lang="en-US" altLang="zh-CN" sz="1600" dirty="0">
                <a:solidFill>
                  <a:srgbClr val="005CC5"/>
                </a:solidFill>
                <a:latin typeface="+mn-ea"/>
                <a:cs typeface="宋体" panose="02010600030101010101" pitchFamily="2" charset="-122"/>
              </a:rPr>
              <a:t>117</a:t>
            </a:r>
            <a:r>
              <a:rPr lang="en-US" altLang="zh-CN" sz="1600" dirty="0">
                <a:solidFill>
                  <a:srgbClr val="24292E"/>
                </a:solidFill>
                <a:latin typeface="+mn-ea"/>
                <a:cs typeface="宋体" panose="02010600030101010101" pitchFamily="2" charset="-122"/>
              </a:rPr>
              <a:t>, </a:t>
            </a:r>
            <a:r>
              <a:rPr lang="en-US" altLang="zh-CN" sz="1600" dirty="0">
                <a:solidFill>
                  <a:srgbClr val="005CC5"/>
                </a:solidFill>
                <a:latin typeface="+mn-ea"/>
                <a:cs typeface="宋体" panose="02010600030101010101" pitchFamily="2" charset="-122"/>
              </a:rPr>
              <a:t>123</a:t>
            </a:r>
            <a:r>
              <a:rPr lang="en-US" altLang="zh-CN" sz="1600" dirty="0">
                <a:solidFill>
                  <a:srgbClr val="24292E"/>
                </a:solidFill>
                <a:latin typeface="+mn-ea"/>
                <a:cs typeface="宋体" panose="02010600030101010101" pitchFamily="2" charset="-122"/>
              </a:rPr>
              <a:t>]</a:t>
            </a:r>
            <a:endParaRPr lang="zh-CN" altLang="zh-CN" sz="2800" dirty="0">
              <a:latin typeface="+mn-ea"/>
              <a:cs typeface="宋体" panose="02010600030101010101" pitchFamily="2" charset="-122"/>
            </a:endParaRPr>
          </a:p>
          <a:p>
            <a:pPr>
              <a:spcAft>
                <a:spcPts val="0"/>
              </a:spcAft>
            </a:pPr>
            <a:endParaRPr lang="en-US" altLang="zh-CN" sz="1600" dirty="0" smtClean="0">
              <a:solidFill>
                <a:srgbClr val="24292E"/>
              </a:solidFill>
              <a:latin typeface="+mn-ea"/>
              <a:cs typeface="宋体" panose="02010600030101010101" pitchFamily="2" charset="-122"/>
            </a:endParaRPr>
          </a:p>
          <a:p>
            <a:pPr>
              <a:spcAft>
                <a:spcPts val="0"/>
              </a:spcAft>
            </a:pPr>
            <a:r>
              <a:rPr lang="en-US" altLang="zh-CN" sz="1800" dirty="0">
                <a:solidFill>
                  <a:srgbClr val="24292E"/>
                </a:solidFill>
                <a:latin typeface="+mn-ea"/>
                <a:cs typeface="宋体" panose="02010600030101010101" pitchFamily="2" charset="-122"/>
              </a:rPr>
              <a:t> </a:t>
            </a:r>
            <a:endParaRPr lang="en-US" altLang="zh-CN" sz="1800" dirty="0" smtClean="0">
              <a:solidFill>
                <a:srgbClr val="24292E"/>
              </a:solidFill>
              <a:latin typeface="+mn-ea"/>
              <a:cs typeface="宋体" panose="02010600030101010101" pitchFamily="2" charset="-122"/>
            </a:endParaRPr>
          </a:p>
          <a:p>
            <a:pPr>
              <a:spcAft>
                <a:spcPts val="0"/>
              </a:spcAft>
            </a:pPr>
            <a:endParaRPr lang="en-US" altLang="zh-CN" sz="1800" dirty="0">
              <a:solidFill>
                <a:srgbClr val="24292E"/>
              </a:solidFill>
              <a:latin typeface="+mn-ea"/>
              <a:cs typeface="宋体" panose="02010600030101010101" pitchFamily="2" charset="-122"/>
            </a:endParaRPr>
          </a:p>
          <a:p>
            <a:pPr>
              <a:spcAft>
                <a:spcPts val="0"/>
              </a:spcAft>
            </a:pPr>
            <a:r>
              <a:rPr lang="zh-CN" altLang="zh-CN" sz="2000" b="1" dirty="0" smtClean="0">
                <a:solidFill>
                  <a:srgbClr val="24292E"/>
                </a:solidFill>
                <a:latin typeface="+mn-ea"/>
                <a:cs typeface="宋体" panose="02010600030101010101" pitchFamily="2" charset="-122"/>
              </a:rPr>
              <a:t>后处理：</a:t>
            </a:r>
            <a:endParaRPr lang="zh-CN" altLang="zh-CN" sz="2000" b="1" dirty="0">
              <a:latin typeface="+mn-ea"/>
              <a:cs typeface="宋体" panose="02010600030101010101" pitchFamily="2" charset="-122"/>
            </a:endParaRPr>
          </a:p>
          <a:p>
            <a:pPr>
              <a:spcAft>
                <a:spcPts val="0"/>
              </a:spcAft>
            </a:pPr>
            <a:r>
              <a:rPr lang="zh-CN" altLang="zh-CN" sz="1600" dirty="0">
                <a:solidFill>
                  <a:srgbClr val="24292E"/>
                </a:solidFill>
                <a:latin typeface="+mn-ea"/>
                <a:cs typeface="宋体" panose="02010600030101010101" pitchFamily="2" charset="-122"/>
              </a:rPr>
              <a:t>【</a:t>
            </a:r>
            <a:r>
              <a:rPr lang="en-US" altLang="zh-CN" sz="1600" dirty="0">
                <a:solidFill>
                  <a:srgbClr val="24292E"/>
                </a:solidFill>
                <a:latin typeface="+mn-ea"/>
                <a:cs typeface="宋体" panose="02010600030101010101" pitchFamily="2" charset="-122"/>
              </a:rPr>
              <a:t>1</a:t>
            </a:r>
            <a:r>
              <a:rPr lang="zh-CN" altLang="zh-CN" sz="1600" dirty="0">
                <a:solidFill>
                  <a:srgbClr val="24292E"/>
                </a:solidFill>
                <a:latin typeface="+mn-ea"/>
                <a:cs typeface="宋体" panose="02010600030101010101" pitchFamily="2" charset="-122"/>
              </a:rPr>
              <a:t>，</a:t>
            </a:r>
            <a:r>
              <a:rPr lang="en-US" altLang="zh-CN" sz="1600" dirty="0">
                <a:solidFill>
                  <a:srgbClr val="24292E"/>
                </a:solidFill>
                <a:latin typeface="+mn-ea"/>
                <a:cs typeface="宋体" panose="02010600030101010101" pitchFamily="2" charset="-122"/>
              </a:rPr>
              <a:t>2</a:t>
            </a:r>
            <a:r>
              <a:rPr lang="zh-CN" altLang="zh-CN" sz="1600" dirty="0">
                <a:solidFill>
                  <a:srgbClr val="24292E"/>
                </a:solidFill>
                <a:latin typeface="+mn-ea"/>
                <a:cs typeface="宋体" panose="02010600030101010101" pitchFamily="2" charset="-122"/>
              </a:rPr>
              <a:t>，</a:t>
            </a:r>
            <a:r>
              <a:rPr lang="en-US" altLang="zh-CN" sz="1600" dirty="0">
                <a:solidFill>
                  <a:srgbClr val="24292E"/>
                </a:solidFill>
                <a:latin typeface="+mn-ea"/>
                <a:cs typeface="宋体" panose="02010600030101010101" pitchFamily="2" charset="-122"/>
              </a:rPr>
              <a:t>200</a:t>
            </a:r>
            <a:r>
              <a:rPr lang="zh-CN" altLang="zh-CN" sz="1600" dirty="0">
                <a:solidFill>
                  <a:srgbClr val="24292E"/>
                </a:solidFill>
                <a:latin typeface="+mn-ea"/>
                <a:cs typeface="宋体" panose="02010600030101010101" pitchFamily="2" charset="-122"/>
              </a:rPr>
              <a:t>，</a:t>
            </a:r>
            <a:r>
              <a:rPr lang="en-US" altLang="zh-CN" sz="1600" dirty="0">
                <a:solidFill>
                  <a:srgbClr val="24292E"/>
                </a:solidFill>
                <a:latin typeface="+mn-ea"/>
                <a:cs typeface="宋体" panose="02010600030101010101" pitchFamily="2" charset="-122"/>
              </a:rPr>
              <a:t>7</a:t>
            </a:r>
            <a:r>
              <a:rPr lang="zh-CN" altLang="zh-CN" sz="1600" dirty="0" smtClean="0">
                <a:solidFill>
                  <a:srgbClr val="24292E"/>
                </a:solidFill>
                <a:latin typeface="+mn-ea"/>
                <a:cs typeface="宋体" panose="02010600030101010101" pitchFamily="2" charset="-122"/>
              </a:rPr>
              <a:t>】</a:t>
            </a:r>
            <a:endParaRPr lang="zh-CN" altLang="zh-CN" sz="2800" dirty="0">
              <a:latin typeface="+mn-ea"/>
              <a:cs typeface="宋体" panose="02010600030101010101" pitchFamily="2" charset="-122"/>
            </a:endParaRPr>
          </a:p>
        </p:txBody>
      </p:sp>
      <p:sp>
        <p:nvSpPr>
          <p:cNvPr id="8" name="右箭头 7"/>
          <p:cNvSpPr/>
          <p:nvPr/>
        </p:nvSpPr>
        <p:spPr>
          <a:xfrm>
            <a:off x="5054544" y="3716710"/>
            <a:ext cx="971834" cy="288032"/>
          </a:xfrm>
          <a:prstGeom prst="rightArrow">
            <a:avLst/>
          </a:prstGeom>
          <a:solidFill>
            <a:schemeClr val="bg1"/>
          </a:solidFill>
          <a:ln>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5089475" y="5300886"/>
            <a:ext cx="1008112" cy="360040"/>
          </a:xfrm>
          <a:prstGeom prst="rightArrow">
            <a:avLst/>
          </a:prstGeom>
          <a:solidFill>
            <a:schemeClr val="bg1"/>
          </a:solidFill>
          <a:ln>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74" name="图片 2" descr="159127804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995" y="3023736"/>
            <a:ext cx="4456785" cy="3116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3600" kern="0" dirty="0">
                <a:sym typeface="+mn-ea"/>
              </a:rPr>
              <a:t>目标检测应用</a:t>
            </a:r>
            <a:r>
              <a:rPr lang="zh-CN" altLang="en-US" sz="3600" kern="0" dirty="0" smtClean="0">
                <a:sym typeface="+mn-ea"/>
              </a:rPr>
              <a:t>开发 </a:t>
            </a:r>
            <a:r>
              <a:rPr lang="en-US" altLang="zh-CN" sz="3600" kern="0" dirty="0" smtClean="0">
                <a:sym typeface="+mn-ea"/>
              </a:rPr>
              <a:t>- </a:t>
            </a:r>
            <a:r>
              <a:rPr lang="zh-CN" altLang="en-US" sz="3600" dirty="0" smtClean="0"/>
              <a:t>预处理</a:t>
            </a:r>
            <a:r>
              <a:rPr lang="zh-CN" altLang="en-US" sz="3600" dirty="0"/>
              <a:t>方案</a:t>
            </a:r>
          </a:p>
        </p:txBody>
      </p:sp>
      <p:sp>
        <p:nvSpPr>
          <p:cNvPr id="3" name="矩形 2"/>
          <p:cNvSpPr/>
          <p:nvPr/>
        </p:nvSpPr>
        <p:spPr>
          <a:xfrm>
            <a:off x="172550" y="1592966"/>
            <a:ext cx="11256826" cy="3887738"/>
          </a:xfrm>
          <a:prstGeom prst="rect">
            <a:avLst/>
          </a:prstGeom>
        </p:spPr>
        <p:txBody>
          <a:bodyPr wrap="square">
            <a:spAutoFit/>
          </a:bodyPr>
          <a:lstStyle/>
          <a:p>
            <a:pPr marL="540331" algn="just">
              <a:spcBef>
                <a:spcPts val="400"/>
              </a:spcBef>
              <a:spcAft>
                <a:spcPts val="400"/>
              </a:spcAft>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基于对原始模型的理解，</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以及对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DVPP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AIPP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的了解，</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在图像预处理时</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DVPP</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AIPP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如下</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分工</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DVPP</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解码：</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JPEG</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图片先解码为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YUV420SP</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（输出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128*16</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对齐）</a:t>
            </a: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2. </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图像缩放：</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cropandpast</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300,304</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zh-CN" sz="1600" dirty="0" smtClean="0">
                <a:latin typeface="微软雅黑" panose="020B0503020204020204" pitchFamily="34" charset="-122"/>
                <a:ea typeface="微软雅黑" panose="020B0503020204020204" pitchFamily="34" charset="-122"/>
                <a:cs typeface="微软雅黑" panose="020B0503020204020204" pitchFamily="34" charset="-122"/>
              </a:rPr>
              <a:t>输出数据类型：</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uint8</a:t>
            </a:r>
            <a:endParaRPr lang="zh-CN"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AIPP</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色域转换：</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YUV-&gt;BGR</a:t>
            </a:r>
            <a:endParaRPr lang="zh-CN"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2. </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减均值</a:t>
            </a: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3. </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抠出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Crop</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0, 0</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300,300</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marL="540331" algn="just">
              <a:spcBef>
                <a:spcPts val="400"/>
              </a:spcBef>
              <a:spcAft>
                <a:spcPts val="400"/>
              </a:spcAft>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4. </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图像数据类型转换：</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Uint8-&gt;FP16</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（达芬奇推理的要求，模型最后实际的输入是</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fp16</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rPr>
              <a:t>）</a:t>
            </a:r>
          </a:p>
        </p:txBody>
      </p:sp>
    </p:spTree>
    <p:extLst>
      <p:ext uri="{BB962C8B-B14F-4D97-AF65-F5344CB8AC3E}">
        <p14:creationId xmlns:p14="http://schemas.microsoft.com/office/powerpoint/2010/main" val="3462999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ym typeface="+mn-ea"/>
              </a:rPr>
              <a:t>目标检测应用</a:t>
            </a:r>
            <a:r>
              <a:rPr lang="zh-CN" altLang="en-US" kern="0" dirty="0" smtClean="0">
                <a:sym typeface="+mn-ea"/>
              </a:rPr>
              <a:t>开发</a:t>
            </a:r>
            <a:r>
              <a:rPr lang="en-US" altLang="zh-CN" kern="0" dirty="0">
                <a:sym typeface="+mn-ea"/>
              </a:rPr>
              <a:t> </a:t>
            </a:r>
            <a:r>
              <a:rPr lang="en-US" altLang="zh-CN" kern="0" dirty="0" smtClean="0">
                <a:sym typeface="+mn-ea"/>
              </a:rPr>
              <a:t>- </a:t>
            </a:r>
            <a:r>
              <a:rPr lang="zh-CN" altLang="en-US" kern="0" dirty="0" smtClean="0">
                <a:sym typeface="+mn-ea"/>
              </a:rPr>
              <a:t>模型</a:t>
            </a:r>
            <a:r>
              <a:rPr lang="zh-CN" altLang="en-US" kern="0" dirty="0">
                <a:sym typeface="+mn-ea"/>
              </a:rPr>
              <a:t>转换</a:t>
            </a:r>
            <a:endParaRPr lang="zh-CN" altLang="en-US" dirty="0"/>
          </a:p>
        </p:txBody>
      </p:sp>
      <p:pic>
        <p:nvPicPr>
          <p:cNvPr id="10" name="图片 9"/>
          <p:cNvPicPr/>
          <p:nvPr/>
        </p:nvPicPr>
        <p:blipFill>
          <a:blip r:embed="rId3">
            <a:extLst>
              <a:ext uri="{28A0092B-C50C-407E-A947-70E740481C1C}">
                <a14:useLocalDpi xmlns:a14="http://schemas.microsoft.com/office/drawing/2010/main" val="0"/>
              </a:ext>
            </a:extLst>
          </a:blip>
          <a:srcRect/>
          <a:stretch>
            <a:fillRect/>
          </a:stretch>
        </p:blipFill>
        <p:spPr>
          <a:xfrm>
            <a:off x="6454831" y="1620909"/>
            <a:ext cx="5403850" cy="4511040"/>
          </a:xfrm>
          <a:prstGeom prst="rect">
            <a:avLst/>
          </a:prstGeom>
          <a:noFill/>
          <a:ln>
            <a:noFill/>
          </a:ln>
        </p:spPr>
      </p:pic>
      <p:pic>
        <p:nvPicPr>
          <p:cNvPr id="11" name="图片 10"/>
          <p:cNvPicPr>
            <a:picLocks noChangeAspect="1"/>
          </p:cNvPicPr>
          <p:nvPr/>
        </p:nvPicPr>
        <p:blipFill>
          <a:blip r:embed="rId4"/>
          <a:stretch>
            <a:fillRect/>
          </a:stretch>
        </p:blipFill>
        <p:spPr>
          <a:xfrm>
            <a:off x="511232" y="3717664"/>
            <a:ext cx="5943600" cy="2414285"/>
          </a:xfrm>
          <a:prstGeom prst="rect">
            <a:avLst/>
          </a:prstGeom>
        </p:spPr>
      </p:pic>
      <p:pic>
        <p:nvPicPr>
          <p:cNvPr id="12" name="图片 11"/>
          <p:cNvPicPr>
            <a:picLocks noChangeAspect="1"/>
          </p:cNvPicPr>
          <p:nvPr/>
        </p:nvPicPr>
        <p:blipFill>
          <a:blip r:embed="rId5"/>
          <a:stretch>
            <a:fillRect/>
          </a:stretch>
        </p:blipFill>
        <p:spPr>
          <a:xfrm>
            <a:off x="511231" y="1620909"/>
            <a:ext cx="5943600" cy="1981200"/>
          </a:xfrm>
          <a:prstGeom prst="rect">
            <a:avLst/>
          </a:prstGeom>
        </p:spPr>
      </p:pic>
    </p:spTree>
    <p:extLst>
      <p:ext uri="{BB962C8B-B14F-4D97-AF65-F5344CB8AC3E}">
        <p14:creationId xmlns:p14="http://schemas.microsoft.com/office/powerpoint/2010/main" val="21496931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kern="0" dirty="0">
                <a:sym typeface="+mn-ea"/>
              </a:rPr>
              <a:t>目标检测应用</a:t>
            </a:r>
            <a:r>
              <a:rPr lang="zh-CN" altLang="en-US" kern="0" dirty="0" smtClean="0">
                <a:sym typeface="+mn-ea"/>
              </a:rPr>
              <a:t>开发</a:t>
            </a:r>
            <a:r>
              <a:rPr lang="en-US" altLang="zh-CN" kern="0" dirty="0" smtClean="0">
                <a:sym typeface="+mn-ea"/>
              </a:rPr>
              <a:t>--</a:t>
            </a:r>
            <a:r>
              <a:rPr lang="zh-CN" altLang="en-US" kern="0" dirty="0" smtClean="0">
                <a:sym typeface="+mn-ea"/>
              </a:rPr>
              <a:t>开发过程</a:t>
            </a:r>
            <a:r>
              <a:rPr lang="zh-CN" altLang="en-US" b="1" kern="0" dirty="0"/>
              <a:t/>
            </a:r>
            <a:br>
              <a:rPr lang="zh-CN" altLang="en-US" b="1" kern="0" dirty="0"/>
            </a:br>
            <a:endParaRPr lang="zh-CN" altLang="en-US" dirty="0"/>
          </a:p>
        </p:txBody>
      </p:sp>
      <p:pic>
        <p:nvPicPr>
          <p:cNvPr id="3" name="图片 2"/>
          <p:cNvPicPr>
            <a:picLocks noChangeAspect="1"/>
          </p:cNvPicPr>
          <p:nvPr/>
        </p:nvPicPr>
        <p:blipFill>
          <a:blip r:embed="rId3"/>
          <a:stretch>
            <a:fillRect/>
          </a:stretch>
        </p:blipFill>
        <p:spPr>
          <a:xfrm>
            <a:off x="1429422" y="1059742"/>
            <a:ext cx="4870067" cy="5355159"/>
          </a:xfrm>
          <a:prstGeom prst="rect">
            <a:avLst/>
          </a:prstGeom>
        </p:spPr>
      </p:pic>
      <p:pic>
        <p:nvPicPr>
          <p:cNvPr id="4" name="图片 3"/>
          <p:cNvPicPr>
            <a:picLocks noChangeAspect="1"/>
          </p:cNvPicPr>
          <p:nvPr/>
        </p:nvPicPr>
        <p:blipFill>
          <a:blip r:embed="rId4"/>
          <a:stretch>
            <a:fillRect/>
          </a:stretch>
        </p:blipFill>
        <p:spPr>
          <a:xfrm>
            <a:off x="6790209" y="1501977"/>
            <a:ext cx="4639166" cy="4470688"/>
          </a:xfrm>
          <a:prstGeom prst="rect">
            <a:avLst/>
          </a:prstGeom>
        </p:spPr>
      </p:pic>
      <p:sp>
        <p:nvSpPr>
          <p:cNvPr id="6" name="圆角矩形 5"/>
          <p:cNvSpPr/>
          <p:nvPr/>
        </p:nvSpPr>
        <p:spPr>
          <a:xfrm>
            <a:off x="7177707" y="1197546"/>
            <a:ext cx="576064" cy="304431"/>
          </a:xfrm>
          <a:prstGeom prst="roundRect">
            <a:avLst/>
          </a:prstGeom>
          <a:solidFill>
            <a:schemeClr val="bg1"/>
          </a:solidFill>
          <a:ln>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4</a:t>
            </a:r>
            <a:endParaRPr lang="zh-CN" altLang="en-US" dirty="0">
              <a:solidFill>
                <a:schemeClr val="tx1"/>
              </a:solidFill>
            </a:endParaRPr>
          </a:p>
        </p:txBody>
      </p:sp>
    </p:spTree>
    <p:extLst>
      <p:ext uri="{BB962C8B-B14F-4D97-AF65-F5344CB8AC3E}">
        <p14:creationId xmlns:p14="http://schemas.microsoft.com/office/powerpoint/2010/main" val="28684871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目标检测应用开发</a:t>
            </a:r>
            <a:r>
              <a:rPr lang="zh-CN" altLang="en-US" dirty="0" smtClean="0"/>
              <a:t>--通过</a:t>
            </a:r>
            <a:r>
              <a:rPr lang="zh-CN" altLang="en-US" dirty="0"/>
              <a:t>云端实验实战</a:t>
            </a:r>
          </a:p>
        </p:txBody>
      </p:sp>
      <p:pic>
        <p:nvPicPr>
          <p:cNvPr id="7" name="图片 6"/>
          <p:cNvPicPr>
            <a:picLocks noChangeAspect="1"/>
          </p:cNvPicPr>
          <p:nvPr/>
        </p:nvPicPr>
        <p:blipFill>
          <a:blip r:embed="rId2"/>
          <a:stretch>
            <a:fillRect/>
          </a:stretch>
        </p:blipFill>
        <p:spPr>
          <a:xfrm>
            <a:off x="960699" y="1773291"/>
            <a:ext cx="10394066" cy="4441910"/>
          </a:xfrm>
          <a:prstGeom prst="rect">
            <a:avLst/>
          </a:prstGeom>
        </p:spPr>
      </p:pic>
      <p:sp>
        <p:nvSpPr>
          <p:cNvPr id="3" name="文本框 2"/>
          <p:cNvSpPr txBox="1"/>
          <p:nvPr/>
        </p:nvSpPr>
        <p:spPr>
          <a:xfrm>
            <a:off x="960755" y="1313180"/>
            <a:ext cx="5675630" cy="368300"/>
          </a:xfrm>
          <a:prstGeom prst="rect">
            <a:avLst/>
          </a:prstGeom>
          <a:noFill/>
        </p:spPr>
        <p:txBody>
          <a:bodyPr wrap="none" rtlCol="0" anchor="t">
            <a:spAutoFit/>
          </a:bodyPr>
          <a:lstStyle/>
          <a:p>
            <a:r>
              <a:rPr lang="en-US" altLang="zh-CN" sz="1800" dirty="0">
                <a:sym typeface="+mn-ea"/>
                <a:hlinkClick r:id="rId3"/>
              </a:rPr>
              <a:t>https://</a:t>
            </a:r>
            <a:r>
              <a:rPr lang="en-US" altLang="zh-CN" sz="1800" dirty="0" smtClean="0">
                <a:sym typeface="+mn-ea"/>
                <a:hlinkClick r:id="rId3"/>
              </a:rPr>
              <a:t>lab.huaweicloud.com/testdetail.html?testId=441</a:t>
            </a:r>
            <a:endParaRPr lang="zh-CN" altLang="en-US" sz="18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kern="0" dirty="0">
                <a:sym typeface="+mn-ea"/>
              </a:rPr>
              <a:t>昇腾</a:t>
            </a:r>
            <a:r>
              <a:rPr lang="zh-CN" altLang="en-US" kern="0" dirty="0" smtClean="0">
                <a:sym typeface="+mn-ea"/>
              </a:rPr>
              <a:t>学院</a:t>
            </a:r>
            <a:r>
              <a:rPr lang="en-US" altLang="zh-CN" kern="0" dirty="0" smtClean="0">
                <a:sym typeface="+mn-ea"/>
              </a:rPr>
              <a:t>—</a:t>
            </a:r>
            <a:r>
              <a:rPr lang="zh-CN" altLang="en-US" kern="0" dirty="0" smtClean="0">
                <a:sym typeface="+mn-ea"/>
              </a:rPr>
              <a:t>更多在线实验</a:t>
            </a:r>
            <a:r>
              <a:rPr lang="zh-CN" altLang="en-US" dirty="0"/>
              <a:t/>
            </a:r>
            <a:br>
              <a:rPr lang="zh-CN" altLang="en-US" dirty="0"/>
            </a:br>
            <a:endParaRPr lang="zh-CN" altLang="en-US"/>
          </a:p>
        </p:txBody>
      </p:sp>
      <p:pic>
        <p:nvPicPr>
          <p:cNvPr id="5" name="图片 4"/>
          <p:cNvPicPr>
            <a:picLocks noChangeAspect="1"/>
          </p:cNvPicPr>
          <p:nvPr/>
        </p:nvPicPr>
        <p:blipFill>
          <a:blip r:embed="rId2"/>
          <a:stretch>
            <a:fillRect/>
          </a:stretch>
        </p:blipFill>
        <p:spPr>
          <a:xfrm>
            <a:off x="1421176" y="1614283"/>
            <a:ext cx="9144001" cy="4552683"/>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应用案例实战 </a:t>
            </a:r>
            <a:r>
              <a:rPr lang="en-US" altLang="zh-CN" dirty="0" smtClean="0"/>
              <a:t>--</a:t>
            </a:r>
            <a:r>
              <a:rPr lang="zh-CN" altLang="en-US" dirty="0" smtClean="0"/>
              <a:t> </a:t>
            </a:r>
            <a:r>
              <a:rPr lang="zh-CN" altLang="en-US" dirty="0"/>
              <a:t>更多</a:t>
            </a:r>
          </a:p>
        </p:txBody>
      </p:sp>
      <p:sp>
        <p:nvSpPr>
          <p:cNvPr id="5" name="文本框 4"/>
          <p:cNvSpPr txBox="1"/>
          <p:nvPr/>
        </p:nvSpPr>
        <p:spPr>
          <a:xfrm>
            <a:off x="691515" y="1617345"/>
            <a:ext cx="4259580" cy="1569660"/>
          </a:xfrm>
          <a:prstGeom prst="rect">
            <a:avLst/>
          </a:prstGeom>
          <a:noFill/>
        </p:spPr>
        <p:txBody>
          <a:bodyPr wrap="square" rtlCol="0">
            <a:spAutoFit/>
          </a:bodyPr>
          <a:lstStyle/>
          <a:p>
            <a:r>
              <a:rPr lang="zh-CN" altLang="en-US" sz="1600" b="1" dirty="0" smtClean="0">
                <a:latin typeface="微软雅黑" pitchFamily="34" charset="-122"/>
                <a:ea typeface="微软雅黑" pitchFamily="34" charset="-122"/>
                <a:sym typeface="+mn-ea"/>
              </a:rPr>
              <a:t>访问</a:t>
            </a:r>
            <a:r>
              <a:rPr lang="en-US" altLang="zh-CN" sz="1600" b="1" dirty="0" smtClean="0">
                <a:latin typeface="微软雅黑" pitchFamily="34" charset="-122"/>
                <a:ea typeface="微软雅黑" pitchFamily="34" charset="-122"/>
                <a:sym typeface="+mn-ea"/>
              </a:rPr>
              <a:t>Ascend</a:t>
            </a:r>
            <a:r>
              <a:rPr lang="zh-CN" altLang="en-US" sz="1600" b="1" dirty="0" smtClean="0">
                <a:latin typeface="微软雅黑" pitchFamily="34" charset="-122"/>
                <a:ea typeface="微软雅黑" pitchFamily="34" charset="-122"/>
                <a:sym typeface="+mn-ea"/>
              </a:rPr>
              <a:t>官方社区：</a:t>
            </a:r>
            <a:endParaRPr lang="en-US" altLang="zh-CN" sz="1600" b="1" dirty="0" smtClean="0">
              <a:latin typeface="微软雅黑" pitchFamily="34" charset="-122"/>
              <a:ea typeface="微软雅黑" pitchFamily="34" charset="-122"/>
              <a:sym typeface="+mn-ea"/>
            </a:endParaRPr>
          </a:p>
          <a:p>
            <a:r>
              <a:rPr lang="en-US" altLang="zh-CN" sz="1600" dirty="0">
                <a:hlinkClick r:id="rId3"/>
              </a:rPr>
              <a:t>http://ascend.huawei.com</a:t>
            </a:r>
            <a:r>
              <a:rPr lang="en-US" altLang="zh-CN" sz="1600" dirty="0" smtClean="0">
                <a:hlinkClick r:id="rId3"/>
              </a:rPr>
              <a:t>/</a:t>
            </a:r>
            <a:endParaRPr lang="en-US" altLang="zh-CN" sz="1600" dirty="0" smtClean="0"/>
          </a:p>
          <a:p>
            <a:endParaRPr lang="en-US" altLang="zh-CN" sz="1600" b="1" dirty="0">
              <a:latin typeface="微软雅黑" pitchFamily="34" charset="-122"/>
              <a:ea typeface="微软雅黑" pitchFamily="34" charset="-122"/>
              <a:sym typeface="+mn-ea"/>
            </a:endParaRPr>
          </a:p>
          <a:p>
            <a:r>
              <a:rPr lang="zh-CN" altLang="en-US" sz="1600" b="1" dirty="0" smtClean="0">
                <a:latin typeface="微软雅黑" pitchFamily="34" charset="-122"/>
                <a:ea typeface="微软雅黑" pitchFamily="34" charset="-122"/>
                <a:sym typeface="+mn-ea"/>
              </a:rPr>
              <a:t>了解更多案例：开发者 </a:t>
            </a:r>
            <a:r>
              <a:rPr lang="en-US" altLang="zh-CN" sz="1600" b="1" dirty="0" smtClean="0">
                <a:latin typeface="微软雅黑" pitchFamily="34" charset="-122"/>
                <a:ea typeface="微软雅黑" pitchFamily="34" charset="-122"/>
                <a:sym typeface="+mn-ea"/>
              </a:rPr>
              <a:t>--》</a:t>
            </a:r>
            <a:r>
              <a:rPr lang="zh-CN" altLang="en-US" sz="1600" b="1" dirty="0" smtClean="0">
                <a:latin typeface="微软雅黑" pitchFamily="34" charset="-122"/>
                <a:ea typeface="微软雅黑" pitchFamily="34" charset="-122"/>
                <a:sym typeface="+mn-ea"/>
              </a:rPr>
              <a:t>社区项目 </a:t>
            </a:r>
            <a:r>
              <a:rPr lang="en-US" altLang="zh-CN" sz="1600" dirty="0">
                <a:sym typeface="+mn-ea"/>
                <a:hlinkClick r:id="rId4"/>
              </a:rPr>
              <a:t>https://www.huaweicloud.com/ascend/Apps</a:t>
            </a:r>
            <a:endParaRPr lang="zh-CN" altLang="en-US" sz="1600" dirty="0">
              <a:latin typeface="微软雅黑" pitchFamily="34" charset="-122"/>
              <a:ea typeface="微软雅黑" pitchFamily="34" charset="-122"/>
            </a:endParaRPr>
          </a:p>
          <a:p>
            <a:endParaRPr lang="zh-CN" altLang="en-US" sz="1600" dirty="0"/>
          </a:p>
        </p:txBody>
      </p:sp>
      <p:pic>
        <p:nvPicPr>
          <p:cNvPr id="6" name="图片 5"/>
          <p:cNvPicPr>
            <a:picLocks noChangeAspect="1"/>
          </p:cNvPicPr>
          <p:nvPr/>
        </p:nvPicPr>
        <p:blipFill>
          <a:blip r:embed="rId5"/>
          <a:stretch>
            <a:fillRect/>
          </a:stretch>
        </p:blipFill>
        <p:spPr>
          <a:xfrm>
            <a:off x="4951095" y="1617345"/>
            <a:ext cx="6190615" cy="2303145"/>
          </a:xfrm>
          <a:prstGeom prst="rect">
            <a:avLst/>
          </a:prstGeom>
        </p:spPr>
      </p:pic>
      <p:pic>
        <p:nvPicPr>
          <p:cNvPr id="7" name="图片 6"/>
          <p:cNvPicPr>
            <a:picLocks noChangeAspect="1"/>
          </p:cNvPicPr>
          <p:nvPr/>
        </p:nvPicPr>
        <p:blipFill>
          <a:blip r:embed="rId6"/>
          <a:stretch>
            <a:fillRect/>
          </a:stretch>
        </p:blipFill>
        <p:spPr>
          <a:xfrm>
            <a:off x="4951095" y="4026535"/>
            <a:ext cx="6220460" cy="233489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封面01">
  <a:themeElements>
    <a:clrScheme name="Offic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fontScheme name="ycukh4gh">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fontScheme name="ycukh4gh">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0070C0"/>
          </a:solidFill>
          <a:prstDash val="sysDot"/>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8630</TotalTime>
  <Words>3611</Words>
  <Application>Microsoft Office PowerPoint</Application>
  <PresentationFormat>自定义</PresentationFormat>
  <Paragraphs>316</Paragraphs>
  <Slides>30</Slides>
  <Notes>19</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30</vt:i4>
      </vt:variant>
    </vt:vector>
  </HeadingPairs>
  <TitlesOfParts>
    <vt:vector size="40" baseType="lpstr">
      <vt:lpstr>宋体</vt:lpstr>
      <vt:lpstr>Microsoft YaHei</vt:lpstr>
      <vt:lpstr>Microsoft YaHei</vt:lpstr>
      <vt:lpstr>Arial</vt:lpstr>
      <vt:lpstr>Calibri</vt:lpstr>
      <vt:lpstr>Huawei Sans</vt:lpstr>
      <vt:lpstr>Times New Roman</vt:lpstr>
      <vt:lpstr>Wingdings</vt:lpstr>
      <vt:lpstr>封面01</vt:lpstr>
      <vt:lpstr>自定义设计方案</vt:lpstr>
      <vt:lpstr>PowerPoint 演示文稿</vt:lpstr>
      <vt:lpstr>PowerPoint 演示文稿</vt:lpstr>
      <vt:lpstr>目标检测是什么</vt:lpstr>
      <vt:lpstr>目标检测社会价值、商业价值</vt:lpstr>
      <vt:lpstr>PowerPoint 演示文稿</vt:lpstr>
      <vt:lpstr>深度学习之目标检测网络</vt:lpstr>
      <vt:lpstr>目标检测网络结构—VGG-SSD</vt:lpstr>
      <vt:lpstr>目标检测网络结构—计算量和参数量</vt:lpstr>
      <vt:lpstr>构筑业界最强AI算力平台，使能千行百业智能化转型</vt:lpstr>
      <vt:lpstr>华为云昇腾云服务器实例家族</vt:lpstr>
      <vt:lpstr>PowerPoint 演示文稿</vt:lpstr>
      <vt:lpstr>AI应用开发完整流程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数据预处理之DVPP</vt:lpstr>
      <vt:lpstr>数据预处理之AIPP</vt:lpstr>
      <vt:lpstr>PowerPoint 演示文稿</vt:lpstr>
      <vt:lpstr>目标检测应用开发 - 模型获取</vt:lpstr>
      <vt:lpstr>目标检测应用开发 - 预处理方案</vt:lpstr>
      <vt:lpstr>目标检测应用开发 - 模型转换</vt:lpstr>
      <vt:lpstr>目标检测应用开发--开发过程 </vt:lpstr>
      <vt:lpstr>目标检测应用开发--通过云端实验实战</vt:lpstr>
      <vt:lpstr>昇腾学院—更多在线实验 </vt:lpstr>
      <vt:lpstr>应用案例实战 -- 更多</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Zhouchuan (Luc)</dc:creator>
  <cp:lastModifiedBy>huhuimei</cp:lastModifiedBy>
  <cp:revision>771</cp:revision>
  <dcterms:created xsi:type="dcterms:W3CDTF">2020-06-03T09:41:46Z</dcterms:created>
  <dcterms:modified xsi:type="dcterms:W3CDTF">2022-07-04T08:59:38Z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(4)pP0Q0LvqYxR9QUBn3n+6N2WQTuH8NZfFN9R/NGJlnGeFRbzGJe/kXIs7kCY339nONryp0J9n
MziAOEARdMXO53ZPpV/sgZdqwfd6WkmxKpfwPUdcg9rGpQ/1z2GO+fL+PYX/NLZ+KeaGsKOi
w9jEUTYIbTAHgR2r/D5mK7wCZdYJTF3AGlWKGOgmgPxYsalExmkEjsLuLc1zxSc3Qb7Pf5OG
Wu//LA/KcF3Qo170/h</vt:lpwstr>
  </property>
  <property fmtid="{D5CDD505-2E9C-101B-9397-08002B2CF9AE}" pid="3" name="_new_ms_pID_725431">
    <vt:lpwstr>F+lLhfiRdIUG+iLYBqms2iVXbN5ZOf1j+pRH5IvIVWGvhV0pNMWubS
x9O7ukNiYht/Y8YnlBhACHUWXIeeOM0LrgaIkteYH2532kzW2917e7fq7zT+NFnSDnOozG6H
qoxu3eGwG9G7FNWYe9TFokfOOYf2MCJK9qRmBkv5ug0DERyJM+DZx6Wn1bdLLOG6VeFZZT78
D3p1yG+fxs8SKoCJPGzu7gwtFtI8JDFMGHnl</vt:lpwstr>
  </property>
  <property fmtid="{D5CDD505-2E9C-101B-9397-08002B2CF9AE}" pid="4" name="_new_ms_pID_725432">
    <vt:lpwstr>U6+S44+gW0kWQyOzY+80nD83LlZUYXbxPxUF
0keNmyxvk+/rzBUkI+8Uv279UgQ6pBoFGJ49zijKomPRIDTWDAeL8Yz+C68tu0aAtJjAa8Vf
XUhYVk3NkjbGNZ5f3dftO5XdptC9LgPLfX3bi2ivsqErK7zbXr8jpWUdiLFH0YOPc2VCQbLd
R7jh7Fw9KunaJ43+COSi0vPU0RIr9OJHNdwhAFLDahm3TCtSbWV9FD</vt:lpwstr>
  </property>
  <property fmtid="{D5CDD505-2E9C-101B-9397-08002B2CF9AE}" pid="5" name="_new_ms_pID_725433">
    <vt:lpwstr>3K35HxI7JFA5hkFiCZ
JnBvZw==</vt:lpwstr>
  </property>
  <property fmtid="{D5CDD505-2E9C-101B-9397-08002B2CF9AE}" pid="6" name="_2015_ms_pID_725343">
    <vt:lpwstr>(3)21BC2MT7a61L6aFBIPcn5gCCqzjK562oOI8COoYYKxWB4FhgP5tA4Kpa2Dn29yXwwNRBtn9Y
ziZYPtOYsqr/0epgVoBuPj2YICv5FTXDBDLyiJ5yUk6cKFWx9DF+BMeMw76/9QDGeeCsr/Co
BHUctypp79+bFel/kVjbKqufKWuUrZiTNc4aofqAwTPxBI448nNuFs8n5LoisxefDPNeG2Mk
zDnvD2H1aoWGskuSJb</vt:lpwstr>
  </property>
  <property fmtid="{D5CDD505-2E9C-101B-9397-08002B2CF9AE}" pid="7" name="_2015_ms_pID_7253431">
    <vt:lpwstr>S2l3M9gtLa/21vzpRI5NwSXdf/n5hPNhtY7T1ABzjP7TU9tn4qbdVC
m05QYnjejT82PVfKfbZ7AEcdWkmy8LL+oZYFoqBfeS1XdC6bF11p1ul5hFGxX7eOoWNDQa9R
l9C7KNNDMQuXGlRXlxcb0/pry2RBFWwcuigW9Rq/xsnyZnnshmwQ6oHS0aqKR5Ugy+zDeC46
A9oXGg5N+fppNKrLAhpbatQBhSRWVOVyNhN7</vt:lpwstr>
  </property>
  <property fmtid="{D5CDD505-2E9C-101B-9397-08002B2CF9AE}" pid="8" name="_2015_ms_pID_7253432">
    <vt:lpwstr>+hyN4rP+SdUu/7x8JD3RxbcmmkTxqwQgLq3j
tMaCfpWLohs9zGUHs1jj57Cy7kdIkA==</vt:lpwstr>
  </property>
  <property fmtid="{D5CDD505-2E9C-101B-9397-08002B2CF9AE}" pid="9" name="KSOProductBuildVer">
    <vt:lpwstr>2052-2.1.2.3417</vt:lpwstr>
  </property>
  <property fmtid="{D5CDD505-2E9C-101B-9397-08002B2CF9AE}" pid="10" name="_readonly">
    <vt:lpwstr/>
  </property>
  <property fmtid="{D5CDD505-2E9C-101B-9397-08002B2CF9AE}" pid="11" name="_change">
    <vt:lpwstr/>
  </property>
  <property fmtid="{D5CDD505-2E9C-101B-9397-08002B2CF9AE}" pid="12" name="_full-control">
    <vt:lpwstr/>
  </property>
  <property fmtid="{D5CDD505-2E9C-101B-9397-08002B2CF9AE}" pid="13" name="sflag">
    <vt:lpwstr>1594710792</vt:lpwstr>
  </property>
</Properties>
</file>